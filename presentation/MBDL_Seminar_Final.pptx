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שלום לכולם, אנחנו איתי ברון ואיתי ויגמן. הפרויקט שלנו עוסק בשחזור אותות דלילים ובחישה דחוסה בגישה של למידה עמוקה מבוססת מודל. שאלת הליבה שלנו: כמה רחוק אפשר להגיע עם מבנה אלגוריתמי בלבד, ומתי חייבים גמישות נלמדת מהדאטה. נקודת המוצא היא המאמר HyperLISTA מ-NeurIPS 2021.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מבנה ההרצאה: נתחיל ברקע — בעיית LASSO והאלגוריתמים הקלאסיים ISTA ו-FISTA. משם נעבור ל-Deep Unrolling: LISTA, ALISTA ו-HyperLISTA. החלק המרכזי הוא המחקר שלנו — אילו רכיבים של ISTA שווה ללמוד, והשוואת שיטות אימון לרשתות unfolded. נסיים בניסויי תמונות אמיתיות על MNIST ו-FashionMNIST בחישה דחוסה. הסטאפ הסינתטי: 250 מדידות, ממד 500, דלילות 50.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בעיית השחזור: יש לנו וקטור דליל x כוכב בממד n, ואנחנו רואים רק m מדידות לינאריות, m קטן מ-n, עם רעש אפשרי. הבעיה לא מוגדרת היטב — יש אינסוף פתרונות — אבל הנחת הדלילות הופכת אותה לפתירה. זה מופיע בכל מקום: MRI, מכ"ם, חישה דחוסה. הפורמליזציה הסטנדרטית היא LASSO: איזון בין נאמנות למדידות לבין נורמת L1 שמעודדת דלילות. המדדים שלנו: NMSE בדציבלים לאותות סינתטיים, ובנוסף PSNR ו-SSIM לתמונות.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ISTA הוא gradient descent פרוקסימלי על LASSO: צעד גרדיאנט על איבר הנאמנות, ואז soft-thresholding שמאפס רכיבים קטנים. FISTA מוסיף מומנטום של נסטרוב ומשפר את קצב ההתכנסות מסדר 1 חלקי k לסדר 1 חלקי k בריבוע. אבל שימו לב לנקודה המרכזית: אחרי 16 איטרציות בלבד ISTA מגיע רק למינוס 5.3 דציבל ו-FISTA למינוס 11. כדי להגיע למינוס 20 צריך מאות איטרציות. השאלה: איך גורמים ל-16 צעדים באמת לעבוד?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הרעיון של Gregor ו-LeCun מ-2010: לפרוש את K האיטרציות של ISTA לרשת בעומק K, ולהפוך את הקבועים האלגוריתמיים לפרמטרים נלמדים. משמאל — ISTA קלאסי עם צעד ו-threshold קבועים. מימין — LISTA: שתי מטריצות משקל ו-threshold נפרד לכל שכבה, הכל נלמד ב-backpropagation מזוגות אימון. זה העיקרון של למידה מבוססת מודל: שומרים על המבנה — צעד גרדיאנט ואז soft-threshold — ולומדים רק את מה שמשפר שחזור בעומק סופי. בסטאפ שלנו זה כ-6 מיליון פרמטרים.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עכשיו סולם ה-MBDL — פחות פרמטרים, יותר מבנה. LISTA לומד הכל: 6 מיליון פרמטרים ומגיע למינוס 20 דציבל. ALISTA מראה שאפשר לחשב את מטריצת המשקל אנליטית מ-A — פתרון בעיית מזעור קוהרנטיות — ולהשאיר ללמידה רק צעדים ו-thresholds: 32 פרמטרים, מינוס 30 דציבל. HyperLISTA לוקח את זה לקצה: שלושה סקלרים בלבד. ה-threshold, המומנטום ובחירת התומך מחושבים אדפטיבית מהשארית בכל שכבה, לפי הנוסחאות שמוצגות. שימו לב — אין בכלל backpropagation: שלושת הסקלרים נמצאים ב-grid search. והתוצאה: מינוס 61 דציבל, הטובה ביותר. יותר מבנה, פחות פרמטרים, ביצועים טובים יותר — זה עקרון ה-MBDL בפעולה.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זה מוביל לשאלת המחקר שלנו: בין 6 מיליון לשלושה פרמטרים — מה המינימום שבאמת צריך ללמוד? עדכון ISTA המוכלל חושף שתי סדרות סקלרים חופשיות: גודל הצעד גמא והסף תטא. בנינו שלושה מודלים: ThresholdISTA שלומד רק את הספים, StepISTA שלומד רק את הצעדים כשהסף צמוד אליהם, ו-StepThresholdISTA שלומד את שניהם בנפרד — 32 סקלרים בסך הכל. כולם מאותחלים לערכי ISTA המדויקים, כך שלפני האימון הם זהים ל-ISTA.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התוצאות מפתיעות בעוצמתן. ThresholdISTA — לימוד ספים בלבד — כמעט לא עוזר: מינוס 7 דציבל. אבל StepISTA — לימוד לוחות הצעדים בלבד, 16 סקלרים — קופץ למינוס 20 דציבל ומשתווה ל-LISTA המלא עם 6 מיליון פרמטרים. הפרדת הסף מהצעד מוסיפה עוד 3 דציבל בחינם. המסקנה: לוח הצעדים הוא הרכיב הקריטי ללמידה בעומק סופי, ולמידת מטריצות מלאות היא בעיקרה מיותרת כשמטריצת המדידה קבועה.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בהתאם להמלצת המרצה, השווינו גם את שיטות האימון מההרצאות לאותה ארכיטקטורה בדיוק. L1 — אימון end-to-end עם loss על השכבה האחרונה. L2 — deep supervision עם loss משוקלל על כל שכבת ביניים. L3 — אימון חמדני שכבה-שכבה כשהקודמות מוקפאות. בנוסף בדקנו קשירת משקולות — אותה שכבה חוזרת K פעמים, כמו RNN. הממצא המעניין: LISTA קשור עם פי 16 פחות פרמטרים מגיע כמעט לאותה תוצאה — קשירת משקולות היא רגולריזציה מובנית.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כאן התמונה המלאה על הבעיה הסינתטית. בגרף רואים NMSE כפונקציה של עומק. שיטות האימון משנות 3-4 דציבל בתוך משפחת LISTA — L2 הכי טוב, L3 נתקע ברמה מסוימת כי לשכבות מאוחרות אין תמריץ להשתפר. אבל ההיררכיה הגדולה נשארת: ALISTA מנצח את כל גרסאות LISTA עם 32 פרמטרים, ו-HyperLISTA מנצח את כולם עם 3. כשהנחות המודל נכונות — מבנה מנצח קיבולת.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מפת ה-design space מסכמת את החלק הסינתטי: ציר X — מספר פרמטרים בסקלה לוגריתמית, ציר Y — שגיאת שחזור. הפינה השמאלית-תחתונה היא האידיאל. StepThresholdISTA שלנו — 32 סקלרים — יושב באזור מצוין ומנצח את LISTA עם פי 187 אלף פחות פרמטרים. HyperLISTA שובר את הסקלה לגמרי. המסר: בבעיות עם מבנה ידוע, תכנון חכם של מה לומדים שווה יותר מקיבולת.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עכשיו המבחן האמיתי — תמונות אמיתיות. עברנו לחישה דחוסה בפיקסלים על FashionMNIST: התמונה שטוחה לווקטור בממד 784, ומודדים רק רבע מהממד. אין צורך ב-DCT כי לתמונות רקע שחור והן דלילות בפיקסלים. והנה ההיפוך הדרמטי: כל השיטות המובנות קורסות — ALISTA ו-HyperLISTA גרועים אף מ-ISTA — בעוד LISTA-L2 מגיע ל-SSIM של 0.82. הסיבה: ההנחה של דלילות גאוסית i.i.d. פשוט לא נכונה לפיקסלים חסומים ומתואמים מרחבית. פריור שגוי גרוע מאין-פריור.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בדקנו את זה שיטתית על שני דאטהסטים ושני יחסי מדידה. מפת החום מציגה SSIM. על MNIST עם חצי מהמדידות — כולם סבירים, כי MNIST דליל באמת: 78 אחוז אפסים. ככל שמקשים — פחות מדידות או דאטה מרקמי יותר — השיטות המובנות מתדרדרות בחדות, בעוד LISTA-L2 נשאר מעל 0.82 בכל התרחישים. הפריור הדליל מתפרק בהדרגה כשהדאטה מתרחק מההנחות.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ההשוואה הוויזואלית ממחישה את המספרים. משמאל MNIST, מימין FashionMNIST, שניהם ברבע מהמדידות. שורת LISTA-L2 כמעט זהה למקור בשני המקרים. ALISTA ו-HyperLISTA מאפסים סיגנל אמיתי — הסף שמכויל לרעש גאוסי דליל מוחק את התמונה עצמה. רואים כאן ויזואלית מה זה אומר כשהפריור שגוי.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לסיכום, ארבעה לקחים: אחד — כשההנחות מתקיימות, מבנה מנצח: 3 סקלרים מנצחים 6 מיליון פרמטרים ב-41 דציבל. שתיים — לוח הצעדים הוא הרכיב הכי חשוב ללמידה. שלוש — קשירת משקולות היא רגולריזציה מובנית. ארבע — פריור שגוי מזיק יותר מאין-פריור: על תמונות אמיתיות LISTA הגמיש מנצח. בהמשך נרצה לבדוק את המודלים בדומיין DCT או wavelets, שם התמונות קרובות יותר להנחת הדלילות הגאוסית.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כל הקוד, ארבעת המחברות והמודולים זמינים בריפו ציבורי בגיטהאב. אלו המקורות המרכזיים שעליהם התבססנו. תודה רבה על ההקשבה — נשמח לשאלות.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Sparse Recovery and Compressed Sensing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54577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00A3E0"/>
                </a:solidFill>
                <a:latin typeface="Calibri"/>
              </a:rPr>
              <a:t>A Model-Based Deep Learning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66160"/>
            <a:ext cx="10545775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749039"/>
            <a:ext cx="10545775" cy="777240"/>
          </a:xfrm>
          <a:prstGeom prst="rect">
            <a:avLst/>
          </a:prstGeom>
          <a:solidFill>
            <a:srgbClr val="0D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i="1">
                <a:solidFill>
                  <a:srgbClr val="00A3E0"/>
                </a:solidFill>
                <a:latin typeface="Calibri"/>
              </a:rPr>
              <a:t>Core question:  How far can model-based structure take us — and when do we need data-driven flexibility?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105457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Etay Baron   ·   Etai Wigman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BCC"/>
                </a:solidFill>
                <a:latin typeface="Calibri"/>
              </a:rPr>
              <a:t>Model-Based Deep Learning (361.2.2320)  ·  Ben-Gurion University  ·  Spring 2025–2026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99AA"/>
                </a:solidFill>
                <a:latin typeface="Calibri"/>
              </a:rPr>
              <a:t>Based on: Chen, Liu, Wang, Yin — "Hyperparameter Tuning is All You Need for LISTA" · NeurIPS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Seminar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2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212744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65473" y="1371600"/>
            <a:ext cx="402336" cy="402336"/>
          </a:xfrm>
          <a:prstGeom prst="ellipse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65473" y="137160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874520"/>
            <a:ext cx="19811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F87"/>
                </a:solidFill>
                <a:latin typeface="Calibri"/>
              </a:rP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286000"/>
            <a:ext cx="19811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</a:rPr>
              <a:t>Motivation, LASSO,
ISTA / FISTA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0091" y="1188720"/>
            <a:ext cx="212744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02644" y="1371600"/>
            <a:ext cx="402336" cy="402336"/>
          </a:xfrm>
          <a:prstGeom prst="ellipse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644" y="137160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3243" y="1874520"/>
            <a:ext cx="19811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F87"/>
                </a:solidFill>
                <a:latin typeface="Calibri"/>
              </a:rPr>
              <a:t>Unrolling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3243" y="2286000"/>
            <a:ext cx="19811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</a:rPr>
              <a:t>LISTA, ALISTA,
HyperLISTA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7262" y="1188720"/>
            <a:ext cx="2127443" cy="1828800"/>
          </a:xfrm>
          <a:prstGeom prst="rect">
            <a:avLst/>
          </a:prstGeom>
          <a:solidFill>
            <a:srgbClr val="EAF5FF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39815" y="1371600"/>
            <a:ext cx="402336" cy="402336"/>
          </a:xfrm>
          <a:prstGeom prst="ellipse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9815" y="137160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0414" y="1874520"/>
            <a:ext cx="19811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A3E0"/>
                </a:solidFill>
                <a:latin typeface="Calibri"/>
              </a:rPr>
              <a:t>Our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0414" y="2286000"/>
            <a:ext cx="19811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</a:rPr>
              <a:t>Scalar variants +
training methods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14433" y="1188720"/>
            <a:ext cx="212744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76986" y="1371600"/>
            <a:ext cx="402336" cy="402336"/>
          </a:xfrm>
          <a:prstGeom prst="ellipse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6986" y="137160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585" y="1874520"/>
            <a:ext cx="19811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F87"/>
                </a:solidFill>
                <a:latin typeface="Calibri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585" y="2286000"/>
            <a:ext cx="19811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</a:rPr>
              <a:t>Sparse recovery &amp;
design space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51604" y="1188720"/>
            <a:ext cx="212744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14157" y="1371600"/>
            <a:ext cx="402336" cy="402336"/>
          </a:xfrm>
          <a:prstGeom prst="ellipse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14157" y="1371600"/>
            <a:ext cx="40233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4756" y="1874520"/>
            <a:ext cx="19811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F87"/>
                </a:solidFill>
                <a:latin typeface="Calibri"/>
              </a:rPr>
              <a:t>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4756" y="2286000"/>
            <a:ext cx="19811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  <a:latin typeface="Calibri"/>
              </a:rPr>
              <a:t>MNIST &amp; FashionMNIST
CS stress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2461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Goal:  systematically compare how much learning is needed when moving from ideal sparse signals to real compressed-sensing images.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794760"/>
            <a:ext cx="3618890" cy="100584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794760"/>
            <a:ext cx="50292" cy="10058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" y="3904488"/>
            <a:ext cx="328970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3F87"/>
                </a:solidFill>
                <a:latin typeface="Calibri"/>
              </a:defRPr>
            </a:pPr>
            <a:r>
              <a:t>Synthetic signals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m=250, n=500, s=50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Gaussian A, noiseless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31538" y="3794760"/>
            <a:ext cx="3618890" cy="100584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31538" y="3794760"/>
            <a:ext cx="50292" cy="10058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23562" y="3904488"/>
            <a:ext cx="328970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3F87"/>
                </a:solidFill>
                <a:latin typeface="Calibri"/>
              </a:defRPr>
            </a:pPr>
            <a:r>
              <a:t>Trained models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LISTA, ALISTA, HyperLISTA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+ 3 scalar designs (ours)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0156" y="3794760"/>
            <a:ext cx="3618890" cy="100584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0156" y="3794760"/>
            <a:ext cx="50292" cy="10058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52180" y="3904488"/>
            <a:ext cx="328970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3F87"/>
                </a:solidFill>
                <a:latin typeface="Calibri"/>
              </a:defRPr>
            </a:pPr>
            <a:r>
              <a:t>Image CS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MNIST &amp; FashionMNIST pixel domain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ratios ∈ {0.25, 0.5}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Motivation &amp; Problem Formulation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F87"/>
                </a:solidFill>
                <a:latin typeface="Calibri"/>
              </a:rPr>
              <a:t>Sparse recovery appears everywhere: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08760"/>
          <a:ext cx="576072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1554480"/>
              </a:tblGrid>
              <a:tr h="30175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Measurements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MRI acceleration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k-space  (m ≪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Image pixels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Radar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Compressed snapshots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Reflectivity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Hyperspectral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Spectral bands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Spatial cube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Compressed sensing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Random projections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Original signal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566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Why tractable?  Natural signals have only s ≪ n non-zero components.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F87"/>
                </a:solidFill>
                <a:latin typeface="Calibri"/>
              </a:rPr>
              <a:t>LASSO — the optimization backbone: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389120"/>
            <a:ext cx="4389120" cy="57405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75120" y="1143000"/>
            <a:ext cx="5029200" cy="292608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Measurement model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783080"/>
            <a:ext cx="2743200" cy="6837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0" y="26060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A ∈ ℝ^{m×n},   m ≪ 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99008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x*: s-sparse 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37413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ε: additive Gaussian noise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4251960"/>
            <a:ext cx="5029200" cy="91440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4251960"/>
            <a:ext cx="50292" cy="9144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4" y="4361688"/>
            <a:ext cx="470001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500">
                <a:solidFill>
                  <a:srgbClr val="1A1A2E"/>
                </a:solidFill>
                <a:latin typeface="Calibri"/>
              </a:defRPr>
            </a:pPr>
            <a:r>
              <a:t>Metrics:  NMSE (dB) for synthetic signals;</a:t>
            </a:r>
          </a:p>
          <a:p>
            <a:pPr>
              <a:spcBef>
                <a:spcPts val="200"/>
              </a:spcBef>
              <a:defRPr sz="1500">
                <a:solidFill>
                  <a:srgbClr val="1A1A2E"/>
                </a:solidFill>
                <a:latin typeface="Calibri"/>
              </a:defRPr>
            </a:pPr>
            <a:r>
              <a:t>NMSE + PSNR + SSIM for image 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Classical Baselines: ISTA and FISTA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F87"/>
                </a:solidFill>
                <a:latin typeface="Calibri"/>
              </a:rPr>
              <a:t>ISTA  —  proximal gradient descent on the LASSO objective: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9601200" cy="8135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331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F87"/>
                </a:solidFill>
                <a:latin typeface="Calibri"/>
              </a:rPr>
              <a:t>FISTA  —  ISTA with Nesterov momentum,  O(1/k²) convergence vs O(1/k):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97480"/>
            <a:ext cx="10058400" cy="743121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3794760"/>
          <a:ext cx="6675120" cy="9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1645920"/>
              </a:tblGrid>
              <a:tr h="30175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NMSE @ K=16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−5.3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FISTA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−11.0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589520" y="3794760"/>
            <a:ext cx="4297680" cy="118872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3794760"/>
            <a:ext cx="50292" cy="11887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81544" y="3904488"/>
            <a:ext cx="396849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500">
                <a:solidFill>
                  <a:srgbClr val="1A1A2E"/>
                </a:solidFill>
                <a:latin typeface="Calibri"/>
              </a:defRPr>
            </a:pPr>
            <a:r>
              <a:t>At K=16 iterations both methods are far from converged.</a:t>
            </a:r>
          </a:p>
          <a:p>
            <a:pPr>
              <a:spcBef>
                <a:spcPts val="200"/>
              </a:spcBef>
              <a:defRPr sz="1500">
                <a:solidFill>
                  <a:srgbClr val="1A1A2E"/>
                </a:solidFill>
                <a:latin typeface="Calibri"/>
              </a:defRPr>
            </a:pPr>
            <a:r>
              <a:t>ISTA needs 200+ iterations for −20 dB.</a:t>
            </a:r>
          </a:p>
          <a:p>
            <a:pPr>
              <a:spcBef>
                <a:spcPts val="200"/>
              </a:spcBef>
              <a:defRPr sz="150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500">
                <a:solidFill>
                  <a:srgbClr val="1A1A2E"/>
                </a:solidFill>
                <a:latin typeface="Calibri"/>
              </a:defRPr>
            </a:pPr>
            <a:r>
              <a:t>Can we make 16 steps count?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Deep Unrolling: From Iterations to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85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Key idea (Gregor &amp; LeCun, 2010):  unfold K ISTA iterations into a K-layer network and learn the update parameters from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78627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1128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Classical ISTA  —  parameters fixed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5120640" cy="871598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3657600" cy="8560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" y="3611880"/>
            <a:ext cx="51128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Parameters 1/L and θ = λ/L  are fixed constants.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069080"/>
            <a:ext cx="5112867" cy="347472"/>
          </a:xfrm>
          <a:prstGeom prst="rect">
            <a:avLst/>
          </a:prstGeom>
          <a:solidFill>
            <a:srgbClr val="EE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87368"/>
            <a:ext cx="50214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5568"/>
                </a:solidFill>
                <a:latin typeface="Calibri"/>
              </a:rPr>
              <a:t>Fixed  —  no learning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147" y="1691640"/>
            <a:ext cx="5478627" cy="2926080"/>
          </a:xfrm>
          <a:prstGeom prst="rect">
            <a:avLst/>
          </a:prstGeom>
          <a:solidFill>
            <a:srgbClr val="F0F8FF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1828800"/>
            <a:ext cx="5112867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Unrolled LISTA  —  parameters learned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307" y="2286000"/>
            <a:ext cx="4572000" cy="926897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7307" y="2926080"/>
            <a:ext cx="3657600" cy="8795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93027" y="3611880"/>
            <a:ext cx="51128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W_x(k), W_y(k), θ_k  are learned per layer via BPTT.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93027" y="4069080"/>
            <a:ext cx="5112867" cy="347472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8747" y="4087368"/>
            <a:ext cx="502142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~6 M parameters  —  learned end-to-end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00600"/>
            <a:ext cx="11185855" cy="100584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800600"/>
            <a:ext cx="50292" cy="100584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4910328"/>
            <a:ext cx="10856671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500">
                <a:solidFill>
                  <a:srgbClr val="1A1A2E"/>
                </a:solidFill>
                <a:latin typeface="Calibri"/>
              </a:defRPr>
            </a:pPr>
            <a:r>
              <a:t>MBDL principle:  preserve the known algorithmic structure (gradient step + soft-threshold);</a:t>
            </a:r>
          </a:p>
          <a:p>
            <a:pPr>
              <a:spcBef>
                <a:spcPts val="200"/>
              </a:spcBef>
              <a:defRPr sz="1500">
                <a:solidFill>
                  <a:srgbClr val="1A1A2E"/>
                </a:solidFill>
                <a:latin typeface="Calibri"/>
              </a:defRPr>
            </a:pPr>
            <a:r>
              <a:t>learn only what improves finite-depth reconstruction. Training minimizes  ‖x(K) − x*‖²  via BPTT.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The MBDL Ladder: LISTA → ALISTA → HyperLISTA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6705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LISTA  —  learn all matrices per layer,  ~6 M params: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6400800" cy="9918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331720"/>
            <a:ext cx="6705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ALISTA  —  W analytic, learn step sizes and thresholds,  32 params: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97480"/>
            <a:ext cx="5029200" cy="68013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108960"/>
            <a:ext cx="6858000" cy="8463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3840480"/>
            <a:ext cx="6705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HyperLISTA  —  adaptive θ/β/p from residuals, 3 params (grid search, zero backprop):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06240"/>
            <a:ext cx="6400800" cy="622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663440"/>
            <a:ext cx="5029200" cy="1221190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573975" y="1188720"/>
          <a:ext cx="393192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05840"/>
                <a:gridCol w="1097280"/>
              </a:tblGrid>
              <a:tr h="30175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NMSE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−5.3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FISTA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−11.0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LISTA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−20.3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ALISTA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latin typeface="Calibri"/>
                        </a:defRPr>
                      </a:pPr>
                      <a:r>
                        <a:t>−29.8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HyperLISTA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−61.4 dB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573975" y="3794760"/>
            <a:ext cx="4114800" cy="123444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1135" y="3840480"/>
            <a:ext cx="3840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More structure → fewer params → better performance</a:t>
            </a:r>
          </a:p>
          <a:p>
            <a:r>
              <a:rPr sz="1400">
                <a:solidFill>
                  <a:srgbClr val="F5A623"/>
                </a:solidFill>
                <a:latin typeface="Calibri"/>
              </a:rPr>
              <a:t>This is the MBDL principle in 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Our Design Space Study: What Should We Learn?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85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A2E"/>
                </a:solidFill>
                <a:latin typeface="Calibri"/>
              </a:rPr>
              <a:t>Research question:  LISTA learns 6 M parameters; HyperLISTA uses 3 scalars. What is the minimal useful set of learnable components?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The ISTA gradient-correction update has two free scalar sequences: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011680"/>
            <a:ext cx="8229600" cy="9284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27889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We designed three models, each learning a different subset: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00400"/>
            <a:ext cx="3652418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33780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F87"/>
                </a:solidFill>
                <a:latin typeface="Calibri"/>
              </a:rPr>
              <a:t>ThresholdISTA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1005840" cy="27432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3712463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16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3378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Learns  θ₁, …, θ_K 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16552"/>
            <a:ext cx="3378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Step fixed at  γ = 1/L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64024"/>
            <a:ext cx="3378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Init:  θ₀ = λ/L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3918" y="3200400"/>
            <a:ext cx="3652418" cy="2468880"/>
          </a:xfrm>
          <a:prstGeom prst="rect">
            <a:avLst/>
          </a:prstGeom>
          <a:solidFill>
            <a:srgbClr val="E8F5FF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1078" y="3291840"/>
            <a:ext cx="33780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A3E0"/>
                </a:solidFill>
                <a:latin typeface="Calibri"/>
              </a:rPr>
              <a:t>StepISTA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61078" y="3703320"/>
            <a:ext cx="1005840" cy="2743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222" y="3712463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16 params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078" y="4069080"/>
            <a:ext cx="3378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Learns  γ₁, …, γ_K 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078" y="4416552"/>
            <a:ext cx="3378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Threshold coupled:  θ_k = λγ_k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078" y="4764024"/>
            <a:ext cx="3378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Init:  γ₀ = 1/L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44916" y="3200400"/>
            <a:ext cx="3652418" cy="2468880"/>
          </a:xfrm>
          <a:prstGeom prst="rect">
            <a:avLst/>
          </a:prstGeom>
          <a:solidFill>
            <a:srgbClr val="FFF8E8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82076" y="3291840"/>
            <a:ext cx="337809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StepThresholdISTA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2076" y="3703320"/>
            <a:ext cx="1005840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1220" y="3712463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32 params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2076" y="4069080"/>
            <a:ext cx="3378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Learns both  γ_k  and  θ_k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2076" y="4416552"/>
            <a:ext cx="3378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independently per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2076" y="4764024"/>
            <a:ext cx="337809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Init:  ISTA values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06440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</a:rPr>
              <a:t>All parameters softplus-reparameterized (positivity). All initialized to reproduce ISTA exactly before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Our Results: Scalar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8 / 16</a:t>
            </a:r>
          </a:p>
        </p:txBody>
      </p:sp>
      <p:pic>
        <p:nvPicPr>
          <p:cNvPr id="7" name="Picture 6" descr="scalar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766560" cy="42291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1097280"/>
          <a:ext cx="425196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188720"/>
                <a:gridCol w="914400"/>
              </a:tblGrid>
              <a:tr h="30175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NMSE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−5.3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FISTA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−11.0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ThresholdISTA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−7.1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StepISTA</a:t>
                      </a:r>
                    </a:p>
                  </a:txBody>
                  <a:tcPr>
                    <a:solidFill>
                      <a:srgbClr val="E8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−20.0 dB</a:t>
                      </a:r>
                    </a:p>
                  </a:txBody>
                  <a:tcPr>
                    <a:solidFill>
                      <a:srgbClr val="E8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8F5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StepThresholdISTA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−23.6 dB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LISTA-L1  (ref.)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−20.3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6 M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269480" y="3886200"/>
            <a:ext cx="4572000" cy="1965960"/>
          </a:xfrm>
          <a:prstGeom prst="rect">
            <a:avLst/>
          </a:prstGeom>
          <a:solidFill>
            <a:srgbClr val="FFF8E8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9480" y="3886200"/>
            <a:ext cx="50292" cy="19659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1504" y="3995928"/>
            <a:ext cx="4242816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7A4F00"/>
                </a:solidFill>
                <a:latin typeface="Calibri"/>
              </a:defRPr>
            </a:pPr>
            <a:r>
              <a:t>Key finding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Learning γ_k alone (16 scalars) already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matches full LISTA (6 M parameters).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Decoupling θ_k adds 3 dB at zero extra cost.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StepThresholdISTA beats LISTA-L1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with 187,000× fewer parameters.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Training Methods for Unfolded Optimizers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F87"/>
                </a:solidFill>
                <a:latin typeface="Calibri"/>
              </a:rPr>
              <a:t>Architecture fixed (LISTA). Only the training strategy changes.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5241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73352"/>
            <a:ext cx="33780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L1 — End-to-end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3120"/>
            <a:ext cx="2834640" cy="7337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2971800"/>
            <a:ext cx="337809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Supervise final output only.
Standard BPTT.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3918" y="1600200"/>
            <a:ext cx="365241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078" y="1673352"/>
            <a:ext cx="33780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L2 — Deep Supervision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358" y="2103120"/>
            <a:ext cx="3469538" cy="5820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61078" y="2971800"/>
            <a:ext cx="337809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Supervise every
intermediate layer.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44916" y="1600200"/>
            <a:ext cx="3652418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2076" y="1673352"/>
            <a:ext cx="337809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L3 — Greedy Layerwise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6356" y="2103120"/>
            <a:ext cx="2286000" cy="76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82076" y="2971800"/>
            <a:ext cx="337809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Train layer k while
layers 1…k−1 frozen.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F87"/>
                </a:solidFill>
                <a:latin typeface="Calibri"/>
              </a:rPr>
              <a:t>Tied vs. Untied weights: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4251960"/>
          <a:ext cx="77724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291840"/>
                <a:gridCol w="3291840"/>
              </a:tblGrid>
              <a:tr h="30175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Untied LISTA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Tied LISTA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Independent per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Single shared (Wx, Wy, 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~6 M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375 K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Fully flexible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RNN-like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Effect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Hard to optimize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Smoother loss landscape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8595360" y="4251960"/>
            <a:ext cx="3291840" cy="160020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95360" y="4251960"/>
            <a:ext cx="50292" cy="1600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87384" y="4361688"/>
            <a:ext cx="296265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200">
                <a:solidFill>
                  <a:srgbClr val="1A1A2E"/>
                </a:solidFill>
                <a:latin typeface="Calibri"/>
              </a:defRPr>
            </a:pPr>
            <a:r>
              <a:t>Weight tying = implicit regularization.</a:t>
            </a:r>
          </a:p>
          <a:p>
            <a:pPr>
              <a:spcBef>
                <a:spcPts val="200"/>
              </a:spcBef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1A1A2E"/>
                </a:solidFill>
                <a:latin typeface="Calibri"/>
              </a:defRPr>
            </a:pPr>
            <a:r>
              <a:t>LISTA-Tied-L1:  −19.1 dB @ 375 K</a:t>
            </a:r>
          </a:p>
          <a:p>
            <a:pPr>
              <a:spcBef>
                <a:spcPts val="200"/>
              </a:spcBef>
              <a:defRPr sz="1200">
                <a:solidFill>
                  <a:srgbClr val="1A1A2E"/>
                </a:solidFill>
                <a:latin typeface="Calibri"/>
              </a:defRPr>
            </a:pPr>
            <a:r>
              <a:t>LISTA-L1:  −20.3 dB @ 6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Synthetic Sparse Recovery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10 / 16</a:t>
            </a:r>
          </a:p>
        </p:txBody>
      </p:sp>
      <p:pic>
        <p:nvPicPr>
          <p:cNvPr id="7" name="Picture 6" descr="main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766560" cy="45110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69480" y="1097280"/>
          <a:ext cx="429768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914400"/>
              </a:tblGrid>
              <a:tr h="3017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NMSE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−5.3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FISTA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−11.0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LISTA-L1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−20.3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LISTA-L2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−21.9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6 M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LISTA-L3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−16.6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LISTA-Tied-L1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−19.1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375 K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ALISTA</a:t>
                      </a:r>
                    </a:p>
                  </a:txBody>
                  <a:tcPr>
                    <a:solidFill>
                      <a:srgbClr val="E8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−29.8 dB</a:t>
                      </a:r>
                    </a:p>
                  </a:txBody>
                  <a:tcPr>
                    <a:solidFill>
                      <a:srgbClr val="E8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8F5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HyperLISTA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−61.4 dB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269480" y="4251960"/>
            <a:ext cx="4572000" cy="164592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9480" y="4251960"/>
            <a:ext cx="50292" cy="16459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61504" y="4361688"/>
            <a:ext cx="4242816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L3 plateau:  NMSE flattens ~layer 8.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Greedy training gives no incentive to improve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beyond what prior layers solved.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LISTA-Tied &gt; LISTA-Untied despite 16× fewer params.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Design-Space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11 / 16</a:t>
            </a:r>
          </a:p>
        </p:txBody>
      </p:sp>
      <p:pic>
        <p:nvPicPr>
          <p:cNvPr id="7" name="Picture 6" descr="param_tradeoff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400800" cy="42672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03720" y="1097280"/>
          <a:ext cx="544068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731520"/>
                <a:gridCol w="1005840"/>
                <a:gridCol w="1554480"/>
              </a:tblGrid>
              <a:tr h="3017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NMSE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drives it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ThresholdISTA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−7.1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learned θ_k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StepISTA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−20.0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learned γ_k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StepThresholdISTA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−23.6 dB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γ_k + θ_k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LISTA-L1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6 M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−20.3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full matrices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ALISTA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−29.8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Calibri"/>
                        </a:defRPr>
                      </a:pPr>
                      <a:r>
                        <a:t>analytic 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HyperLISTA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−61.4 dB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adaptive residuals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903720" y="4343400"/>
            <a:ext cx="4937760" cy="132588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4407408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5A623"/>
                </a:solidFill>
                <a:latin typeface="Calibri"/>
              </a:rPr>
              <a:t>StepThresholdISTA  (32 scalars)</a:t>
            </a:r>
          </a:p>
          <a:p>
            <a:r>
              <a:rPr sz="1600" b="1">
                <a:solidFill>
                  <a:srgbClr val="FFFFFF"/>
                </a:solidFill>
                <a:latin typeface="Calibri"/>
              </a:rPr>
              <a:t>beats LISTA-L1  (6 million matrices).</a:t>
            </a:r>
          </a:p>
          <a:p>
            <a:r>
              <a:rPr sz="1400">
                <a:solidFill>
                  <a:srgbClr val="AACCFF"/>
                </a:solidFill>
                <a:latin typeface="Calibri"/>
              </a:rPr>
              <a:t>The step-size schedule γ_k is the bottleneck.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Real Image CS: FashionMNIST Pixel 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85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Setup:  flatten 28×28 image to x ∈ [0,1]^{784},  measure  b = Ax,  ratio m/784 ∈ {0.25, 0.5}.  FashionMNIST: ~51.5% of pixels exactly zero.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612648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822960"/>
                <a:gridCol w="822960"/>
                <a:gridCol w="1005840"/>
              </a:tblGrid>
              <a:tr h="30175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NMSE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PSNR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SSIM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3F8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−1.2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FISTA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−1.2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8.9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StepThresholdISTA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−1.2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ALISTA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−0.9 dB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8.4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0.12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EF4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HyperLISTA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−0.3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LISTA-L2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−13.7 dB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22.3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3F87"/>
                          </a:solidFill>
                          <a:latin typeface="Calibri"/>
                        </a:defRPr>
                      </a:pPr>
                      <a:r>
                        <a:t>12 M</a:t>
                      </a:r>
                    </a:p>
                  </a:txBody>
                  <a:tcPr>
                    <a:solidFill>
                      <a:srgbClr val="D4ED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5720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</a:rPr>
              <a:t>ratio = 0.25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691640"/>
            <a:ext cx="4754880" cy="1600200"/>
          </a:xfrm>
          <a:prstGeom prst="rect">
            <a:avLst/>
          </a:prstGeom>
          <a:solidFill>
            <a:srgbClr val="FFF8E8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86600" y="1691640"/>
            <a:ext cx="50292" cy="1600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78624" y="1801368"/>
            <a:ext cx="442569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7A4F00"/>
                </a:solidFill>
                <a:latin typeface="Calibri"/>
              </a:defRPr>
            </a:pPr>
            <a:r>
              <a:t>Signal model mismatch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All structured methods assume i.i.d.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Gaussian sparse signals.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FashionMNIST pixels are bounded [0,1],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spatially correlated, and only soft-sparse.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3429000"/>
            <a:ext cx="4754880" cy="160020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3429000"/>
            <a:ext cx="50292" cy="16002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78624" y="3538728"/>
            <a:ext cx="442569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3F87"/>
                </a:solidFill>
                <a:latin typeface="Calibri"/>
              </a:defRPr>
            </a:pPr>
            <a:r>
              <a:t>Why LISTA wins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LISTA-L2 is assumption-free —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it learns the actual image distribution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from 51 K training images.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Wrong prior is worse than no prior.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Robustness Across Datasets and Measurement Ratios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11185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SSIM across {MNIST, FashionMNIST} × ratio {0.25, 0.5}:  harder data and fewer measurements widen the gap.</a:t>
            </a:r>
          </a:p>
        </p:txBody>
      </p:sp>
      <p:pic>
        <p:nvPicPr>
          <p:cNvPr id="8" name="Picture 7" descr="ssim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5920"/>
            <a:ext cx="5852160" cy="2779776"/>
          </a:xfrm>
          <a:prstGeom prst="rect">
            <a:avLst/>
          </a:prstGeom>
        </p:spPr>
      </p:pic>
      <p:pic>
        <p:nvPicPr>
          <p:cNvPr id="9" name="Picture 8" descr="ssim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691640"/>
            <a:ext cx="5394960" cy="2697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5074920"/>
            <a:ext cx="5524347" cy="137160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074920"/>
            <a:ext cx="50292" cy="13716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184648"/>
            <a:ext cx="519516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3F87"/>
                </a:solidFill>
                <a:latin typeface="Calibri"/>
              </a:defRPr>
            </a:pPr>
            <a:r>
              <a:t>Trend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MNIST @ 0.5 is easy for everyone; FashionMNIST @ 0.25 breaks every structured model. LISTA-L2 stays ≥ 0.82 SSIM everywhere.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4427" y="5074920"/>
            <a:ext cx="5524347" cy="1371600"/>
          </a:xfrm>
          <a:prstGeom prst="rect">
            <a:avLst/>
          </a:prstGeom>
          <a:solidFill>
            <a:srgbClr val="FFF8E8"/>
          </a:solidFill>
          <a:ln w="9525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4427" y="5074920"/>
            <a:ext cx="50292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6451" y="5184648"/>
            <a:ext cx="5195163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3F87"/>
                </a:solidFill>
                <a:latin typeface="Calibri"/>
              </a:defRPr>
            </a:pPr>
            <a:r>
              <a:t>Interpretation</a:t>
            </a:r>
          </a:p>
          <a:p>
            <a:pPr>
              <a:spcBef>
                <a:spcPts val="200"/>
              </a:spcBef>
              <a:defRPr sz="1300">
                <a:solidFill>
                  <a:srgbClr val="1A1A2E"/>
                </a:solidFill>
                <a:latin typeface="Calibri"/>
              </a:defRPr>
            </a:pPr>
            <a:r>
              <a:t>The sparse-Gaussian prior degrades gracefully on MNIST (~78% zeros) but fails on FashionMNIST (~51% zeros, textured).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Visual Stress Tests  (ratio = 0.25)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14 / 16</a:t>
            </a:r>
          </a:p>
        </p:txBody>
      </p:sp>
      <p:pic>
        <p:nvPicPr>
          <p:cNvPr id="7" name="Picture 6" descr="mnist_grid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4709160" cy="4287094"/>
          </a:xfrm>
          <a:prstGeom prst="rect">
            <a:avLst/>
          </a:prstGeom>
        </p:spPr>
      </p:pic>
      <p:pic>
        <p:nvPicPr>
          <p:cNvPr id="8" name="Picture 7" descr="fmnist_grid_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097280"/>
            <a:ext cx="4709160" cy="428709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02920" y="5577840"/>
            <a:ext cx="11185855" cy="96012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577840"/>
            <a:ext cx="50292" cy="9601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687568"/>
            <a:ext cx="10856671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2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LISTA-L2 recovers clean structure on both datasets. ALISTA / HyperLISTA zero out valid signal on FashionMNIST —</a:t>
            </a:r>
          </a:p>
          <a:p>
            <a:pPr>
              <a:spcBef>
                <a:spcPts val="200"/>
              </a:spcBef>
              <a:defRPr sz="1400">
                <a:solidFill>
                  <a:srgbClr val="1A1A2E"/>
                </a:solidFill>
                <a:latin typeface="Calibri"/>
              </a:defRPr>
            </a:pPr>
            <a:r>
              <a:t>the Gaussian-sparse threshold is miscalibrated for textured images. Wrong prior is worse than no prior.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Conclusions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551977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325880"/>
            <a:ext cx="384048" cy="384048"/>
          </a:xfrm>
          <a:prstGeom prst="ellipse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325880"/>
            <a:ext cx="4742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Structure wins when assumptions match.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737360"/>
            <a:ext cx="4742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HyperLISTA's 3 scalars beat 6 M learned parameters by 41 dB on synthetic sparse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68999" y="1188720"/>
            <a:ext cx="551977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6159" y="1325880"/>
            <a:ext cx="384048" cy="384048"/>
          </a:xfrm>
          <a:prstGeom prst="ellipse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6159" y="13258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9079" y="1325880"/>
            <a:ext cx="4742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Step sizes matter most.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9079" y="1737360"/>
            <a:ext cx="4742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StepISTA (16 scalars) matches LISTA. Decoupling θ_k adds 3 dB. Matrix learning is largely redundant.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06040"/>
            <a:ext cx="551977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2743200"/>
            <a:ext cx="384048" cy="384048"/>
          </a:xfrm>
          <a:prstGeom prst="ellipse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43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743200"/>
            <a:ext cx="4742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Weight tying is implicit regularization.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154680"/>
            <a:ext cx="4742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LISTA-Tied matches LISTA-Untied (−19.1 vs −20.3 dB) with 16× fewer parameters.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8999" y="2606040"/>
            <a:ext cx="551977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6159" y="2743200"/>
            <a:ext cx="384048" cy="384048"/>
          </a:xfrm>
          <a:prstGeom prst="ellipse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6159" y="2743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9079" y="2743200"/>
            <a:ext cx="4742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Wrong prior actively hurts.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9079" y="3154680"/>
            <a:ext cx="474253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ALISTA / HyperLISTA score below ISTA on real images. LISTA wins by making no structural assumptions.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160520"/>
            <a:ext cx="5486400" cy="150876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224528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A623"/>
                </a:solidFill>
                <a:latin typeface="Calibri"/>
              </a:rPr>
              <a:t>MBDL hierarchy on synthetic data:</a:t>
            </a:r>
          </a:p>
          <a:p>
            <a:r>
              <a:rPr sz="1400" b="0">
                <a:solidFill>
                  <a:srgbClr val="FFFFFF"/>
                </a:solidFill>
                <a:latin typeface="Calibri"/>
              </a:rPr>
              <a:t>ISTA → LISTA → ALISTA → HyperLISTA</a:t>
            </a:r>
          </a:p>
          <a:p>
            <a:r>
              <a:rPr sz="1400" b="0">
                <a:solidFill>
                  <a:srgbClr val="00A3E0"/>
                </a:solidFill>
                <a:latin typeface="Calibri"/>
              </a:rPr>
              <a:t>0  →  6M  →  32  →  3  params</a:t>
            </a:r>
          </a:p>
          <a:p>
            <a:r>
              <a:rPr sz="1400" b="1">
                <a:solidFill>
                  <a:srgbClr val="00A3E0"/>
                </a:solidFill>
                <a:latin typeface="Calibri"/>
              </a:rPr>
              <a:t>−5  →  −20  →  −30  →  −61  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4160520"/>
            <a:ext cx="5715000" cy="1737360"/>
          </a:xfrm>
          <a:prstGeom prst="rect">
            <a:avLst/>
          </a:prstGeom>
          <a:solidFill>
            <a:srgbClr val="E8F5FF"/>
          </a:solidFill>
          <a:ln w="9525">
            <a:solidFill>
              <a:srgbClr val="C0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4160520"/>
            <a:ext cx="50292" cy="173736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4270248"/>
            <a:ext cx="538581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03F87"/>
                </a:solidFill>
                <a:latin typeface="Calibri"/>
              </a:defRPr>
            </a:pPr>
            <a:r>
              <a:t>Future work</a:t>
            </a:r>
          </a:p>
          <a:p>
            <a:pPr>
              <a:spcBef>
                <a:spcPts val="200"/>
              </a:spcBef>
              <a:defRPr sz="1200">
                <a:solidFill>
                  <a:srgbClr val="1A1A2E"/>
                </a:solidFill>
                <a:latin typeface="Calibri"/>
              </a:defRPr>
            </a:pPr>
            <a:r>
              <a:t>Apply models in DCT / wavelet domain — images are</a:t>
            </a:r>
          </a:p>
          <a:p>
            <a:pPr>
              <a:spcBef>
                <a:spcPts val="200"/>
              </a:spcBef>
              <a:defRPr sz="1200">
                <a:solidFill>
                  <a:srgbClr val="1A1A2E"/>
                </a:solidFill>
                <a:latin typeface="Calibri"/>
              </a:defRPr>
            </a:pPr>
            <a:r>
              <a:t>sparser there, closer to the Gaussian-sparse model.</a:t>
            </a:r>
          </a:p>
          <a:p>
            <a:pPr>
              <a:spcBef>
                <a:spcPts val="200"/>
              </a:spcBef>
              <a:defRPr sz="120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defRPr sz="1200">
                <a:solidFill>
                  <a:srgbClr val="1A1A2E"/>
                </a:solidFill>
                <a:latin typeface="Calibri"/>
              </a:defRPr>
            </a:pPr>
            <a:r>
              <a:t>Design image-aware thresholds for bounded,</a:t>
            </a:r>
          </a:p>
          <a:p>
            <a:pPr>
              <a:spcBef>
                <a:spcPts val="200"/>
              </a:spcBef>
              <a:defRPr sz="1200">
                <a:solidFill>
                  <a:srgbClr val="1A1A2E"/>
                </a:solidFill>
                <a:latin typeface="Calibri"/>
              </a:defRPr>
            </a:pPr>
            <a:r>
              <a:t>non-negative pixel structure.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858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F87"/>
                </a:solidFill>
                <a:latin typeface="Calibri"/>
              </a:rPr>
              <a:t>Code &amp;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11185855" cy="22860"/>
          </a:xfrm>
          <a:prstGeom prst="rect">
            <a:avLst/>
          </a:prstGeom>
          <a:solidFill>
            <a:srgbClr val="D1D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68735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4A5568"/>
                </a:solidFill>
                <a:latin typeface="Calibri"/>
              </a:rPr>
              <a:t>16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Code — public GitHub repository (notebooks 01–04 + src modules):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10637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3E0"/>
                </a:solidFill>
                <a:latin typeface="Calibri"/>
              </a:rPr>
              <a:t>github.com/ThEpiCake/hyperlista-mbdl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11858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F87"/>
                </a:solidFill>
                <a:latin typeface="Calibri"/>
              </a:rPr>
              <a:t>References: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[1]  A. Beck and M. Teboulle, "A Fast Iterative Shrinkage-Thresholding Algorithm for Linear Inverse Problems," SIAM J. Imaging Sciences, 2009.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[2]  K. Gregor and Y. LeCun, "Learning Fast Approximations of Sparse Coding," ICML 2010.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11296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[3]  X. Chen, J. Liu, Z. Wang, W. Yin, "Theoretical Linear Convergence of Unfolded ISTA and Its Practical Weights and Thresholds," NeurIPS 2018.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86784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[4]  J. Liu, X. Chen, Z. Wang, W. Yin, "ALISTA: Analytic Weights Are As Good As Learned Weights in LISTA," ICLR 2019.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62272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[5]  X. Chen, J. Liu, Z. Wang, W. Yin, "Hyperparameter Tuning is All You Need for LISTA," NeurIPS 2021.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37760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[6]  N. Shlezinger, J. Whang, Y. C. Eldar, A. G. Dimakis, "Model-Based Deep Learning," Proceedings of the IEEE, 2023.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13248"/>
            <a:ext cx="106372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[7]  Course lecture notes 1–8, Model-Based Deep Learning (361.2.2320), Ben-Gurion University, 2026.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893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F87"/>
                </a:solidFill>
                <a:latin typeface="Calibri"/>
              </a:rPr>
              <a:t>Thank you! 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