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curve at the bottom shows all three on the exact same architecture: deep supervision improves every layer and finishes best at minus 21.9 dB; end-to-end L1 improves mostly in the final layers; and greedy L3 flattens around layer eight at minus 16.6, because later layers have no incentive to improve on what earlier layers already solved. And note tied LISTA: with sixteen times fewer parameters it comes very close to the untied version —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with each family shown at its best — for LISTA that is the L2 variant from the previous slide. The hierarchy is clear: our scalar models match or beat full LISTA,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The two starred models are the interesting ones: our StepThresholdISTA, with 32 scalars, beats even the best LISTA variant with 187,000 times fewer parameters, and ALISTA reaches minus 30 dB with the same 32 parameters thanks to its analytic weight matrix.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75f649db7ea0e3ab.png"/>
          <p:cNvPicPr>
            <a:picLocks noChangeAspect="1"/>
          </p:cNvPicPr>
          <p:nvPr/>
        </p:nvPicPr>
        <p:blipFill>
          <a:blip r:embed="rId2"/>
          <a:stretch>
            <a:fillRect/>
          </a:stretch>
        </p:blipFill>
        <p:spPr>
          <a:xfrm>
            <a:off x="1388364" y="4389120"/>
            <a:ext cx="4172712" cy="408432"/>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5bd0038d3d2d57c6.png"/>
          <p:cNvPicPr>
            <a:picLocks noChangeAspect="1"/>
          </p:cNvPicPr>
          <p:nvPr/>
        </p:nvPicPr>
        <p:blipFill>
          <a:blip r:embed="rId3"/>
          <a:stretch>
            <a:fillRect/>
          </a:stretch>
        </p:blipFill>
        <p:spPr>
          <a:xfrm>
            <a:off x="8249717" y="1856232"/>
            <a:ext cx="1880006" cy="373075"/>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ec376716e81011a3.png"/>
          <p:cNvPicPr>
            <a:picLocks noChangeAspect="1"/>
          </p:cNvPicPr>
          <p:nvPr/>
        </p:nvPicPr>
        <p:blipFill>
          <a:blip r:embed="rId2"/>
          <a:stretch>
            <a:fillRect/>
          </a:stretch>
        </p:blipFill>
        <p:spPr>
          <a:xfrm>
            <a:off x="2471775" y="1572768"/>
            <a:ext cx="7248144" cy="557784"/>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8deed43022a899f2.png"/>
          <p:cNvPicPr>
            <a:picLocks noChangeAspect="1"/>
          </p:cNvPicPr>
          <p:nvPr/>
        </p:nvPicPr>
        <p:blipFill>
          <a:blip r:embed="rId3"/>
          <a:stretch>
            <a:fillRect/>
          </a:stretch>
        </p:blipFill>
        <p:spPr>
          <a:xfrm>
            <a:off x="1849983" y="2715768"/>
            <a:ext cx="8491728" cy="557784"/>
          </a:xfrm>
          <a:prstGeom prst="rect">
            <a:avLst/>
          </a:prstGeom>
        </p:spPr>
      </p:pic>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da2601d1aad8fa19.png"/>
          <p:cNvPicPr>
            <a:picLocks noChangeAspect="1"/>
          </p:cNvPicPr>
          <p:nvPr/>
        </p:nvPicPr>
        <p:blipFill>
          <a:blip r:embed="rId2"/>
          <a:stretch>
            <a:fillRect/>
          </a:stretch>
        </p:blipFill>
        <p:spPr>
          <a:xfrm>
            <a:off x="1539925" y="2350008"/>
            <a:ext cx="3404616" cy="429768"/>
          </a:xfrm>
          <a:prstGeom prst="rect">
            <a:avLst/>
          </a:prstGeom>
        </p:spPr>
      </p:pic>
      <p:pic>
        <p:nvPicPr>
          <p:cNvPr id="11" name="Picture 10" descr="73d90c265a8832d4.png"/>
          <p:cNvPicPr>
            <a:picLocks noChangeAspect="1"/>
          </p:cNvPicPr>
          <p:nvPr/>
        </p:nvPicPr>
        <p:blipFill>
          <a:blip r:embed="rId3"/>
          <a:stretch>
            <a:fillRect/>
          </a:stretch>
        </p:blipFill>
        <p:spPr>
          <a:xfrm>
            <a:off x="2224201" y="2990088"/>
            <a:ext cx="2036064" cy="429768"/>
          </a:xfrm>
          <a:prstGeom prst="rect">
            <a:avLst/>
          </a:prstGeom>
        </p:spPr>
      </p:pic>
      <p:pic>
        <p:nvPicPr>
          <p:cNvPr id="12" name="Picture 11" descr="a9e9803a04e5fa49.png"/>
          <p:cNvPicPr>
            <a:picLocks noChangeAspect="1"/>
          </p:cNvPicPr>
          <p:nvPr/>
        </p:nvPicPr>
        <p:blipFill>
          <a:blip r:embed="rId4"/>
          <a:stretch>
            <a:fillRect/>
          </a:stretch>
        </p:blipFill>
        <p:spPr>
          <a:xfrm>
            <a:off x="685800" y="3630168"/>
            <a:ext cx="3623614" cy="231800"/>
          </a:xfrm>
          <a:prstGeom prst="rect">
            <a:avLst/>
          </a:prstGeom>
        </p:spPr>
      </p:pic>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1832ddb15122c01b.png"/>
          <p:cNvPicPr>
            <a:picLocks noChangeAspect="1"/>
          </p:cNvPicPr>
          <p:nvPr/>
        </p:nvPicPr>
        <p:blipFill>
          <a:blip r:embed="rId5"/>
          <a:stretch>
            <a:fillRect/>
          </a:stretch>
        </p:blipFill>
        <p:spPr>
          <a:xfrm>
            <a:off x="7544333" y="2350008"/>
            <a:ext cx="2810256" cy="435864"/>
          </a:xfrm>
          <a:prstGeom prst="rect">
            <a:avLst/>
          </a:prstGeom>
        </p:spPr>
      </p:pic>
      <p:pic>
        <p:nvPicPr>
          <p:cNvPr id="18" name="Picture 17" descr="10a2df3bf92ff791.png"/>
          <p:cNvPicPr>
            <a:picLocks noChangeAspect="1"/>
          </p:cNvPicPr>
          <p:nvPr/>
        </p:nvPicPr>
        <p:blipFill>
          <a:blip r:embed="rId6"/>
          <a:stretch>
            <a:fillRect/>
          </a:stretch>
        </p:blipFill>
        <p:spPr>
          <a:xfrm>
            <a:off x="7879613" y="2990088"/>
            <a:ext cx="2139696" cy="429768"/>
          </a:xfrm>
          <a:prstGeom prst="rect">
            <a:avLst/>
          </a:prstGeom>
        </p:spPr>
      </p:pic>
      <p:pic>
        <p:nvPicPr>
          <p:cNvPr id="19" name="Picture 18" descr="28a978e09305310a.png"/>
          <p:cNvPicPr>
            <a:picLocks noChangeAspect="1"/>
          </p:cNvPicPr>
          <p:nvPr/>
        </p:nvPicPr>
        <p:blipFill>
          <a:blip r:embed="rId7"/>
          <a:stretch>
            <a:fillRect/>
          </a:stretch>
        </p:blipFill>
        <p:spPr>
          <a:xfrm>
            <a:off x="6393027" y="3593592"/>
            <a:ext cx="3578047" cy="283311"/>
          </a:xfrm>
          <a:prstGeom prst="rect">
            <a:avLst/>
          </a:prstGeom>
        </p:spPr>
      </p:pic>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bb2cdae70b85d303.png"/>
          <p:cNvPicPr>
            <a:picLocks noChangeAspect="1"/>
          </p:cNvPicPr>
          <p:nvPr/>
        </p:nvPicPr>
        <p:blipFill>
          <a:blip r:embed="rId2"/>
          <a:stretch>
            <a:fillRect/>
          </a:stretch>
        </p:blipFill>
        <p:spPr>
          <a:xfrm>
            <a:off x="2032863" y="1591056"/>
            <a:ext cx="3645408" cy="435864"/>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5034ec6801d0cb74.png"/>
          <p:cNvPicPr>
            <a:picLocks noChangeAspect="1"/>
          </p:cNvPicPr>
          <p:nvPr/>
        </p:nvPicPr>
        <p:blipFill>
          <a:blip r:embed="rId3"/>
          <a:stretch>
            <a:fillRect/>
          </a:stretch>
        </p:blipFill>
        <p:spPr>
          <a:xfrm>
            <a:off x="1569567" y="2734056"/>
            <a:ext cx="4572000" cy="390144"/>
          </a:xfrm>
          <a:prstGeom prst="rect">
            <a:avLst/>
          </a:prstGeom>
        </p:spPr>
      </p:pic>
      <p:pic>
        <p:nvPicPr>
          <p:cNvPr id="11" name="Picture 10" descr="1c3ab517067c9973.png"/>
          <p:cNvPicPr>
            <a:picLocks noChangeAspect="1"/>
          </p:cNvPicPr>
          <p:nvPr/>
        </p:nvPicPr>
        <p:blipFill>
          <a:blip r:embed="rId4"/>
          <a:stretch>
            <a:fillRect/>
          </a:stretch>
        </p:blipFill>
        <p:spPr>
          <a:xfrm>
            <a:off x="1632051" y="3163824"/>
            <a:ext cx="4447032" cy="429768"/>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1865d34b0371d61a.png"/>
          <p:cNvPicPr>
            <a:picLocks noChangeAspect="1"/>
          </p:cNvPicPr>
          <p:nvPr/>
        </p:nvPicPr>
        <p:blipFill>
          <a:blip r:embed="rId5"/>
          <a:stretch>
            <a:fillRect/>
          </a:stretch>
        </p:blipFill>
        <p:spPr>
          <a:xfrm>
            <a:off x="982827" y="4425696"/>
            <a:ext cx="5745480" cy="402336"/>
          </a:xfrm>
          <a:prstGeom prst="rect">
            <a:avLst/>
          </a:prstGeom>
        </p:spPr>
      </p:pic>
      <p:pic>
        <p:nvPicPr>
          <p:cNvPr id="14" name="Picture 13" descr="a4a39126b67fa50c.png"/>
          <p:cNvPicPr>
            <a:picLocks noChangeAspect="1"/>
          </p:cNvPicPr>
          <p:nvPr/>
        </p:nvPicPr>
        <p:blipFill>
          <a:blip r:embed="rId6"/>
          <a:stretch>
            <a:fillRect/>
          </a:stretch>
        </p:blipFill>
        <p:spPr>
          <a:xfrm>
            <a:off x="2104491" y="4864608"/>
            <a:ext cx="3502152" cy="716280"/>
          </a:xfrm>
          <a:prstGeom prst="rect">
            <a:avLst/>
          </a:prstGeom>
        </p:spPr>
      </p:pic>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828800"/>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3e1035065db8020b.png"/>
          <p:cNvPicPr>
            <a:picLocks noChangeAspect="1"/>
          </p:cNvPicPr>
          <p:nvPr/>
        </p:nvPicPr>
        <p:blipFill>
          <a:blip r:embed="rId2"/>
          <a:stretch>
            <a:fillRect/>
          </a:stretch>
        </p:blipFill>
        <p:spPr>
          <a:xfrm>
            <a:off x="3966819" y="2267712"/>
            <a:ext cx="4258056" cy="429768"/>
          </a:xfrm>
          <a:prstGeom prst="rect">
            <a:avLst/>
          </a:prstGeom>
        </p:spPr>
      </p:pic>
      <p:sp>
        <p:nvSpPr>
          <p:cNvPr id="10" name="TextBox 9"/>
          <p:cNvSpPr txBox="1"/>
          <p:nvPr/>
        </p:nvSpPr>
        <p:spPr>
          <a:xfrm>
            <a:off x="502920" y="2852928"/>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pic>
        <p:nvPicPr>
          <p:cNvPr id="15" name="Picture 14" descr="b6f3c172e92fbdfb.png"/>
          <p:cNvPicPr>
            <a:picLocks noChangeAspect="1"/>
          </p:cNvPicPr>
          <p:nvPr/>
        </p:nvPicPr>
        <p:blipFill>
          <a:blip r:embed="rId3"/>
          <a:stretch>
            <a:fillRect/>
          </a:stretch>
        </p:blipFill>
        <p:spPr>
          <a:xfrm>
            <a:off x="640080" y="4114800"/>
            <a:ext cx="1682038" cy="213969"/>
          </a:xfrm>
          <a:prstGeom prst="rect">
            <a:avLst/>
          </a:prstGeom>
        </p:spPr>
      </p:pic>
      <p:pic>
        <p:nvPicPr>
          <p:cNvPr id="16" name="Picture 15" descr="1da6f78521b455de.png"/>
          <p:cNvPicPr>
            <a:picLocks noChangeAspect="1"/>
          </p:cNvPicPr>
          <p:nvPr/>
        </p:nvPicPr>
        <p:blipFill>
          <a:blip r:embed="rId4"/>
          <a:stretch>
            <a:fillRect/>
          </a:stretch>
        </p:blipFill>
        <p:spPr>
          <a:xfrm>
            <a:off x="640080" y="4517136"/>
            <a:ext cx="1630527" cy="231800"/>
          </a:xfrm>
          <a:prstGeom prst="rect">
            <a:avLst/>
          </a:prstGeom>
        </p:spPr>
      </p:pic>
      <p:pic>
        <p:nvPicPr>
          <p:cNvPr id="17" name="Picture 16" descr="cf050c777f11679f.png"/>
          <p:cNvPicPr>
            <a:picLocks noChangeAspect="1"/>
          </p:cNvPicPr>
          <p:nvPr/>
        </p:nvPicPr>
        <p:blipFill>
          <a:blip r:embed="rId5"/>
          <a:stretch>
            <a:fillRect/>
          </a:stretch>
        </p:blipFill>
        <p:spPr>
          <a:xfrm>
            <a:off x="640080" y="4919472"/>
            <a:ext cx="1105509" cy="231800"/>
          </a:xfrm>
          <a:prstGeom prst="rect">
            <a:avLst/>
          </a:prstGeom>
        </p:spPr>
      </p:pic>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pic>
        <p:nvPicPr>
          <p:cNvPr id="22" name="Picture 21" descr="3c9f4b211736acd6.png"/>
          <p:cNvPicPr>
            <a:picLocks noChangeAspect="1"/>
          </p:cNvPicPr>
          <p:nvPr/>
        </p:nvPicPr>
        <p:blipFill>
          <a:blip r:embed="rId6"/>
          <a:stretch>
            <a:fillRect/>
          </a:stretch>
        </p:blipFill>
        <p:spPr>
          <a:xfrm>
            <a:off x="4361078" y="4114800"/>
            <a:ext cx="1697888" cy="213969"/>
          </a:xfrm>
          <a:prstGeom prst="rect">
            <a:avLst/>
          </a:prstGeom>
        </p:spPr>
      </p:pic>
      <p:pic>
        <p:nvPicPr>
          <p:cNvPr id="23" name="Picture 22" descr="4cb5d07eb104900d.png"/>
          <p:cNvPicPr>
            <a:picLocks noChangeAspect="1"/>
          </p:cNvPicPr>
          <p:nvPr/>
        </p:nvPicPr>
        <p:blipFill>
          <a:blip r:embed="rId7"/>
          <a:stretch>
            <a:fillRect/>
          </a:stretch>
        </p:blipFill>
        <p:spPr>
          <a:xfrm>
            <a:off x="4361078" y="4517136"/>
            <a:ext cx="2151583" cy="213969"/>
          </a:xfrm>
          <a:prstGeom prst="rect">
            <a:avLst/>
          </a:prstGeom>
        </p:spPr>
      </p:pic>
      <p:pic>
        <p:nvPicPr>
          <p:cNvPr id="24" name="Picture 23" descr="2c252a19a37b9640.png"/>
          <p:cNvPicPr>
            <a:picLocks noChangeAspect="1"/>
          </p:cNvPicPr>
          <p:nvPr/>
        </p:nvPicPr>
        <p:blipFill>
          <a:blip r:embed="rId8"/>
          <a:stretch>
            <a:fillRect/>
          </a:stretch>
        </p:blipFill>
        <p:spPr>
          <a:xfrm>
            <a:off x="4361078" y="4919472"/>
            <a:ext cx="1101547" cy="231800"/>
          </a:xfrm>
          <a:prstGeom prst="rect">
            <a:avLst/>
          </a:prstGeom>
        </p:spPr>
      </p:pic>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pic>
        <p:nvPicPr>
          <p:cNvPr id="29" name="Picture 28" descr="ee5733e0f8333b8f.png"/>
          <p:cNvPicPr>
            <a:picLocks noChangeAspect="1"/>
          </p:cNvPicPr>
          <p:nvPr/>
        </p:nvPicPr>
        <p:blipFill>
          <a:blip r:embed="rId9"/>
          <a:stretch>
            <a:fillRect/>
          </a:stretch>
        </p:blipFill>
        <p:spPr>
          <a:xfrm>
            <a:off x="8082076" y="4114800"/>
            <a:ext cx="1687982" cy="213969"/>
          </a:xfrm>
          <a:prstGeom prst="rect">
            <a:avLst/>
          </a:prstGeom>
        </p:spPr>
      </p:pic>
      <p:sp>
        <p:nvSpPr>
          <p:cNvPr id="30" name="TextBox 29"/>
          <p:cNvSpPr txBox="1"/>
          <p:nvPr/>
        </p:nvSpPr>
        <p:spPr>
          <a:xfrm>
            <a:off x="8082076" y="4480560"/>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882896"/>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γₖ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θₖ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d25ef180049c1210.png"/>
          <p:cNvPicPr>
            <a:picLocks noChangeAspect="1"/>
          </p:cNvPicPr>
          <p:nvPr/>
        </p:nvPicPr>
        <p:blipFill>
          <a:blip r:embed="rId2"/>
          <a:stretch>
            <a:fillRect/>
          </a:stretch>
        </p:blipFill>
        <p:spPr>
          <a:xfrm>
            <a:off x="1407414" y="2176272"/>
            <a:ext cx="1843430" cy="362102"/>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48cfcd04f3cb2912.png"/>
          <p:cNvPicPr>
            <a:picLocks noChangeAspect="1"/>
          </p:cNvPicPr>
          <p:nvPr/>
        </p:nvPicPr>
        <p:blipFill>
          <a:blip r:embed="rId3"/>
          <a:stretch>
            <a:fillRect/>
          </a:stretch>
        </p:blipFill>
        <p:spPr>
          <a:xfrm>
            <a:off x="4826660" y="2176272"/>
            <a:ext cx="2446934" cy="362102"/>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7c386acad099310c.png"/>
          <p:cNvPicPr>
            <a:picLocks noChangeAspect="1"/>
          </p:cNvPicPr>
          <p:nvPr/>
        </p:nvPicPr>
        <p:blipFill>
          <a:blip r:embed="rId4"/>
          <a:stretch>
            <a:fillRect/>
          </a:stretch>
        </p:blipFill>
        <p:spPr>
          <a:xfrm>
            <a:off x="8883700" y="2176272"/>
            <a:ext cx="1774850" cy="502005"/>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pic>
        <p:nvPicPr>
          <p:cNvPr id="20" name="Picture 19" descr="training_methods.png"/>
          <p:cNvPicPr>
            <a:picLocks noChangeAspect="1"/>
          </p:cNvPicPr>
          <p:nvPr/>
        </p:nvPicPr>
        <p:blipFill>
          <a:blip r:embed="rId5"/>
          <a:stretch>
            <a:fillRect/>
          </a:stretch>
        </p:blipFill>
        <p:spPr>
          <a:xfrm>
            <a:off x="502920" y="3840480"/>
            <a:ext cx="4480560" cy="2800350"/>
          </a:xfrm>
          <a:prstGeom prst="rect">
            <a:avLst/>
          </a:prstGeom>
        </p:spPr>
      </p:pic>
      <p:graphicFrame>
        <p:nvGraphicFramePr>
          <p:cNvPr id="21" name="Table 20"/>
          <p:cNvGraphicFramePr>
            <a:graphicFrameLocks noGrp="1"/>
          </p:cNvGraphicFramePr>
          <p:nvPr/>
        </p:nvGraphicFramePr>
        <p:xfrm>
          <a:off x="5349240" y="4023360"/>
          <a:ext cx="4114800" cy="1508760"/>
        </p:xfrm>
        <a:graphic>
          <a:graphicData uri="http://schemas.openxmlformats.org/drawingml/2006/table">
            <a:tbl>
              <a:tblPr firstRow="1" bandRow="1">
                <a:tableStyleId>{5C22544A-7EE6-4342-B048-85BDC9FD1C3A}</a:tableStyleId>
              </a:tblPr>
              <a:tblGrid>
                <a:gridCol w="1737360"/>
                <a:gridCol w="1463040"/>
                <a:gridCol w="914400"/>
              </a:tblGrid>
              <a:tr h="301752">
                <a:tc>
                  <a:txBody>
                    <a:bodyPr/>
                    <a:lstStyle/>
                    <a:p>
                      <a:pPr>
                        <a:defRPr sz="1300" b="1">
                          <a:solidFill>
                            <a:srgbClr val="FFFFFF"/>
                          </a:solidFill>
                          <a:latin typeface="Calibri"/>
                        </a:defRPr>
                      </a:pPr>
                      <a:r>
                        <a:t>Training</a:t>
                      </a:r>
                    </a:p>
                  </a:txBody>
                  <a:tcPr>
                    <a:solidFill>
                      <a:srgbClr val="003F87"/>
                    </a:solidFill>
                  </a:tcPr>
                </a:tc>
                <a:tc>
                  <a:txBody>
                    <a:bodyPr/>
                    <a:lstStyle/>
                    <a:p>
                      <a:pPr>
                        <a:defRPr sz="1300" b="1">
                          <a:solidFill>
                            <a:srgbClr val="FFFFFF"/>
                          </a:solidFill>
                          <a:latin typeface="Calibri"/>
                        </a:defRPr>
                      </a:pPr>
                      <a:r>
                        <a:t>NMSE @ K=16</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solidFill>
                            <a:srgbClr val="003F87"/>
                          </a:solidFill>
                          <a:latin typeface="Calibri"/>
                        </a:defRPr>
                      </a:pPr>
                      <a:r>
                        <a:t>LISTA-L2</a:t>
                      </a:r>
                    </a:p>
                  </a:txBody>
                  <a:tcPr>
                    <a:solidFill>
                      <a:srgbClr val="D4EDFF"/>
                    </a:solidFill>
                  </a:tcPr>
                </a:tc>
                <a:tc>
                  <a:txBody>
                    <a:bodyPr/>
                    <a:lstStyle/>
                    <a:p>
                      <a:pPr>
                        <a:defRPr sz="1300" b="1">
                          <a:solidFill>
                            <a:srgbClr val="003F87"/>
                          </a:solidFill>
                          <a:latin typeface="Calibri"/>
                        </a:defRPr>
                      </a:pPr>
                      <a:r>
                        <a:t>−21.9 dB</a:t>
                      </a:r>
                    </a:p>
                  </a:txBody>
                  <a:tcPr>
                    <a:solidFill>
                      <a:srgbClr val="D4EDFF"/>
                    </a:solidFill>
                  </a:tcPr>
                </a:tc>
                <a:tc>
                  <a:txBody>
                    <a:bodyPr/>
                    <a:lstStyle/>
                    <a:p>
                      <a:pPr>
                        <a:defRPr sz="1300" b="1">
                          <a:solidFill>
                            <a:srgbClr val="003F87"/>
                          </a:solidFill>
                          <a:latin typeface="Calibri"/>
                        </a:defRPr>
                      </a:pPr>
                      <a:r>
                        <a:t>6 M</a:t>
                      </a:r>
                    </a:p>
                  </a:txBody>
                  <a:tcPr>
                    <a:solidFill>
                      <a:srgbClr val="D4EDFF"/>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bl>
          </a:graphicData>
        </a:graphic>
      </p:graphicFrame>
      <p:sp>
        <p:nvSpPr>
          <p:cNvPr id="22" name="Rectangle 21"/>
          <p:cNvSpPr/>
          <p:nvPr/>
        </p:nvSpPr>
        <p:spPr>
          <a:xfrm>
            <a:off x="9738360" y="4023360"/>
            <a:ext cx="2194560" cy="18288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38360" y="4023360"/>
            <a:ext cx="50292" cy="1828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30384" y="4133088"/>
            <a:ext cx="1865376" cy="1609344"/>
          </a:xfrm>
          <a:prstGeom prst="rect">
            <a:avLst/>
          </a:prstGeom>
          <a:noFill/>
        </p:spPr>
        <p:txBody>
          <a:bodyPr wrap="square" anchor="ctr">
            <a:spAutoFit/>
          </a:bodyPr>
          <a:lstStyle/>
          <a:p>
            <a:pPr>
              <a:defRPr sz="1200">
                <a:solidFill>
                  <a:srgbClr val="1A1A2E"/>
                </a:solidFill>
                <a:latin typeface="Calibri"/>
              </a:defRPr>
            </a:pPr>
            <a:r>
              <a:t>Tied = one shared (Wx, Wy, θ), RNN-style.</a:t>
            </a:r>
          </a:p>
          <a:p>
            <a:pPr>
              <a:spcBef>
                <a:spcPts val="200"/>
              </a:spcBef>
              <a:defRPr sz="1200">
                <a:solidFill>
                  <a:srgbClr val="1A1A2E"/>
                </a:solidFill>
                <a:latin typeface="Calibri"/>
              </a:defRPr>
            </a:pPr>
            <a:r>
              <a:t>Implicit regularization: −19.1 dB</a:t>
            </a:r>
          </a:p>
          <a:p>
            <a:pPr>
              <a:spcBef>
                <a:spcPts val="200"/>
              </a:spcBef>
              <a:defRPr sz="1200">
                <a:solidFill>
                  <a:srgbClr val="1A1A2E"/>
                </a:solidFill>
                <a:latin typeface="Calibri"/>
              </a:defRPr>
            </a:pPr>
            <a:r>
              <a:t>with 16× fewer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572000" cy="2414016"/>
        </p:xfrm>
        <a:graphic>
          <a:graphicData uri="http://schemas.openxmlformats.org/drawingml/2006/table">
            <a:tbl>
              <a:tblPr firstRow="1" bandRow="1">
                <a:tableStyleId>{5C22544A-7EE6-4342-B048-85BDC9FD1C3A}</a:tableStyleId>
              </a:tblPr>
              <a:tblGrid>
                <a:gridCol w="2468880"/>
                <a:gridCol w="118872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StepISTA (ours)</a:t>
                      </a:r>
                    </a:p>
                  </a:txBody>
                  <a:tcPr>
                    <a:solidFill>
                      <a:srgbClr val="FFFFFF"/>
                    </a:solidFill>
                  </a:tcPr>
                </a:tc>
                <a:tc>
                  <a:txBody>
                    <a:bodyPr/>
                    <a:lstStyle/>
                    <a:p>
                      <a:pPr>
                        <a:defRPr sz="1300">
                          <a:latin typeface="Calibri"/>
                        </a:defRPr>
                      </a:pPr>
                      <a:r>
                        <a:t>−20.0 dB</a:t>
                      </a:r>
                    </a:p>
                  </a:txBody>
                  <a:tcPr>
                    <a:solidFill>
                      <a:srgbClr val="FFFFFF"/>
                    </a:solidFill>
                  </a:tcPr>
                </a:tc>
                <a:tc>
                  <a:txBody>
                    <a:bodyPr/>
                    <a:lstStyle/>
                    <a:p>
                      <a:pPr>
                        <a:defRPr sz="1300">
                          <a:latin typeface="Calibri"/>
                        </a:defRPr>
                      </a:pPr>
                      <a:r>
                        <a:t>16</a:t>
                      </a:r>
                    </a:p>
                  </a:txBody>
                  <a:tcPr>
                    <a:solidFill>
                      <a:srgbClr val="FFFFFF"/>
                    </a:solidFill>
                  </a:tcPr>
                </a:tc>
              </a:tr>
              <a:tr h="301752">
                <a:tc>
                  <a:txBody>
                    <a:bodyPr/>
                    <a:lstStyle/>
                    <a:p>
                      <a:pPr>
                        <a:defRPr sz="1300">
                          <a:latin typeface="Calibri"/>
                        </a:defRPr>
                      </a:pPr>
                      <a:r>
                        <a:t>StepThresholdISTA (ours)</a:t>
                      </a:r>
                    </a:p>
                  </a:txBody>
                  <a:tcPr>
                    <a:solidFill>
                      <a:srgbClr val="EEF4FB"/>
                    </a:solidFill>
                  </a:tcPr>
                </a:tc>
                <a:tc>
                  <a:txBody>
                    <a:bodyPr/>
                    <a:lstStyle/>
                    <a:p>
                      <a:pPr>
                        <a:defRPr sz="1300">
                          <a:latin typeface="Calibri"/>
                        </a:defRPr>
                      </a:pPr>
                      <a:r>
                        <a:t>−23.6 dB</a:t>
                      </a:r>
                    </a:p>
                  </a:txBody>
                  <a:tcPr>
                    <a:solidFill>
                      <a:srgbClr val="EEF4FB"/>
                    </a:solidFill>
                  </a:tcPr>
                </a:tc>
                <a:tc>
                  <a:txBody>
                    <a:bodyPr/>
                    <a:lstStyle/>
                    <a:p>
                      <a:pPr>
                        <a:defRPr sz="1300">
                          <a:latin typeface="Calibri"/>
                        </a:defRPr>
                      </a:pPr>
                      <a:r>
                        <a:t>32</a:t>
                      </a:r>
                    </a:p>
                  </a:txBody>
                  <a:tcPr>
                    <a:solidFill>
                      <a:srgbClr val="EEF4FB"/>
                    </a:solidFill>
                  </a:tcPr>
                </a:tc>
              </a:tr>
              <a:tr h="301752">
                <a:tc>
                  <a:txBody>
                    <a:bodyPr/>
                    <a:lstStyle/>
                    <a:p>
                      <a:pPr>
                        <a:defRPr sz="1300">
                          <a:latin typeface="Calibri"/>
                        </a:defRPr>
                      </a:pPr>
                      <a:r>
                        <a:t>LISTA-L2  (best LISTA)</a:t>
                      </a:r>
                    </a:p>
                  </a:txBody>
                  <a:tcPr>
                    <a:solidFill>
                      <a:srgbClr val="FFFFFF"/>
                    </a:solidFill>
                  </a:tcPr>
                </a:tc>
                <a:tc>
                  <a:txBody>
                    <a:bodyPr/>
                    <a:lstStyle/>
                    <a:p>
                      <a:pPr>
                        <a:defRPr sz="1300">
                          <a:latin typeface="Calibri"/>
                        </a:defRPr>
                      </a:pPr>
                      <a:r>
                        <a:t>−21.9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3931920"/>
            <a:ext cx="4572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9319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041648"/>
            <a:ext cx="4242816" cy="1517904"/>
          </a:xfrm>
          <a:prstGeom prst="rect">
            <a:avLst/>
          </a:prstGeom>
          <a:noFill/>
        </p:spPr>
        <p:txBody>
          <a:bodyPr wrap="square" anchor="ctr">
            <a:spAutoFit/>
          </a:bodyPr>
          <a:lstStyle/>
          <a:p>
            <a:pPr>
              <a:defRPr sz="1300">
                <a:solidFill>
                  <a:srgbClr val="1A1A2E"/>
                </a:solidFill>
                <a:latin typeface="Calibri"/>
              </a:defRPr>
            </a:pPr>
            <a:r>
              <a:t>Each family is shown with its best variant</a:t>
            </a:r>
          </a:p>
          <a:p>
            <a:pPr>
              <a:spcBef>
                <a:spcPts val="200"/>
              </a:spcBef>
              <a:defRPr sz="1300">
                <a:solidFill>
                  <a:srgbClr val="1A1A2E"/>
                </a:solidFill>
                <a:latin typeface="Calibri"/>
              </a:defRPr>
            </a:pPr>
            <a:r>
              <a:t>(LISTA → L2; full L1/L2/L3 comparison on</a:t>
            </a:r>
          </a:p>
          <a:p>
            <a:pPr>
              <a:spcBef>
                <a:spcPts val="200"/>
              </a:spcBef>
              <a:defRPr sz="1300">
                <a:solidFill>
                  <a:srgbClr val="1A1A2E"/>
                </a:solidFill>
                <a:latin typeface="Calibri"/>
              </a:defRPr>
            </a:pPr>
            <a:r>
              <a:t>the previous slide).</a:t>
            </a:r>
          </a:p>
          <a:p>
            <a:pPr>
              <a:spcBef>
                <a:spcPts val="200"/>
              </a:spcBef>
              <a:defRPr sz="1300">
                <a:solidFill>
                  <a:srgbClr val="1A1A2E"/>
                </a:solidFill>
                <a:latin typeface="Calibri"/>
              </a:defRPr>
            </a:pPr>
          </a:p>
          <a:p>
            <a:pPr>
              <a:spcBef>
                <a:spcPts val="200"/>
              </a:spcBef>
              <a:defRPr sz="1300">
                <a:solidFill>
                  <a:srgbClr val="1A1A2E"/>
                </a:solidFill>
                <a:latin typeface="Calibri"/>
              </a:defRPr>
            </a:pPr>
            <a:r>
              <a:t>ALISTA (32 params) beats every LISTA variant;</a:t>
            </a:r>
          </a:p>
          <a:p>
            <a:pPr>
              <a:spcBef>
                <a:spcPts val="200"/>
              </a:spcBef>
              <a:defRPr sz="1300">
                <a:solidFill>
                  <a:srgbClr val="1A1A2E"/>
                </a:solidFill>
                <a:latin typeface="Calibri"/>
              </a:defRPr>
            </a:pPr>
            <a:r>
              <a:t>HyperLISTA (3) beats everything.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highlight.png"/>
          <p:cNvPicPr>
            <a:picLocks noChangeAspect="1"/>
          </p:cNvPicPr>
          <p:nvPr/>
        </p:nvPicPr>
        <p:blipFill>
          <a:blip r:embed="rId2"/>
          <a:stretch>
            <a:fillRect/>
          </a:stretch>
        </p:blipFill>
        <p:spPr>
          <a:xfrm>
            <a:off x="320040" y="1097280"/>
            <a:ext cx="6400800" cy="4042611"/>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θₖ</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γₖ</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γₖ + θₖ</a:t>
                      </a:r>
                    </a:p>
                  </a:txBody>
                  <a:tcPr>
                    <a:solidFill>
                      <a:srgbClr val="D4ED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full matrices + L2</a:t>
                      </a:r>
                    </a:p>
                  </a:txBody>
                  <a:tcPr>
                    <a:solidFill>
                      <a:srgbClr val="EEF4FB"/>
                    </a:solidFill>
                  </a:tcPr>
                </a:tc>
              </a:tr>
              <a:tr h="301752">
                <a:tc>
                  <a:txBody>
                    <a:bodyPr/>
                    <a:lstStyle/>
                    <a:p>
                      <a:pPr>
                        <a:defRPr sz="1300" b="1">
                          <a:solidFill>
                            <a:srgbClr val="003F87"/>
                          </a:solidFill>
                          <a:latin typeface="Calibri"/>
                        </a:defRPr>
                      </a:pPr>
                      <a:r>
                        <a:t>ALISTA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−29.8 dB</a:t>
                      </a:r>
                    </a:p>
                  </a:txBody>
                  <a:tcPr>
                    <a:solidFill>
                      <a:srgbClr val="D4EDFF"/>
                    </a:solidFill>
                  </a:tcPr>
                </a:tc>
                <a:tc>
                  <a:txBody>
                    <a:bodyPr/>
                    <a:lstStyle/>
                    <a:p>
                      <a:pPr>
                        <a:defRPr sz="1300" b="1">
                          <a:solidFill>
                            <a:srgbClr val="003F87"/>
                          </a:solidFill>
                          <a:latin typeface="Calibri"/>
                        </a:defRPr>
                      </a:pPr>
                      <a:r>
                        <a:t>analytic W</a:t>
                      </a:r>
                    </a:p>
                  </a:txBody>
                  <a:tcPr>
                    <a:solidFill>
                      <a:srgbClr val="D4EDFF"/>
                    </a:solidFill>
                  </a:tcPr>
                </a:tc>
              </a:tr>
              <a:tr h="301752">
                <a:tc>
                  <a:txBody>
                    <a:bodyPr/>
                    <a:lstStyle/>
                    <a:p>
                      <a:pPr>
                        <a:defRPr sz="1300" b="1">
                          <a:latin typeface="Calibri"/>
                        </a:defRPr>
                      </a:pPr>
                      <a:r>
                        <a:t>HyperLISTA</a:t>
                      </a:r>
                    </a:p>
                  </a:txBody>
                  <a:tcPr>
                    <a:solidFill>
                      <a:srgbClr val="E8F5FF"/>
                    </a:solidFill>
                  </a:tcPr>
                </a:tc>
                <a:tc>
                  <a:txBody>
                    <a:bodyPr/>
                    <a:lstStyle/>
                    <a:p>
                      <a:pPr>
                        <a:defRPr sz="1300" b="1">
                          <a:latin typeface="Calibri"/>
                        </a:defRPr>
                      </a:pPr>
                      <a:r>
                        <a:t>3</a:t>
                      </a:r>
                    </a:p>
                  </a:txBody>
                  <a:tcPr>
                    <a:solidFill>
                      <a:srgbClr val="E8F5FF"/>
                    </a:solidFill>
                  </a:tcPr>
                </a:tc>
                <a:tc>
                  <a:txBody>
                    <a:bodyPr/>
                    <a:lstStyle/>
                    <a:p>
                      <a:pPr>
                        <a:defRPr sz="1300" b="1">
                          <a:latin typeface="Calibri"/>
                        </a:defRPr>
                      </a:pPr>
                      <a:r>
                        <a:t>−61.4 dB</a:t>
                      </a:r>
                    </a:p>
                  </a:txBody>
                  <a:tcPr>
                    <a:solidFill>
                      <a:srgbClr val="E8F5FF"/>
                    </a:solidFill>
                  </a:tcPr>
                </a:tc>
                <a:tc>
                  <a:txBody>
                    <a:bodyPr/>
                    <a:lstStyle/>
                    <a:p>
                      <a:pPr>
                        <a:defRPr sz="1300" b="1">
                          <a:latin typeface="Calibri"/>
                        </a:defRPr>
                      </a:pPr>
                      <a:r>
                        <a:t>adaptive residuals</a:t>
                      </a:r>
                    </a:p>
                  </a:txBody>
                  <a:tcPr>
                    <a:solidFill>
                      <a:srgbClr val="E8F5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even the best LISTA  (L2, 6 M params).</a:t>
            </a:r>
          </a:p>
          <a:p>
            <a:r>
              <a:rPr sz="1400">
                <a:solidFill>
                  <a:srgbClr val="AACCFF"/>
                </a:solidFill>
                <a:latin typeface="Calibri"/>
              </a:rPr>
              <a:t>The step-size schedule γₖ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43000"/>
            <a:ext cx="11185855" cy="685800"/>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201168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3434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201168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201168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212140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749039"/>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749039"/>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858767"/>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6169"/>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6169"/>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θₖ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