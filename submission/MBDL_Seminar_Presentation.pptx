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curve at the bottom shows all three on the exact same architecture: deep supervision improves every layer and finishes best at minus 21.9 dB; end-to-end L1 improves mostly in the final layers; and greedy L3 flattens around layer eight at minus 16.6, because later layers have no incentive to improve on what earlier layers already solved. And note tied LISTA: with sixteen times fewer parameters it comes very close to the untied version —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with each family shown at its best — for LISTA that is the L2 variant from the previous slide. The hierarchy is clear: our scalar models match or beat full LISTA,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The two starred models are the interesting ones: our StepThresholdISTA, with 32 scalars, beats even the best LISTA variant with 187,000 times fewer parameters, and ALISTA reaches minus 30 dB with the same 32 parameters thanks to its analytic weight matrix.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sp>
        <p:nvSpPr>
          <p:cNvPr id="11" name="TextBox 10"/>
          <p:cNvSpPr txBox="1"/>
          <p:nvPr/>
        </p:nvSpPr>
        <p:spPr>
          <a:xfrm>
            <a:off x="502920" y="4434840"/>
            <a:ext cx="5943600" cy="411480"/>
          </a:xfrm>
          <a:prstGeom prst="rect">
            <a:avLst/>
          </a:prstGeom>
          <a:noFill/>
        </p:spPr>
        <p:txBody>
          <a:bodyPr wrap="none">
            <a:spAutoFit/>
          </a:bodyPr>
          <a:lstStyle/>
          <a:p>
            <a:pPr algn="ctr"/>
            <a:r>
              <a:rPr sz="2000" i="1">
                <a:solidFill>
                  <a:srgbClr val="1A1A2E"/>
                </a:solidFill>
                <a:latin typeface="Cambria"/>
              </a:rPr>
              <a:t>x̂  =  arg min</a:t>
            </a:r>
            <a:r>
              <a:rPr sz="1400" i="1" baseline="-25000">
                <a:solidFill>
                  <a:srgbClr val="1A1A2E"/>
                </a:solidFill>
                <a:latin typeface="Cambria"/>
              </a:rPr>
              <a:t>x</a:t>
            </a:r>
            <a:r>
              <a:rPr sz="2000" i="1">
                <a:solidFill>
                  <a:srgbClr val="1A1A2E"/>
                </a:solidFill>
                <a:latin typeface="Cambria"/>
              </a:rPr>
              <a:t>  ½ ‖ b − A x ‖</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λ ‖ x ‖</a:t>
            </a:r>
            <a:r>
              <a:rPr sz="1400" i="1" baseline="-25000">
                <a:solidFill>
                  <a:srgbClr val="1A1A2E"/>
                </a:solidFill>
                <a:latin typeface="Cambria"/>
              </a:rPr>
              <a:t>1</a:t>
            </a:r>
          </a:p>
        </p:txBody>
      </p:sp>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sp>
        <p:nvSpPr>
          <p:cNvPr id="15" name="TextBox 14"/>
          <p:cNvSpPr txBox="1"/>
          <p:nvPr/>
        </p:nvSpPr>
        <p:spPr>
          <a:xfrm>
            <a:off x="6858000" y="1801368"/>
            <a:ext cx="4663440" cy="411480"/>
          </a:xfrm>
          <a:prstGeom prst="rect">
            <a:avLst/>
          </a:prstGeom>
          <a:noFill/>
        </p:spPr>
        <p:txBody>
          <a:bodyPr wrap="none">
            <a:spAutoFit/>
          </a:bodyPr>
          <a:lstStyle/>
          <a:p>
            <a:pPr algn="ctr"/>
            <a:r>
              <a:rPr sz="2400" i="1">
                <a:solidFill>
                  <a:srgbClr val="FFFFFF"/>
                </a:solidFill>
                <a:latin typeface="Cambria"/>
              </a:rPr>
              <a:t>b  =  A x</a:t>
            </a:r>
            <a:r>
              <a:rPr sz="1700" i="1" baseline="30000">
                <a:solidFill>
                  <a:srgbClr val="FFFFFF"/>
                </a:solidFill>
                <a:latin typeface="Cambria"/>
              </a:rPr>
              <a:t>*</a:t>
            </a:r>
            <a:r>
              <a:rPr sz="2400" i="1">
                <a:solidFill>
                  <a:srgbClr val="FFFFFF"/>
                </a:solidFill>
                <a:latin typeface="Cambria"/>
              </a:rPr>
              <a:t>  +  ε</a:t>
            </a:r>
          </a:p>
        </p:txBody>
      </p:sp>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sp>
        <p:nvSpPr>
          <p:cNvPr id="8" name="TextBox 7"/>
          <p:cNvSpPr txBox="1"/>
          <p:nvPr/>
        </p:nvSpPr>
        <p:spPr>
          <a:xfrm>
            <a:off x="502920" y="1572768"/>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 ,      L = ‖A‖</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θ = λ / L</a:t>
            </a:r>
          </a:p>
        </p:txBody>
      </p:sp>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sp>
        <p:nvSpPr>
          <p:cNvPr id="10" name="TextBox 9"/>
          <p:cNvSpPr txBox="1"/>
          <p:nvPr/>
        </p:nvSpPr>
        <p:spPr>
          <a:xfrm>
            <a:off x="502920" y="2715768"/>
            <a:ext cx="11185855" cy="411480"/>
          </a:xfrm>
          <a:prstGeom prst="rect">
            <a:avLst/>
          </a:prstGeom>
          <a:noFill/>
        </p:spPr>
        <p:txBody>
          <a:bodyPr wrap="none">
            <a:spAutoFit/>
          </a:bodyPr>
          <a:lstStyle/>
          <a:p>
            <a:pPr algn="ctr"/>
            <a:r>
              <a:rPr sz="2000" i="1">
                <a:solidFill>
                  <a:srgbClr val="1A1A2E"/>
                </a:solidFill>
                <a:latin typeface="Cambria"/>
              </a:rPr>
              <a:t>y</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 t</a:t>
            </a:r>
            <a:r>
              <a:rPr sz="1400" i="1" baseline="-25000">
                <a:solidFill>
                  <a:srgbClr val="1A1A2E"/>
                </a:solidFill>
                <a:latin typeface="Cambria"/>
              </a:rPr>
              <a:t>k</a:t>
            </a:r>
            <a:r>
              <a:rPr sz="2000" i="1">
                <a:solidFill>
                  <a:srgbClr val="1A1A2E"/>
                </a:solidFill>
                <a:latin typeface="Cambria"/>
              </a:rPr>
              <a:t> − 1 ) / t</a:t>
            </a:r>
            <a:r>
              <a:rPr sz="1400" i="1" baseline="-25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y</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y</a:t>
            </a:r>
            <a:r>
              <a:rPr sz="1400" i="1" baseline="30000">
                <a:solidFill>
                  <a:srgbClr val="1A1A2E"/>
                </a:solidFill>
                <a:latin typeface="Cambria"/>
              </a:rPr>
              <a:t>(k)</a:t>
            </a:r>
            <a:r>
              <a:rPr sz="2000" i="1">
                <a:solidFill>
                  <a:srgbClr val="1A1A2E"/>
                </a:solidFill>
                <a:latin typeface="Cambria"/>
              </a:rPr>
              <a:t> ) )</a:t>
            </a:r>
          </a:p>
        </p:txBody>
      </p:sp>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sp>
        <p:nvSpPr>
          <p:cNvPr id="10" name="TextBox 9"/>
          <p:cNvSpPr txBox="1"/>
          <p:nvPr/>
        </p:nvSpPr>
        <p:spPr>
          <a:xfrm>
            <a:off x="502920"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a:t>
            </a:r>
          </a:p>
        </p:txBody>
      </p:sp>
      <p:sp>
        <p:nvSpPr>
          <p:cNvPr id="11" name="TextBox 10"/>
          <p:cNvSpPr txBox="1"/>
          <p:nvPr/>
        </p:nvSpPr>
        <p:spPr>
          <a:xfrm>
            <a:off x="502920"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sp>
        <p:nvSpPr>
          <p:cNvPr id="17" name="TextBox 16"/>
          <p:cNvSpPr txBox="1"/>
          <p:nvPr/>
        </p:nvSpPr>
        <p:spPr>
          <a:xfrm>
            <a:off x="6210147"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a:t>
            </a:r>
          </a:p>
        </p:txBody>
      </p:sp>
      <p:sp>
        <p:nvSpPr>
          <p:cNvPr id="18" name="TextBox 17"/>
          <p:cNvSpPr txBox="1"/>
          <p:nvPr/>
        </p:nvSpPr>
        <p:spPr>
          <a:xfrm>
            <a:off x="6210147"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sp>
        <p:nvSpPr>
          <p:cNvPr id="8" name="TextBox 7"/>
          <p:cNvSpPr txBox="1"/>
          <p:nvPr/>
        </p:nvSpPr>
        <p:spPr>
          <a:xfrm>
            <a:off x="502920" y="1572768"/>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 )</a:t>
            </a:r>
          </a:p>
        </p:txBody>
      </p:sp>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sp>
        <p:nvSpPr>
          <p:cNvPr id="10" name="TextBox 9"/>
          <p:cNvSpPr txBox="1"/>
          <p:nvPr/>
        </p:nvSpPr>
        <p:spPr>
          <a:xfrm>
            <a:off x="502920" y="2715768"/>
            <a:ext cx="6705295" cy="411480"/>
          </a:xfrm>
          <a:prstGeom prst="rect">
            <a:avLst/>
          </a:prstGeom>
          <a:noFill/>
        </p:spPr>
        <p:txBody>
          <a:bodyPr wrap="none">
            <a:spAutoFit/>
          </a:bodyPr>
          <a:lstStyle/>
          <a:p>
            <a:pPr algn="ctr"/>
            <a:r>
              <a:rPr sz="2000" i="1">
                <a:solidFill>
                  <a:srgbClr val="1A1A2E"/>
                </a:solidFill>
                <a:latin typeface="Cambria"/>
              </a:rPr>
              <a:t>W</a:t>
            </a:r>
            <a:r>
              <a:rPr sz="1400" i="1" baseline="30000">
                <a:solidFill>
                  <a:srgbClr val="1A1A2E"/>
                </a:solidFill>
                <a:latin typeface="Cambria"/>
              </a:rPr>
              <a:t>*</a:t>
            </a:r>
            <a:r>
              <a:rPr sz="2000" i="1">
                <a:solidFill>
                  <a:srgbClr val="1A1A2E"/>
                </a:solidFill>
                <a:latin typeface="Cambria"/>
              </a:rPr>
              <a:t> = ( A A</a:t>
            </a:r>
            <a:r>
              <a:rPr sz="1400" i="1" baseline="30000">
                <a:solidFill>
                  <a:srgbClr val="1A1A2E"/>
                </a:solidFill>
                <a:latin typeface="Cambria"/>
              </a:rPr>
              <a:t>T</a:t>
            </a:r>
            <a:r>
              <a:rPr sz="2000" i="1">
                <a:solidFill>
                  <a:srgbClr val="1A1A2E"/>
                </a:solidFill>
                <a:latin typeface="Cambria"/>
              </a:rPr>
              <a:t> )</a:t>
            </a:r>
            <a:r>
              <a:rPr sz="1400" i="1" baseline="30000">
                <a:solidFill>
                  <a:srgbClr val="1A1A2E"/>
                </a:solidFill>
                <a:latin typeface="Cambria"/>
              </a:rPr>
              <a:t>−1</a:t>
            </a:r>
            <a:r>
              <a:rPr sz="2000" i="1">
                <a:solidFill>
                  <a:srgbClr val="1A1A2E"/>
                </a:solidFill>
                <a:latin typeface="Cambria"/>
              </a:rPr>
              <a:t> A      (column-normalized)</a:t>
            </a:r>
          </a:p>
        </p:txBody>
      </p:sp>
      <p:sp>
        <p:nvSpPr>
          <p:cNvPr id="11" name="TextBox 10"/>
          <p:cNvSpPr txBox="1"/>
          <p:nvPr/>
        </p:nvSpPr>
        <p:spPr>
          <a:xfrm>
            <a:off x="502920" y="3145536"/>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W</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sp>
        <p:nvSpPr>
          <p:cNvPr id="13" name="TextBox 12"/>
          <p:cNvSpPr txBox="1"/>
          <p:nvPr/>
        </p:nvSpPr>
        <p:spPr>
          <a:xfrm>
            <a:off x="502920" y="4407408"/>
            <a:ext cx="6705295" cy="411480"/>
          </a:xfrm>
          <a:prstGeom prst="rect">
            <a:avLst/>
          </a:prstGeom>
          <a:noFill/>
        </p:spPr>
        <p:txBody>
          <a:bodyPr wrap="none">
            <a:spAutoFit/>
          </a:bodyPr>
          <a:lstStyle/>
          <a:p>
            <a:pPr algn="ctr"/>
            <a:r>
              <a:rPr sz="2000" i="1">
                <a:solidFill>
                  <a:srgbClr val="1A1A2E"/>
                </a:solidFill>
                <a:latin typeface="Cambria"/>
              </a:rPr>
              <a:t>θ</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1</a:t>
            </a:r>
            <a:r>
              <a:rPr sz="2000" i="1">
                <a:solidFill>
                  <a:srgbClr val="1A1A2E"/>
                </a:solidFill>
                <a:latin typeface="Cambria"/>
              </a:rPr>
              <a:t> μ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     β</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2</a:t>
            </a:r>
            <a:r>
              <a:rPr sz="2000" i="1">
                <a:solidFill>
                  <a:srgbClr val="1A1A2E"/>
                </a:solidFill>
                <a:latin typeface="Cambria"/>
              </a:rPr>
              <a:t> μ ‖ x</a:t>
            </a:r>
            <a:r>
              <a:rPr sz="1400" i="1" baseline="30000">
                <a:solidFill>
                  <a:srgbClr val="1A1A2E"/>
                </a:solidFill>
                <a:latin typeface="Cambria"/>
              </a:rPr>
              <a:t>(k)</a:t>
            </a:r>
            <a:r>
              <a:rPr sz="2000" i="1">
                <a:solidFill>
                  <a:srgbClr val="1A1A2E"/>
                </a:solidFill>
                <a:latin typeface="Cambria"/>
              </a:rPr>
              <a:t> ‖</a:t>
            </a:r>
            <a:r>
              <a:rPr sz="1400" i="1" baseline="-25000">
                <a:solidFill>
                  <a:srgbClr val="1A1A2E"/>
                </a:solidFill>
                <a:latin typeface="Cambria"/>
              </a:rPr>
              <a:t>0</a:t>
            </a:r>
          </a:p>
        </p:txBody>
      </p:sp>
      <p:sp>
        <p:nvSpPr>
          <p:cNvPr id="14" name="TextBox 13"/>
          <p:cNvSpPr txBox="1"/>
          <p:nvPr/>
        </p:nvSpPr>
        <p:spPr>
          <a:xfrm>
            <a:off x="502920" y="4864608"/>
            <a:ext cx="6705295" cy="411480"/>
          </a:xfrm>
          <a:prstGeom prst="rect">
            <a:avLst/>
          </a:prstGeom>
          <a:noFill/>
        </p:spPr>
        <p:txBody>
          <a:bodyPr wrap="none">
            <a:spAutoFit/>
          </a:bodyPr>
          <a:lstStyle/>
          <a:p>
            <a:pPr algn="ctr"/>
            <a:r>
              <a:rPr sz="2000" i="1">
                <a:solidFill>
                  <a:srgbClr val="1A1A2E"/>
                </a:solidFill>
                <a:latin typeface="Cambria"/>
              </a:rPr>
              <a:t>p</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3</a:t>
            </a:r>
            <a:r>
              <a:rPr sz="2000" i="1">
                <a:solidFill>
                  <a:srgbClr val="1A1A2E"/>
                </a:solidFill>
                <a:latin typeface="Cambria"/>
              </a:rPr>
              <a:t> log (  ‖ A</a:t>
            </a:r>
            <a:r>
              <a:rPr sz="1400" i="1" baseline="30000">
                <a:solidFill>
                  <a:srgbClr val="1A1A2E"/>
                </a:solidFill>
                <a:latin typeface="Cambria"/>
              </a:rPr>
              <a:t>+</a:t>
            </a:r>
            <a:r>
              <a:rPr sz="2000" i="1">
                <a:solidFill>
                  <a:srgbClr val="1A1A2E"/>
                </a:solidFill>
                <a:latin typeface="Cambria"/>
              </a:rPr>
              <a:t> b ‖</a:t>
            </a:r>
            <a:r>
              <a:rPr sz="1400" i="1" baseline="-25000">
                <a:solidFill>
                  <a:srgbClr val="1A1A2E"/>
                </a:solidFill>
                <a:latin typeface="Cambria"/>
              </a:rPr>
              <a:t>1</a:t>
            </a:r>
            <a:r>
              <a:rPr sz="2000" i="1">
                <a:solidFill>
                  <a:srgbClr val="1A1A2E"/>
                </a:solidFill>
                <a:latin typeface="Cambria"/>
              </a:rPr>
              <a:t>  /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a:t>
            </a:r>
          </a:p>
        </p:txBody>
      </p:sp>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sp>
        <p:nvSpPr>
          <p:cNvPr id="9" name="TextBox 8"/>
          <p:cNvSpPr txBox="1"/>
          <p:nvPr/>
        </p:nvSpPr>
        <p:spPr>
          <a:xfrm>
            <a:off x="502920" y="2084831"/>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sp>
        <p:nvSpPr>
          <p:cNvPr id="10" name="TextBox 9"/>
          <p:cNvSpPr txBox="1"/>
          <p:nvPr/>
        </p:nvSpPr>
        <p:spPr>
          <a:xfrm>
            <a:off x="502920" y="2240280"/>
            <a:ext cx="3652418" cy="411480"/>
          </a:xfrm>
          <a:prstGeom prst="rect">
            <a:avLst/>
          </a:prstGeom>
          <a:noFill/>
        </p:spPr>
        <p:txBody>
          <a:bodyPr wrap="none">
            <a:spAutoFit/>
          </a:bodyPr>
          <a:lstStyle/>
          <a:p>
            <a:pPr algn="ctr"/>
            <a:r>
              <a:rPr sz="2000" i="1">
                <a:solidFill>
                  <a:srgbClr val="1A1A2E"/>
                </a:solidFill>
                <a:latin typeface="Cambria"/>
              </a:rPr>
              <a:t>L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sp>
        <p:nvSpPr>
          <p:cNvPr id="14" name="TextBox 13"/>
          <p:cNvSpPr txBox="1"/>
          <p:nvPr/>
        </p:nvSpPr>
        <p:spPr>
          <a:xfrm>
            <a:off x="4223918" y="2240280"/>
            <a:ext cx="3652418" cy="411480"/>
          </a:xfrm>
          <a:prstGeom prst="rect">
            <a:avLst/>
          </a:prstGeom>
          <a:noFill/>
        </p:spPr>
        <p:txBody>
          <a:bodyPr wrap="none">
            <a:spAutoFit/>
          </a:bodyPr>
          <a:lstStyle/>
          <a:p>
            <a:pPr algn="ctr"/>
            <a:r>
              <a:rPr sz="2000" i="1">
                <a:solidFill>
                  <a:srgbClr val="1A1A2E"/>
                </a:solidFill>
                <a:latin typeface="Cambria"/>
              </a:rPr>
              <a:t>L = Σ</a:t>
            </a:r>
            <a:r>
              <a:rPr sz="1400" i="1" baseline="-25000">
                <a:solidFill>
                  <a:srgbClr val="1A1A2E"/>
                </a:solidFill>
                <a:latin typeface="Cambria"/>
              </a:rPr>
              <a:t>k</a:t>
            </a:r>
            <a:r>
              <a:rPr sz="2000" i="1">
                <a:solidFill>
                  <a:srgbClr val="1A1A2E"/>
                </a:solidFill>
                <a:latin typeface="Cambria"/>
              </a:rPr>
              <a:t> w</a:t>
            </a:r>
            <a:r>
              <a:rPr sz="1400" i="1" baseline="-25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sp>
        <p:nvSpPr>
          <p:cNvPr id="18" name="TextBox 17"/>
          <p:cNvSpPr txBox="1"/>
          <p:nvPr/>
        </p:nvSpPr>
        <p:spPr>
          <a:xfrm>
            <a:off x="7944916" y="2240280"/>
            <a:ext cx="3652418" cy="411480"/>
          </a:xfrm>
          <a:prstGeom prst="rect">
            <a:avLst/>
          </a:prstGeom>
          <a:noFill/>
        </p:spPr>
        <p:txBody>
          <a:bodyPr wrap="none">
            <a:spAutoFit/>
          </a:bodyPr>
          <a:lstStyle/>
          <a:p>
            <a:pPr algn="ctr"/>
            <a:r>
              <a:rPr sz="2000" i="1">
                <a:solidFill>
                  <a:srgbClr val="1A1A2E"/>
                </a:solidFill>
                <a:latin typeface="Cambria"/>
              </a:rPr>
              <a:t>min</a:t>
            </a:r>
            <a:r>
              <a:rPr sz="1400" i="1" baseline="-25000">
                <a:solidFill>
                  <a:srgbClr val="1A1A2E"/>
                </a:solidFill>
                <a:latin typeface="Cambria"/>
              </a:rPr>
              <a:t>θₖ</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pic>
        <p:nvPicPr>
          <p:cNvPr id="20" name="Picture 19" descr="training_methods.png"/>
          <p:cNvPicPr>
            <a:picLocks noChangeAspect="1"/>
          </p:cNvPicPr>
          <p:nvPr/>
        </p:nvPicPr>
        <p:blipFill>
          <a:blip r:embed="rId2"/>
          <a:stretch>
            <a:fillRect/>
          </a:stretch>
        </p:blipFill>
        <p:spPr>
          <a:xfrm>
            <a:off x="502920" y="3840480"/>
            <a:ext cx="4480560" cy="2800350"/>
          </a:xfrm>
          <a:prstGeom prst="rect">
            <a:avLst/>
          </a:prstGeom>
        </p:spPr>
      </p:pic>
      <p:graphicFrame>
        <p:nvGraphicFramePr>
          <p:cNvPr id="21" name="Table 20"/>
          <p:cNvGraphicFramePr>
            <a:graphicFrameLocks noGrp="1"/>
          </p:cNvGraphicFramePr>
          <p:nvPr/>
        </p:nvGraphicFramePr>
        <p:xfrm>
          <a:off x="5349240" y="4023360"/>
          <a:ext cx="4114800" cy="1508760"/>
        </p:xfrm>
        <a:graphic>
          <a:graphicData uri="http://schemas.openxmlformats.org/drawingml/2006/table">
            <a:tbl>
              <a:tblPr firstRow="1" bandRow="1">
                <a:tableStyleId>{5C22544A-7EE6-4342-B048-85BDC9FD1C3A}</a:tableStyleId>
              </a:tblPr>
              <a:tblGrid>
                <a:gridCol w="1737360"/>
                <a:gridCol w="1463040"/>
                <a:gridCol w="914400"/>
              </a:tblGrid>
              <a:tr h="301752">
                <a:tc>
                  <a:txBody>
                    <a:bodyPr/>
                    <a:lstStyle/>
                    <a:p>
                      <a:pPr>
                        <a:defRPr sz="1300" b="1">
                          <a:solidFill>
                            <a:srgbClr val="FFFFFF"/>
                          </a:solidFill>
                          <a:latin typeface="Calibri"/>
                        </a:defRPr>
                      </a:pPr>
                      <a:r>
                        <a:t>Training</a:t>
                      </a:r>
                    </a:p>
                  </a:txBody>
                  <a:tcPr>
                    <a:solidFill>
                      <a:srgbClr val="003F87"/>
                    </a:solidFill>
                  </a:tcPr>
                </a:tc>
                <a:tc>
                  <a:txBody>
                    <a:bodyPr/>
                    <a:lstStyle/>
                    <a:p>
                      <a:pPr>
                        <a:defRPr sz="1300" b="1">
                          <a:solidFill>
                            <a:srgbClr val="FFFFFF"/>
                          </a:solidFill>
                          <a:latin typeface="Calibri"/>
                        </a:defRPr>
                      </a:pPr>
                      <a:r>
                        <a:t>NMSE @ K=16</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solidFill>
                            <a:srgbClr val="003F87"/>
                          </a:solidFill>
                          <a:latin typeface="Calibri"/>
                        </a:defRPr>
                      </a:pPr>
                      <a:r>
                        <a:t>LISTA-L2</a:t>
                      </a:r>
                    </a:p>
                  </a:txBody>
                  <a:tcPr>
                    <a:solidFill>
                      <a:srgbClr val="D4EDFF"/>
                    </a:solidFill>
                  </a:tcPr>
                </a:tc>
                <a:tc>
                  <a:txBody>
                    <a:bodyPr/>
                    <a:lstStyle/>
                    <a:p>
                      <a:pPr>
                        <a:defRPr sz="1300" b="1">
                          <a:solidFill>
                            <a:srgbClr val="003F87"/>
                          </a:solidFill>
                          <a:latin typeface="Calibri"/>
                        </a:defRPr>
                      </a:pPr>
                      <a:r>
                        <a:t>−21.9 dB</a:t>
                      </a:r>
                    </a:p>
                  </a:txBody>
                  <a:tcPr>
                    <a:solidFill>
                      <a:srgbClr val="D4EDFF"/>
                    </a:solidFill>
                  </a:tcPr>
                </a:tc>
                <a:tc>
                  <a:txBody>
                    <a:bodyPr/>
                    <a:lstStyle/>
                    <a:p>
                      <a:pPr>
                        <a:defRPr sz="1300" b="1">
                          <a:solidFill>
                            <a:srgbClr val="003F87"/>
                          </a:solidFill>
                          <a:latin typeface="Calibri"/>
                        </a:defRPr>
                      </a:pPr>
                      <a:r>
                        <a:t>6 M</a:t>
                      </a:r>
                    </a:p>
                  </a:txBody>
                  <a:tcPr>
                    <a:solidFill>
                      <a:srgbClr val="D4EDFF"/>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bl>
          </a:graphicData>
        </a:graphic>
      </p:graphicFrame>
      <p:sp>
        <p:nvSpPr>
          <p:cNvPr id="22" name="Rectangle 21"/>
          <p:cNvSpPr/>
          <p:nvPr/>
        </p:nvSpPr>
        <p:spPr>
          <a:xfrm>
            <a:off x="9738360" y="4023360"/>
            <a:ext cx="2194560" cy="18288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38360" y="4023360"/>
            <a:ext cx="50292" cy="1828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4133088"/>
            <a:ext cx="1865376" cy="1609344"/>
          </a:xfrm>
          <a:prstGeom prst="rect">
            <a:avLst/>
          </a:prstGeom>
          <a:noFill/>
        </p:spPr>
        <p:txBody>
          <a:bodyPr wrap="square" anchor="ctr">
            <a:spAutoFit/>
          </a:bodyPr>
          <a:lstStyle/>
          <a:p>
            <a:pPr>
              <a:defRPr sz="1200">
                <a:solidFill>
                  <a:srgbClr val="1A1A2E"/>
                </a:solidFill>
                <a:latin typeface="Calibri"/>
              </a:defRPr>
            </a:pPr>
            <a:r>
              <a:t>Tied = one shared (Wx, Wy, θ), RNN-style.</a:t>
            </a:r>
          </a:p>
          <a:p>
            <a:pPr>
              <a:spcBef>
                <a:spcPts val="200"/>
              </a:spcBef>
              <a:defRPr sz="1200">
                <a:solidFill>
                  <a:srgbClr val="1A1A2E"/>
                </a:solidFill>
                <a:latin typeface="Calibri"/>
              </a:defRPr>
            </a:pPr>
            <a:r>
              <a:t>Implicit regularization: −19.1 dB</a:t>
            </a:r>
          </a:p>
          <a:p>
            <a:pPr>
              <a:spcBef>
                <a:spcPts val="200"/>
              </a:spcBef>
              <a:defRPr sz="1200">
                <a:solidFill>
                  <a:srgbClr val="1A1A2E"/>
                </a:solidFill>
                <a:latin typeface="Calibri"/>
              </a:defRPr>
            </a:pPr>
            <a:r>
              <a:t>with 16× fewer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572000" cy="2414016"/>
        </p:xfrm>
        <a:graphic>
          <a:graphicData uri="http://schemas.openxmlformats.org/drawingml/2006/table">
            <a:tbl>
              <a:tblPr firstRow="1" bandRow="1">
                <a:tableStyleId>{5C22544A-7EE6-4342-B048-85BDC9FD1C3A}</a:tableStyleId>
              </a:tblPr>
              <a:tblGrid>
                <a:gridCol w="2468880"/>
                <a:gridCol w="118872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StepISTA (ours)</a:t>
                      </a:r>
                    </a:p>
                  </a:txBody>
                  <a:tcPr>
                    <a:solidFill>
                      <a:srgbClr val="FFFFFF"/>
                    </a:solidFill>
                  </a:tcPr>
                </a:tc>
                <a:tc>
                  <a:txBody>
                    <a:bodyPr/>
                    <a:lstStyle/>
                    <a:p>
                      <a:pPr>
                        <a:defRPr sz="1300">
                          <a:latin typeface="Calibri"/>
                        </a:defRPr>
                      </a:pPr>
                      <a:r>
                        <a:t>−20.0 dB</a:t>
                      </a:r>
                    </a:p>
                  </a:txBody>
                  <a:tcPr>
                    <a:solidFill>
                      <a:srgbClr val="FFFFFF"/>
                    </a:solidFill>
                  </a:tcPr>
                </a:tc>
                <a:tc>
                  <a:txBody>
                    <a:bodyPr/>
                    <a:lstStyle/>
                    <a:p>
                      <a:pPr>
                        <a:defRPr sz="1300">
                          <a:latin typeface="Calibri"/>
                        </a:defRPr>
                      </a:pPr>
                      <a:r>
                        <a:t>16</a:t>
                      </a:r>
                    </a:p>
                  </a:txBody>
                  <a:tcPr>
                    <a:solidFill>
                      <a:srgbClr val="FFFFFF"/>
                    </a:solidFill>
                  </a:tcPr>
                </a:tc>
              </a:tr>
              <a:tr h="301752">
                <a:tc>
                  <a:txBody>
                    <a:bodyPr/>
                    <a:lstStyle/>
                    <a:p>
                      <a:pPr>
                        <a:defRPr sz="1300">
                          <a:latin typeface="Calibri"/>
                        </a:defRPr>
                      </a:pPr>
                      <a:r>
                        <a:t>StepThresholdISTA (ours)</a:t>
                      </a:r>
                    </a:p>
                  </a:txBody>
                  <a:tcPr>
                    <a:solidFill>
                      <a:srgbClr val="EEF4FB"/>
                    </a:solidFill>
                  </a:tcPr>
                </a:tc>
                <a:tc>
                  <a:txBody>
                    <a:bodyPr/>
                    <a:lstStyle/>
                    <a:p>
                      <a:pPr>
                        <a:defRPr sz="1300">
                          <a:latin typeface="Calibri"/>
                        </a:defRPr>
                      </a:pPr>
                      <a:r>
                        <a:t>−23.6 dB</a:t>
                      </a:r>
                    </a:p>
                  </a:txBody>
                  <a:tcPr>
                    <a:solidFill>
                      <a:srgbClr val="EEF4FB"/>
                    </a:solidFill>
                  </a:tcPr>
                </a:tc>
                <a:tc>
                  <a:txBody>
                    <a:bodyPr/>
                    <a:lstStyle/>
                    <a:p>
                      <a:pPr>
                        <a:defRPr sz="1300">
                          <a:latin typeface="Calibri"/>
                        </a:defRPr>
                      </a:pPr>
                      <a:r>
                        <a:t>32</a:t>
                      </a:r>
                    </a:p>
                  </a:txBody>
                  <a:tcPr>
                    <a:solidFill>
                      <a:srgbClr val="EEF4FB"/>
                    </a:solidFill>
                  </a:tcPr>
                </a:tc>
              </a:tr>
              <a:tr h="301752">
                <a:tc>
                  <a:txBody>
                    <a:bodyPr/>
                    <a:lstStyle/>
                    <a:p>
                      <a:pPr>
                        <a:defRPr sz="1300">
                          <a:latin typeface="Calibri"/>
                        </a:defRPr>
                      </a:pPr>
                      <a:r>
                        <a:t>LISTA-L2  (best LISTA)</a:t>
                      </a:r>
                    </a:p>
                  </a:txBody>
                  <a:tcPr>
                    <a:solidFill>
                      <a:srgbClr val="FFFFFF"/>
                    </a:solidFill>
                  </a:tcPr>
                </a:tc>
                <a:tc>
                  <a:txBody>
                    <a:bodyPr/>
                    <a:lstStyle/>
                    <a:p>
                      <a:pPr>
                        <a:defRPr sz="1300">
                          <a:latin typeface="Calibri"/>
                        </a:defRPr>
                      </a:pPr>
                      <a:r>
                        <a:t>−21.9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3931920"/>
            <a:ext cx="4572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9319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041648"/>
            <a:ext cx="4242816" cy="1517904"/>
          </a:xfrm>
          <a:prstGeom prst="rect">
            <a:avLst/>
          </a:prstGeom>
          <a:noFill/>
        </p:spPr>
        <p:txBody>
          <a:bodyPr wrap="square" anchor="ctr">
            <a:spAutoFit/>
          </a:bodyPr>
          <a:lstStyle/>
          <a:p>
            <a:pPr>
              <a:defRPr sz="1300">
                <a:solidFill>
                  <a:srgbClr val="1A1A2E"/>
                </a:solidFill>
                <a:latin typeface="Calibri"/>
              </a:defRPr>
            </a:pPr>
            <a:r>
              <a:t>Each family is shown with its best variant</a:t>
            </a:r>
          </a:p>
          <a:p>
            <a:pPr>
              <a:spcBef>
                <a:spcPts val="200"/>
              </a:spcBef>
              <a:defRPr sz="1300">
                <a:solidFill>
                  <a:srgbClr val="1A1A2E"/>
                </a:solidFill>
                <a:latin typeface="Calibri"/>
              </a:defRPr>
            </a:pPr>
            <a:r>
              <a:t>(LISTA → L2; full L1/L2/L3 comparison on</a:t>
            </a:r>
          </a:p>
          <a:p>
            <a:pPr>
              <a:spcBef>
                <a:spcPts val="200"/>
              </a:spcBef>
              <a:defRPr sz="1300">
                <a:solidFill>
                  <a:srgbClr val="1A1A2E"/>
                </a:solidFill>
                <a:latin typeface="Calibri"/>
              </a:defRPr>
            </a:pPr>
            <a:r>
              <a:t>the previous slide).</a:t>
            </a:r>
          </a:p>
          <a:p>
            <a:pPr>
              <a:spcBef>
                <a:spcPts val="200"/>
              </a:spcBef>
              <a:defRPr sz="1300">
                <a:solidFill>
                  <a:srgbClr val="1A1A2E"/>
                </a:solidFill>
                <a:latin typeface="Calibri"/>
              </a:defRPr>
            </a:pPr>
          </a:p>
          <a:p>
            <a:pPr>
              <a:spcBef>
                <a:spcPts val="200"/>
              </a:spcBef>
              <a:defRPr sz="1300">
                <a:solidFill>
                  <a:srgbClr val="1A1A2E"/>
                </a:solidFill>
                <a:latin typeface="Calibri"/>
              </a:defRPr>
            </a:pPr>
            <a:r>
              <a:t>ALISTA (32 params) beats every LISTA variant;</a:t>
            </a:r>
          </a:p>
          <a:p>
            <a:pPr>
              <a:spcBef>
                <a:spcPts val="200"/>
              </a:spcBef>
              <a:defRPr sz="1300">
                <a:solidFill>
                  <a:srgbClr val="1A1A2E"/>
                </a:solidFill>
                <a:latin typeface="Calibri"/>
              </a:defRPr>
            </a:pPr>
            <a:r>
              <a:t>HyperLISTA (3) beats everything.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highlight.png"/>
          <p:cNvPicPr>
            <a:picLocks noChangeAspect="1"/>
          </p:cNvPicPr>
          <p:nvPr/>
        </p:nvPicPr>
        <p:blipFill>
          <a:blip r:embed="rId2"/>
          <a:stretch>
            <a:fillRect/>
          </a:stretch>
        </p:blipFill>
        <p:spPr>
          <a:xfrm>
            <a:off x="320040" y="1097280"/>
            <a:ext cx="6400800" cy="4042611"/>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full matrices + L2</a:t>
                      </a:r>
                    </a:p>
                  </a:txBody>
                  <a:tcPr>
                    <a:solidFill>
                      <a:srgbClr val="EEF4FB"/>
                    </a:solidFill>
                  </a:tcPr>
                </a:tc>
              </a:tr>
              <a:tr h="301752">
                <a:tc>
                  <a:txBody>
                    <a:bodyPr/>
                    <a:lstStyle/>
                    <a:p>
                      <a:pPr>
                        <a:defRPr sz="1300" b="1">
                          <a:solidFill>
                            <a:srgbClr val="003F87"/>
                          </a:solidFill>
                          <a:latin typeface="Calibri"/>
                        </a:defRPr>
                      </a:pPr>
                      <a:r>
                        <a:t>ALISTA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−29.8 dB</a:t>
                      </a:r>
                    </a:p>
                  </a:txBody>
                  <a:tcPr>
                    <a:solidFill>
                      <a:srgbClr val="D4EDFF"/>
                    </a:solidFill>
                  </a:tcPr>
                </a:tc>
                <a:tc>
                  <a:txBody>
                    <a:bodyPr/>
                    <a:lstStyle/>
                    <a:p>
                      <a:pPr>
                        <a:defRPr sz="1300" b="1">
                          <a:solidFill>
                            <a:srgbClr val="003F87"/>
                          </a:solidFill>
                          <a:latin typeface="Calibri"/>
                        </a:defRPr>
                      </a:pPr>
                      <a:r>
                        <a:t>analytic W</a:t>
                      </a:r>
                    </a:p>
                  </a:txBody>
                  <a:tcPr>
                    <a:solidFill>
                      <a:srgbClr val="D4EDFF"/>
                    </a:solidFill>
                  </a:tcPr>
                </a:tc>
              </a:tr>
              <a:tr h="301752">
                <a:tc>
                  <a:txBody>
                    <a:bodyPr/>
                    <a:lstStyle/>
                    <a:p>
                      <a:pPr>
                        <a:defRPr sz="1300" b="1">
                          <a:latin typeface="Calibri"/>
                        </a:defRPr>
                      </a:pPr>
                      <a:r>
                        <a:t>HyperLISTA</a:t>
                      </a:r>
                    </a:p>
                  </a:txBody>
                  <a:tcPr>
                    <a:solidFill>
                      <a:srgbClr val="E8F5FF"/>
                    </a:solidFill>
                  </a:tcPr>
                </a:tc>
                <a:tc>
                  <a:txBody>
                    <a:bodyPr/>
                    <a:lstStyle/>
                    <a:p>
                      <a:pPr>
                        <a:defRPr sz="1300" b="1">
                          <a:latin typeface="Calibri"/>
                        </a:defRPr>
                      </a:pPr>
                      <a:r>
                        <a:t>3</a:t>
                      </a:r>
                    </a:p>
                  </a:txBody>
                  <a:tcPr>
                    <a:solidFill>
                      <a:srgbClr val="E8F5FF"/>
                    </a:solidFill>
                  </a:tcPr>
                </a:tc>
                <a:tc>
                  <a:txBody>
                    <a:bodyPr/>
                    <a:lstStyle/>
                    <a:p>
                      <a:pPr>
                        <a:defRPr sz="1300" b="1">
                          <a:latin typeface="Calibri"/>
                        </a:defRPr>
                      </a:pPr>
                      <a:r>
                        <a:t>−61.4 dB</a:t>
                      </a:r>
                    </a:p>
                  </a:txBody>
                  <a:tcPr>
                    <a:solidFill>
                      <a:srgbClr val="E8F5FF"/>
                    </a:solidFill>
                  </a:tcPr>
                </a:tc>
                <a:tc>
                  <a:txBody>
                    <a:bodyPr/>
                    <a:lstStyle/>
                    <a:p>
                      <a:pPr>
                        <a:defRPr sz="1300" b="1">
                          <a:latin typeface="Calibri"/>
                        </a:defRPr>
                      </a:pPr>
                      <a:r>
                        <a:t>adaptive residuals</a:t>
                      </a:r>
                    </a:p>
                  </a:txBody>
                  <a:tcPr>
                    <a:solidFill>
                      <a:srgbClr val="E8F5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even the best LISTA  (L2, 6 M params).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