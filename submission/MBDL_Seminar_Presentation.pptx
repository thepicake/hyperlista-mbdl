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The t-k in the formula is just an auxiliary scalar sequence: it starts at one and grows with k, so the momentum coefficient starts at zero and approaches one — this specific schedule is exactly what gives the faster rate. But here is the key point: after only sixteen iterations, ISTA reaches just minus 5.3 dB — meaning about 30 percent of the signal energy is still error — and FISTA minus 11, about 8 percent.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 less than one ten-thousandth of a percent of residual error —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interesting finding: tied LISTA, with sixteen times fewer parameters, comes very close to the untied version.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The training method matters — L2 is the best, and L3 gets stuck around layer eight, because later layers have no incentive to improve on what earlier layers already solved. But the big hierarchy remains: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Our StepThresholdISTA, with 32 scalars, sits in an excellent spot and beats LISTA with 187,000 times fewer parameters.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pic>
        <p:nvPicPr>
          <p:cNvPr id="11" name="Picture 10" descr="image.png"/>
          <p:cNvPicPr>
            <a:picLocks noChangeAspect="1"/>
          </p:cNvPicPr>
          <p:nvPr/>
        </p:nvPicPr>
        <p:blipFill>
          <a:blip r:embed="rId2"/>
          <a:stretch>
            <a:fillRect/>
          </a:stretch>
        </p:blipFill>
        <p:spPr>
          <a:xfrm>
            <a:off x="685800" y="4389120"/>
            <a:ext cx="4389120" cy="574054"/>
          </a:xfrm>
          <a:prstGeom prst="rect">
            <a:avLst/>
          </a:prstGeom>
        </p:spPr>
      </p:pic>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pic>
        <p:nvPicPr>
          <p:cNvPr id="15" name="Picture 14" descr="image.png"/>
          <p:cNvPicPr>
            <a:picLocks noChangeAspect="1"/>
          </p:cNvPicPr>
          <p:nvPr/>
        </p:nvPicPr>
        <p:blipFill>
          <a:blip r:embed="rId3"/>
          <a:stretch>
            <a:fillRect/>
          </a:stretch>
        </p:blipFill>
        <p:spPr>
          <a:xfrm>
            <a:off x="7132320" y="1783080"/>
            <a:ext cx="2743200" cy="683741"/>
          </a:xfrm>
          <a:prstGeom prst="rect">
            <a:avLst/>
          </a:prstGeom>
        </p:spPr>
      </p:pic>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pic>
        <p:nvPicPr>
          <p:cNvPr id="8" name="Picture 7" descr="image.png"/>
          <p:cNvPicPr>
            <a:picLocks noChangeAspect="1"/>
          </p:cNvPicPr>
          <p:nvPr/>
        </p:nvPicPr>
        <p:blipFill>
          <a:blip r:embed="rId2"/>
          <a:stretch>
            <a:fillRect/>
          </a:stretch>
        </p:blipFill>
        <p:spPr>
          <a:xfrm>
            <a:off x="822960" y="1554480"/>
            <a:ext cx="9601200" cy="813509"/>
          </a:xfrm>
          <a:prstGeom prst="rect">
            <a:avLst/>
          </a:prstGeom>
        </p:spPr>
      </p:pic>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pic>
        <p:nvPicPr>
          <p:cNvPr id="10" name="Picture 9" descr="image.png"/>
          <p:cNvPicPr>
            <a:picLocks noChangeAspect="1"/>
          </p:cNvPicPr>
          <p:nvPr/>
        </p:nvPicPr>
        <p:blipFill>
          <a:blip r:embed="rId3"/>
          <a:stretch>
            <a:fillRect/>
          </a:stretch>
        </p:blipFill>
        <p:spPr>
          <a:xfrm>
            <a:off x="822960" y="2697480"/>
            <a:ext cx="10058400" cy="743121"/>
          </a:xfrm>
          <a:prstGeom prst="rect">
            <a:avLst/>
          </a:prstGeom>
        </p:spPr>
      </p:pic>
      <p:graphicFrame>
        <p:nvGraphicFramePr>
          <p:cNvPr id="11" name="Table 10"/>
          <p:cNvGraphicFramePr>
            <a:graphicFrameLocks noGrp="1"/>
          </p:cNvGraphicFramePr>
          <p:nvPr/>
        </p:nvGraphicFramePr>
        <p:xfrm>
          <a:off x="502920" y="3794760"/>
          <a:ext cx="6858000" cy="905256"/>
        </p:xfrm>
        <a:graphic>
          <a:graphicData uri="http://schemas.openxmlformats.org/drawingml/2006/table">
            <a:tbl>
              <a:tblPr firstRow="1" bandRow="1">
                <a:tableStyleId>{5C22544A-7EE6-4342-B048-85BDC9FD1C3A}</a:tableStyleId>
              </a:tblPr>
              <a:tblGrid>
                <a:gridCol w="2011680"/>
                <a:gridCol w="1828800"/>
                <a:gridCol w="1920240"/>
                <a:gridCol w="109728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Error energy [%]</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pic>
        <p:nvPicPr>
          <p:cNvPr id="10" name="Picture 9" descr="image.png"/>
          <p:cNvPicPr>
            <a:picLocks noChangeAspect="1"/>
          </p:cNvPicPr>
          <p:nvPr/>
        </p:nvPicPr>
        <p:blipFill>
          <a:blip r:embed="rId2"/>
          <a:stretch>
            <a:fillRect/>
          </a:stretch>
        </p:blipFill>
        <p:spPr>
          <a:xfrm>
            <a:off x="640080" y="2286000"/>
            <a:ext cx="5120640" cy="871598"/>
          </a:xfrm>
          <a:prstGeom prst="rect">
            <a:avLst/>
          </a:prstGeom>
        </p:spPr>
      </p:pic>
      <p:pic>
        <p:nvPicPr>
          <p:cNvPr id="11" name="Picture 10" descr="image.png"/>
          <p:cNvPicPr>
            <a:picLocks noChangeAspect="1"/>
          </p:cNvPicPr>
          <p:nvPr/>
        </p:nvPicPr>
        <p:blipFill>
          <a:blip r:embed="rId3"/>
          <a:stretch>
            <a:fillRect/>
          </a:stretch>
        </p:blipFill>
        <p:spPr>
          <a:xfrm>
            <a:off x="640080" y="2926080"/>
            <a:ext cx="3657600" cy="856034"/>
          </a:xfrm>
          <a:prstGeom prst="rect">
            <a:avLst/>
          </a:prstGeom>
        </p:spPr>
      </p:pic>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pic>
        <p:nvPicPr>
          <p:cNvPr id="17" name="Picture 16" descr="image.png"/>
          <p:cNvPicPr>
            <a:picLocks noChangeAspect="1"/>
          </p:cNvPicPr>
          <p:nvPr/>
        </p:nvPicPr>
        <p:blipFill>
          <a:blip r:embed="rId4"/>
          <a:stretch>
            <a:fillRect/>
          </a:stretch>
        </p:blipFill>
        <p:spPr>
          <a:xfrm>
            <a:off x="6347307" y="2286000"/>
            <a:ext cx="4572000" cy="926897"/>
          </a:xfrm>
          <a:prstGeom prst="rect">
            <a:avLst/>
          </a:prstGeom>
        </p:spPr>
      </p:pic>
      <p:pic>
        <p:nvPicPr>
          <p:cNvPr id="18" name="Picture 17" descr="image.png"/>
          <p:cNvPicPr>
            <a:picLocks noChangeAspect="1"/>
          </p:cNvPicPr>
          <p:nvPr/>
        </p:nvPicPr>
        <p:blipFill>
          <a:blip r:embed="rId5"/>
          <a:stretch>
            <a:fillRect/>
          </a:stretch>
        </p:blipFill>
        <p:spPr>
          <a:xfrm>
            <a:off x="6347307" y="2926080"/>
            <a:ext cx="3657600" cy="879540"/>
          </a:xfrm>
          <a:prstGeom prst="rect">
            <a:avLst/>
          </a:prstGeom>
        </p:spPr>
      </p:pic>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pic>
        <p:nvPicPr>
          <p:cNvPr id="8" name="Picture 7" descr="image.png"/>
          <p:cNvPicPr>
            <a:picLocks noChangeAspect="1"/>
          </p:cNvPicPr>
          <p:nvPr/>
        </p:nvPicPr>
        <p:blipFill>
          <a:blip r:embed="rId2"/>
          <a:stretch>
            <a:fillRect/>
          </a:stretch>
        </p:blipFill>
        <p:spPr>
          <a:xfrm>
            <a:off x="502920" y="1554480"/>
            <a:ext cx="6400800" cy="991836"/>
          </a:xfrm>
          <a:prstGeom prst="rect">
            <a:avLst/>
          </a:prstGeom>
        </p:spPr>
      </p:pic>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pic>
        <p:nvPicPr>
          <p:cNvPr id="10" name="Picture 9" descr="image.png"/>
          <p:cNvPicPr>
            <a:picLocks noChangeAspect="1"/>
          </p:cNvPicPr>
          <p:nvPr/>
        </p:nvPicPr>
        <p:blipFill>
          <a:blip r:embed="rId3"/>
          <a:stretch>
            <a:fillRect/>
          </a:stretch>
        </p:blipFill>
        <p:spPr>
          <a:xfrm>
            <a:off x="502920" y="2697480"/>
            <a:ext cx="5029200" cy="680139"/>
          </a:xfrm>
          <a:prstGeom prst="rect">
            <a:avLst/>
          </a:prstGeom>
        </p:spPr>
      </p:pic>
      <p:pic>
        <p:nvPicPr>
          <p:cNvPr id="11" name="Picture 10" descr="image.png"/>
          <p:cNvPicPr>
            <a:picLocks noChangeAspect="1"/>
          </p:cNvPicPr>
          <p:nvPr/>
        </p:nvPicPr>
        <p:blipFill>
          <a:blip r:embed="rId4"/>
          <a:stretch>
            <a:fillRect/>
          </a:stretch>
        </p:blipFill>
        <p:spPr>
          <a:xfrm>
            <a:off x="502920" y="3108960"/>
            <a:ext cx="6858000" cy="846399"/>
          </a:xfrm>
          <a:prstGeom prst="rect">
            <a:avLst/>
          </a:prstGeom>
        </p:spPr>
      </p:pic>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pic>
        <p:nvPicPr>
          <p:cNvPr id="13" name="Picture 12" descr="image.png"/>
          <p:cNvPicPr>
            <a:picLocks noChangeAspect="1"/>
          </p:cNvPicPr>
          <p:nvPr/>
        </p:nvPicPr>
        <p:blipFill>
          <a:blip r:embed="rId5"/>
          <a:stretch>
            <a:fillRect/>
          </a:stretch>
        </p:blipFill>
        <p:spPr>
          <a:xfrm>
            <a:off x="502920" y="4206240"/>
            <a:ext cx="6400800" cy="622050"/>
          </a:xfrm>
          <a:prstGeom prst="rect">
            <a:avLst/>
          </a:prstGeom>
        </p:spPr>
      </p:pic>
      <p:pic>
        <p:nvPicPr>
          <p:cNvPr id="14" name="Picture 13" descr="image.png"/>
          <p:cNvPicPr>
            <a:picLocks noChangeAspect="1"/>
          </p:cNvPicPr>
          <p:nvPr/>
        </p:nvPicPr>
        <p:blipFill>
          <a:blip r:embed="rId6"/>
          <a:stretch>
            <a:fillRect/>
          </a:stretch>
        </p:blipFill>
        <p:spPr>
          <a:xfrm>
            <a:off x="502920" y="4663440"/>
            <a:ext cx="5029200" cy="1221190"/>
          </a:xfrm>
          <a:prstGeom prst="rect">
            <a:avLst/>
          </a:prstGeom>
        </p:spPr>
      </p:pic>
      <p:graphicFrame>
        <p:nvGraphicFramePr>
          <p:cNvPr id="15" name="Table 14"/>
          <p:cNvGraphicFramePr>
            <a:graphicFrameLocks noGrp="1"/>
          </p:cNvGraphicFramePr>
          <p:nvPr/>
        </p:nvGraphicFramePr>
        <p:xfrm>
          <a:off x="7573975" y="1188720"/>
          <a:ext cx="4114800" cy="1810512"/>
        </p:xfrm>
        <a:graphic>
          <a:graphicData uri="http://schemas.openxmlformats.org/drawingml/2006/table">
            <a:tbl>
              <a:tblPr firstRow="1" bandRow="1">
                <a:tableStyleId>{5C22544A-7EE6-4342-B048-85BDC9FD1C3A}</a:tableStyleId>
              </a:tblPr>
              <a:tblGrid>
                <a:gridCol w="1417320"/>
                <a:gridCol w="777240"/>
                <a:gridCol w="960120"/>
                <a:gridCol w="96012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c>
                  <a:txBody>
                    <a:bodyPr/>
                    <a:lstStyle/>
                    <a:p>
                      <a:pPr>
                        <a:defRPr sz="1500" b="1">
                          <a:solidFill>
                            <a:srgbClr val="FFFFFF"/>
                          </a:solidFill>
                          <a:latin typeface="Calibri"/>
                        </a:defRPr>
                      </a:pPr>
                      <a:r>
                        <a:t>Error [%]</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c>
                  <a:txBody>
                    <a:bodyPr/>
                    <a:lstStyle/>
                    <a:p>
                      <a:pPr>
                        <a:defRPr sz="1500">
                          <a:latin typeface="Calibri"/>
                        </a:defRPr>
                      </a:pPr>
                      <a:r>
                        <a:t>0.93%</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c>
                  <a:txBody>
                    <a:bodyPr/>
                    <a:lstStyle/>
                    <a:p>
                      <a:pPr>
                        <a:defRPr sz="1500">
                          <a:latin typeface="Calibri"/>
                        </a:defRPr>
                      </a:pPr>
                      <a:r>
                        <a:t>0.10%</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c>
                  <a:txBody>
                    <a:bodyPr/>
                    <a:lstStyle/>
                    <a:p>
                      <a:pPr>
                        <a:defRPr sz="1500" b="1">
                          <a:solidFill>
                            <a:srgbClr val="003F87"/>
                          </a:solidFill>
                          <a:latin typeface="Calibri"/>
                        </a:defRPr>
                      </a:pPr>
                      <a:r>
                        <a:t>0.00007%</a:t>
                      </a:r>
                    </a:p>
                  </a:txBody>
                  <a:tcPr>
                    <a:solidFill>
                      <a:srgbClr val="D4EDFF"/>
                    </a:solidFill>
                  </a:tcPr>
                </a:tc>
              </a:tr>
            </a:tbl>
          </a:graphicData>
        </a:graphic>
      </p:graphicFrame>
      <p:sp>
        <p:nvSpPr>
          <p:cNvPr id="16" name="Rectangle 15"/>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pic>
        <p:nvPicPr>
          <p:cNvPr id="9" name="Picture 8" descr="image.png"/>
          <p:cNvPicPr>
            <a:picLocks noChangeAspect="1"/>
          </p:cNvPicPr>
          <p:nvPr/>
        </p:nvPicPr>
        <p:blipFill>
          <a:blip r:embed="rId2"/>
          <a:stretch>
            <a:fillRect/>
          </a:stretch>
        </p:blipFill>
        <p:spPr>
          <a:xfrm>
            <a:off x="1371600" y="2011680"/>
            <a:ext cx="8229600" cy="928468"/>
          </a:xfrm>
          <a:prstGeom prst="rect">
            <a:avLst/>
          </a:prstGeom>
        </p:spPr>
      </p:pic>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pic>
        <p:nvPicPr>
          <p:cNvPr id="10" name="Picture 9" descr="image.png"/>
          <p:cNvPicPr>
            <a:picLocks noChangeAspect="1"/>
          </p:cNvPicPr>
          <p:nvPr/>
        </p:nvPicPr>
        <p:blipFill>
          <a:blip r:embed="rId2"/>
          <a:stretch>
            <a:fillRect/>
          </a:stretch>
        </p:blipFill>
        <p:spPr>
          <a:xfrm>
            <a:off x="594360" y="2103120"/>
            <a:ext cx="2834640" cy="733790"/>
          </a:xfrm>
          <a:prstGeom prst="rect">
            <a:avLst/>
          </a:prstGeom>
        </p:spPr>
      </p:pic>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pic>
        <p:nvPicPr>
          <p:cNvPr id="14" name="Picture 13" descr="image.png"/>
          <p:cNvPicPr>
            <a:picLocks noChangeAspect="1"/>
          </p:cNvPicPr>
          <p:nvPr/>
        </p:nvPicPr>
        <p:blipFill>
          <a:blip r:embed="rId3"/>
          <a:stretch>
            <a:fillRect/>
          </a:stretch>
        </p:blipFill>
        <p:spPr>
          <a:xfrm>
            <a:off x="4315358" y="2103120"/>
            <a:ext cx="3469538" cy="582099"/>
          </a:xfrm>
          <a:prstGeom prst="rect">
            <a:avLst/>
          </a:prstGeom>
        </p:spPr>
      </p:pic>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pic>
        <p:nvPicPr>
          <p:cNvPr id="18" name="Picture 17" descr="image.png"/>
          <p:cNvPicPr>
            <a:picLocks noChangeAspect="1"/>
          </p:cNvPicPr>
          <p:nvPr/>
        </p:nvPicPr>
        <p:blipFill>
          <a:blip r:embed="rId4"/>
          <a:stretch>
            <a:fillRect/>
          </a:stretch>
        </p:blipFill>
        <p:spPr>
          <a:xfrm>
            <a:off x="8036356" y="2103120"/>
            <a:ext cx="2286000" cy="762000"/>
          </a:xfrm>
          <a:prstGeom prst="rect">
            <a:avLst/>
          </a:prstGeom>
        </p:spPr>
      </p:pic>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sp>
        <p:nvSpPr>
          <p:cNvPr id="20" name="TextBox 19"/>
          <p:cNvSpPr txBox="1"/>
          <p:nvPr/>
        </p:nvSpPr>
        <p:spPr>
          <a:xfrm>
            <a:off x="502920" y="3886200"/>
            <a:ext cx="11185855" cy="320040"/>
          </a:xfrm>
          <a:prstGeom prst="rect">
            <a:avLst/>
          </a:prstGeom>
          <a:noFill/>
        </p:spPr>
        <p:txBody>
          <a:bodyPr wrap="square">
            <a:spAutoFit/>
          </a:bodyPr>
          <a:lstStyle/>
          <a:p>
            <a:pPr algn="l"/>
            <a:r>
              <a:rPr sz="1700" b="1" i="0">
                <a:solidFill>
                  <a:srgbClr val="003F87"/>
                </a:solidFill>
                <a:latin typeface="Calibri"/>
              </a:rPr>
              <a:t>Tied vs. Untied weights:</a:t>
            </a:r>
          </a:p>
        </p:txBody>
      </p:sp>
      <p:graphicFrame>
        <p:nvGraphicFramePr>
          <p:cNvPr id="21" name="Table 20"/>
          <p:cNvGraphicFramePr>
            <a:graphicFrameLocks noGrp="1"/>
          </p:cNvGraphicFramePr>
          <p:nvPr/>
        </p:nvGraphicFramePr>
        <p:xfrm>
          <a:off x="502920" y="4251960"/>
          <a:ext cx="7772400" cy="1508760"/>
        </p:xfrm>
        <a:graphic>
          <a:graphicData uri="http://schemas.openxmlformats.org/drawingml/2006/table">
            <a:tbl>
              <a:tblPr firstRow="1" bandRow="1">
                <a:tableStyleId>{5C22544A-7EE6-4342-B048-85BDC9FD1C3A}</a:tableStyleId>
              </a:tblPr>
              <a:tblGrid>
                <a:gridCol w="1188720"/>
                <a:gridCol w="3291840"/>
                <a:gridCol w="3291840"/>
              </a:tblGrid>
              <a:tr h="301752">
                <a:tc>
                  <a:txBody>
                    <a:bodyPr/>
                    <a:lstStyle/>
                    <a:p>
                      <a:pPr>
                        <a:defRPr sz="1400" b="1">
                          <a:solidFill>
                            <a:srgbClr val="FFFFFF"/>
                          </a:solidFill>
                          <a:latin typeface="Calibri"/>
                        </a:defRPr>
                      </a:pPr>
                    </a:p>
                  </a:txBody>
                  <a:tcPr>
                    <a:solidFill>
                      <a:srgbClr val="003F87"/>
                    </a:solidFill>
                  </a:tcPr>
                </a:tc>
                <a:tc>
                  <a:txBody>
                    <a:bodyPr/>
                    <a:lstStyle/>
                    <a:p>
                      <a:pPr>
                        <a:defRPr sz="1400" b="1">
                          <a:solidFill>
                            <a:srgbClr val="FFFFFF"/>
                          </a:solidFill>
                          <a:latin typeface="Calibri"/>
                        </a:defRPr>
                      </a:pPr>
                      <a:r>
                        <a:t>Untied LISTA</a:t>
                      </a:r>
                    </a:p>
                  </a:txBody>
                  <a:tcPr>
                    <a:solidFill>
                      <a:srgbClr val="003F87"/>
                    </a:solidFill>
                  </a:tcPr>
                </a:tc>
                <a:tc>
                  <a:txBody>
                    <a:bodyPr/>
                    <a:lstStyle/>
                    <a:p>
                      <a:pPr>
                        <a:defRPr sz="1400" b="1">
                          <a:solidFill>
                            <a:srgbClr val="FFFFFF"/>
                          </a:solidFill>
                          <a:latin typeface="Calibri"/>
                        </a:defRPr>
                      </a:pPr>
                      <a:r>
                        <a:t>Tied LISTA</a:t>
                      </a:r>
                    </a:p>
                  </a:txBody>
                  <a:tcPr>
                    <a:solidFill>
                      <a:srgbClr val="003F87"/>
                    </a:solidFill>
                  </a:tcPr>
                </a:tc>
              </a:tr>
              <a:tr h="301752">
                <a:tc>
                  <a:txBody>
                    <a:bodyPr/>
                    <a:lstStyle/>
                    <a:p>
                      <a:pPr>
                        <a:defRPr sz="1400">
                          <a:latin typeface="Calibri"/>
                        </a:defRPr>
                      </a:pPr>
                      <a:r>
                        <a:t>Weights</a:t>
                      </a:r>
                    </a:p>
                  </a:txBody>
                  <a:tcPr>
                    <a:solidFill>
                      <a:srgbClr val="FFFFFF"/>
                    </a:solidFill>
                  </a:tcPr>
                </a:tc>
                <a:tc>
                  <a:txBody>
                    <a:bodyPr/>
                    <a:lstStyle/>
                    <a:p>
                      <a:pPr>
                        <a:defRPr sz="1400">
                          <a:latin typeface="Calibri"/>
                        </a:defRPr>
                      </a:pPr>
                      <a:r>
                        <a:t>Independent per layer</a:t>
                      </a:r>
                    </a:p>
                  </a:txBody>
                  <a:tcPr>
                    <a:solidFill>
                      <a:srgbClr val="FFFFFF"/>
                    </a:solidFill>
                  </a:tcPr>
                </a:tc>
                <a:tc>
                  <a:txBody>
                    <a:bodyPr/>
                    <a:lstStyle/>
                    <a:p>
                      <a:pPr>
                        <a:defRPr sz="1400">
                          <a:latin typeface="Calibri"/>
                        </a:defRPr>
                      </a:pPr>
                      <a:r>
                        <a:t>Single shared (Wx, Wy, θ)</a:t>
                      </a:r>
                    </a:p>
                  </a:txBody>
                  <a:tcPr>
                    <a:solidFill>
                      <a:srgbClr val="FFFFFF"/>
                    </a:solidFill>
                  </a:tcPr>
                </a:tc>
              </a:tr>
              <a:tr h="301752">
                <a:tc>
                  <a:txBody>
                    <a:bodyPr/>
                    <a:lstStyle/>
                    <a:p>
                      <a:pPr>
                        <a:defRPr sz="1400">
                          <a:latin typeface="Calibri"/>
                        </a:defRPr>
                      </a:pPr>
                      <a:r>
                        <a:t>Params</a:t>
                      </a:r>
                    </a:p>
                  </a:txBody>
                  <a:tcPr>
                    <a:solidFill>
                      <a:srgbClr val="EEF4FB"/>
                    </a:solidFill>
                  </a:tcPr>
                </a:tc>
                <a:tc>
                  <a:txBody>
                    <a:bodyPr/>
                    <a:lstStyle/>
                    <a:p>
                      <a:pPr>
                        <a:defRPr sz="1400">
                          <a:latin typeface="Calibri"/>
                        </a:defRPr>
                      </a:pPr>
                      <a:r>
                        <a:t>~6 M</a:t>
                      </a:r>
                    </a:p>
                  </a:txBody>
                  <a:tcPr>
                    <a:solidFill>
                      <a:srgbClr val="EEF4FB"/>
                    </a:solidFill>
                  </a:tcPr>
                </a:tc>
                <a:tc>
                  <a:txBody>
                    <a:bodyPr/>
                    <a:lstStyle/>
                    <a:p>
                      <a:pPr>
                        <a:defRPr sz="1400">
                          <a:latin typeface="Calibri"/>
                        </a:defRPr>
                      </a:pPr>
                      <a:r>
                        <a:t>375 K</a:t>
                      </a:r>
                    </a:p>
                  </a:txBody>
                  <a:tcPr>
                    <a:solidFill>
                      <a:srgbClr val="EEF4FB"/>
                    </a:solidFill>
                  </a:tcPr>
                </a:tc>
              </a:tr>
              <a:tr h="301752">
                <a:tc>
                  <a:txBody>
                    <a:bodyPr/>
                    <a:lstStyle/>
                    <a:p>
                      <a:pPr>
                        <a:defRPr sz="1400">
                          <a:latin typeface="Calibri"/>
                        </a:defRPr>
                      </a:pPr>
                      <a:r>
                        <a:t>Style</a:t>
                      </a:r>
                    </a:p>
                  </a:txBody>
                  <a:tcPr>
                    <a:solidFill>
                      <a:srgbClr val="FFFFFF"/>
                    </a:solidFill>
                  </a:tcPr>
                </a:tc>
                <a:tc>
                  <a:txBody>
                    <a:bodyPr/>
                    <a:lstStyle/>
                    <a:p>
                      <a:pPr>
                        <a:defRPr sz="1400">
                          <a:latin typeface="Calibri"/>
                        </a:defRPr>
                      </a:pPr>
                      <a:r>
                        <a:t>Fully flexible</a:t>
                      </a:r>
                    </a:p>
                  </a:txBody>
                  <a:tcPr>
                    <a:solidFill>
                      <a:srgbClr val="FFFFFF"/>
                    </a:solidFill>
                  </a:tcPr>
                </a:tc>
                <a:tc>
                  <a:txBody>
                    <a:bodyPr/>
                    <a:lstStyle/>
                    <a:p>
                      <a:pPr>
                        <a:defRPr sz="1400">
                          <a:latin typeface="Calibri"/>
                        </a:defRPr>
                      </a:pPr>
                      <a:r>
                        <a:t>RNN-like</a:t>
                      </a:r>
                    </a:p>
                  </a:txBody>
                  <a:tcPr>
                    <a:solidFill>
                      <a:srgbClr val="FFFFFF"/>
                    </a:solidFill>
                  </a:tcPr>
                </a:tc>
              </a:tr>
              <a:tr h="301752">
                <a:tc>
                  <a:txBody>
                    <a:bodyPr/>
                    <a:lstStyle/>
                    <a:p>
                      <a:pPr>
                        <a:defRPr sz="1400">
                          <a:latin typeface="Calibri"/>
                        </a:defRPr>
                      </a:pPr>
                      <a:r>
                        <a:t>Effect</a:t>
                      </a:r>
                    </a:p>
                  </a:txBody>
                  <a:tcPr>
                    <a:solidFill>
                      <a:srgbClr val="EEF4FB"/>
                    </a:solidFill>
                  </a:tcPr>
                </a:tc>
                <a:tc>
                  <a:txBody>
                    <a:bodyPr/>
                    <a:lstStyle/>
                    <a:p>
                      <a:pPr>
                        <a:defRPr sz="1400">
                          <a:latin typeface="Calibri"/>
                        </a:defRPr>
                      </a:pPr>
                      <a:r>
                        <a:t>Hard to optimize</a:t>
                      </a:r>
                    </a:p>
                  </a:txBody>
                  <a:tcPr>
                    <a:solidFill>
                      <a:srgbClr val="EEF4FB"/>
                    </a:solidFill>
                  </a:tcPr>
                </a:tc>
                <a:tc>
                  <a:txBody>
                    <a:bodyPr/>
                    <a:lstStyle/>
                    <a:p>
                      <a:pPr>
                        <a:defRPr sz="1400">
                          <a:latin typeface="Calibri"/>
                        </a:defRPr>
                      </a:pPr>
                      <a:r>
                        <a:t>Smoother loss landscape</a:t>
                      </a:r>
                    </a:p>
                  </a:txBody>
                  <a:tcPr>
                    <a:solidFill>
                      <a:srgbClr val="EEF4FB"/>
                    </a:solidFill>
                  </a:tcPr>
                </a:tc>
              </a:tr>
            </a:tbl>
          </a:graphicData>
        </a:graphic>
      </p:graphicFrame>
      <p:sp>
        <p:nvSpPr>
          <p:cNvPr id="22" name="Rectangle 21"/>
          <p:cNvSpPr/>
          <p:nvPr/>
        </p:nvSpPr>
        <p:spPr>
          <a:xfrm>
            <a:off x="8595360" y="4251960"/>
            <a:ext cx="329184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95360" y="425196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87384" y="4361688"/>
            <a:ext cx="2962656" cy="1380744"/>
          </a:xfrm>
          <a:prstGeom prst="rect">
            <a:avLst/>
          </a:prstGeom>
          <a:noFill/>
        </p:spPr>
        <p:txBody>
          <a:bodyPr wrap="square" anchor="ctr">
            <a:spAutoFit/>
          </a:bodyPr>
          <a:lstStyle/>
          <a:p>
            <a:pPr>
              <a:defRPr sz="1200">
                <a:solidFill>
                  <a:srgbClr val="1A1A2E"/>
                </a:solidFill>
                <a:latin typeface="Calibri"/>
              </a:defRPr>
            </a:pPr>
            <a:r>
              <a:t>Weight tying = implicit regularization.</a:t>
            </a:r>
          </a:p>
          <a:p>
            <a:pPr>
              <a:spcBef>
                <a:spcPts val="200"/>
              </a:spcBef>
              <a:defRPr sz="1200">
                <a:solidFill>
                  <a:srgbClr val="1A1A2E"/>
                </a:solidFill>
                <a:latin typeface="Calibri"/>
              </a:defRPr>
            </a:pPr>
          </a:p>
          <a:p>
            <a:pPr>
              <a:spcBef>
                <a:spcPts val="200"/>
              </a:spcBef>
              <a:defRPr sz="1200">
                <a:solidFill>
                  <a:srgbClr val="1A1A2E"/>
                </a:solidFill>
                <a:latin typeface="Calibri"/>
              </a:defRPr>
            </a:pPr>
            <a:r>
              <a:t>LISTA-Tied-L1:  −19.1 dB @ 375 K</a:t>
            </a:r>
          </a:p>
          <a:p>
            <a:pPr>
              <a:spcBef>
                <a:spcPts val="200"/>
              </a:spcBef>
              <a:defRPr sz="1200">
                <a:solidFill>
                  <a:srgbClr val="1A1A2E"/>
                </a:solidFill>
                <a:latin typeface="Calibri"/>
              </a:defRPr>
            </a:pPr>
            <a:r>
              <a:t>LISTA-L1:  −20.3 dB @ 6 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297680" cy="2715768"/>
        </p:xfrm>
        <a:graphic>
          <a:graphicData uri="http://schemas.openxmlformats.org/drawingml/2006/table">
            <a:tbl>
              <a:tblPr firstRow="1" bandRow="1">
                <a:tableStyleId>{5C22544A-7EE6-4342-B048-85BDC9FD1C3A}</a:tableStyleId>
              </a:tblPr>
              <a:tblGrid>
                <a:gridCol w="2103120"/>
                <a:gridCol w="128016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6 M</a:t>
                      </a:r>
                    </a:p>
                  </a:txBody>
                  <a:tcPr>
                    <a:solidFill>
                      <a:srgbClr val="EEF4FB"/>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4251960"/>
            <a:ext cx="4572000" cy="16459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4251960"/>
            <a:ext cx="50292" cy="16459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361688"/>
            <a:ext cx="4242816" cy="1426464"/>
          </a:xfrm>
          <a:prstGeom prst="rect">
            <a:avLst/>
          </a:prstGeom>
          <a:noFill/>
        </p:spPr>
        <p:txBody>
          <a:bodyPr wrap="square" anchor="ctr">
            <a:spAutoFit/>
          </a:bodyPr>
          <a:lstStyle/>
          <a:p>
            <a:pPr>
              <a:defRPr sz="1300">
                <a:solidFill>
                  <a:srgbClr val="1A1A2E"/>
                </a:solidFill>
                <a:latin typeface="Calibri"/>
              </a:defRPr>
            </a:pPr>
            <a:r>
              <a:t>L3 plateau:  NMSE flattens ~layer 8.</a:t>
            </a:r>
          </a:p>
          <a:p>
            <a:pPr>
              <a:spcBef>
                <a:spcPts val="200"/>
              </a:spcBef>
              <a:defRPr sz="1300">
                <a:solidFill>
                  <a:srgbClr val="1A1A2E"/>
                </a:solidFill>
                <a:latin typeface="Calibri"/>
              </a:defRPr>
            </a:pPr>
            <a:r>
              <a:t>Greedy training gives no incentive to improve</a:t>
            </a:r>
          </a:p>
          <a:p>
            <a:pPr>
              <a:spcBef>
                <a:spcPts val="200"/>
              </a:spcBef>
              <a:defRPr sz="1300">
                <a:solidFill>
                  <a:srgbClr val="1A1A2E"/>
                </a:solidFill>
                <a:latin typeface="Calibri"/>
              </a:defRPr>
            </a:pPr>
            <a:r>
              <a:t>beyond what prior layers solved.</a:t>
            </a:r>
          </a:p>
          <a:p>
            <a:pPr>
              <a:spcBef>
                <a:spcPts val="200"/>
              </a:spcBef>
              <a:defRPr sz="1300">
                <a:solidFill>
                  <a:srgbClr val="1A1A2E"/>
                </a:solidFill>
                <a:latin typeface="Calibri"/>
              </a:defRPr>
            </a:pPr>
          </a:p>
          <a:p>
            <a:pPr>
              <a:spcBef>
                <a:spcPts val="200"/>
              </a:spcBef>
              <a:defRPr sz="1300">
                <a:solidFill>
                  <a:srgbClr val="1A1A2E"/>
                </a:solidFill>
                <a:latin typeface="Calibri"/>
              </a:defRPr>
            </a:pPr>
            <a:r>
              <a:t>LISTA-Tied &gt; LISTA-Untied despite 16× fewer params.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full.png"/>
          <p:cNvPicPr>
            <a:picLocks noChangeAspect="1"/>
          </p:cNvPicPr>
          <p:nvPr/>
        </p:nvPicPr>
        <p:blipFill>
          <a:blip r:embed="rId2"/>
          <a:stretch>
            <a:fillRect/>
          </a:stretch>
        </p:blipFill>
        <p:spPr>
          <a:xfrm>
            <a:off x="320040" y="1097280"/>
            <a:ext cx="6400800" cy="4267200"/>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LISTA-L1</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−20.3 dB</a:t>
                      </a:r>
                    </a:p>
                  </a:txBody>
                  <a:tcPr>
                    <a:solidFill>
                      <a:srgbClr val="EEF4FB"/>
                    </a:solidFill>
                  </a:tcPr>
                </a:tc>
                <a:tc>
                  <a:txBody>
                    <a:bodyPr/>
                    <a:lstStyle/>
                    <a:p>
                      <a:pPr>
                        <a:defRPr sz="1300">
                          <a:latin typeface="Calibri"/>
                        </a:defRPr>
                      </a:pPr>
                      <a:r>
                        <a:t>full matrices</a:t>
                      </a:r>
                    </a:p>
                  </a:txBody>
                  <a:tcPr>
                    <a:solidFill>
                      <a:srgbClr val="EEF4FB"/>
                    </a:solidFill>
                  </a:tcPr>
                </a:tc>
              </a:tr>
              <a:tr h="301752">
                <a:tc>
                  <a:txBody>
                    <a:bodyPr/>
                    <a:lstStyle/>
                    <a:p>
                      <a:pPr>
                        <a:defRPr sz="1300">
                          <a:latin typeface="Calibri"/>
                        </a:defRPr>
                      </a:pPr>
                      <a:r>
                        <a:t>ALISTA</a:t>
                      </a:r>
                    </a:p>
                  </a:txBody>
                  <a:tcPr>
                    <a:solidFill>
                      <a:srgbClr val="FFFFFF"/>
                    </a:solidFill>
                  </a:tcPr>
                </a:tc>
                <a:tc>
                  <a:txBody>
                    <a:bodyPr/>
                    <a:lstStyle/>
                    <a:p>
                      <a:pPr>
                        <a:defRPr sz="1300">
                          <a:latin typeface="Calibri"/>
                        </a:defRPr>
                      </a:pPr>
                      <a:r>
                        <a:t>32</a:t>
                      </a:r>
                    </a:p>
                  </a:txBody>
                  <a:tcPr>
                    <a:solidFill>
                      <a:srgbClr val="FFFFFF"/>
                    </a:solidFill>
                  </a:tcPr>
                </a:tc>
                <a:tc>
                  <a:txBody>
                    <a:bodyPr/>
                    <a:lstStyle/>
                    <a:p>
                      <a:pPr>
                        <a:defRPr sz="1300">
                          <a:latin typeface="Calibri"/>
                        </a:defRPr>
                      </a:pPr>
                      <a:r>
                        <a:t>−29.8 dB</a:t>
                      </a:r>
                    </a:p>
                  </a:txBody>
                  <a:tcPr>
                    <a:solidFill>
                      <a:srgbClr val="FFFFFF"/>
                    </a:solidFill>
                  </a:tcPr>
                </a:tc>
                <a:tc>
                  <a:txBody>
                    <a:bodyPr/>
                    <a:lstStyle/>
                    <a:p>
                      <a:pPr>
                        <a:defRPr sz="1300">
                          <a:latin typeface="Calibri"/>
                        </a:defRPr>
                      </a:pPr>
                      <a:r>
                        <a:t>analytic W</a:t>
                      </a:r>
                    </a:p>
                  </a:txBody>
                  <a:tcPr>
                    <a:solidFill>
                      <a:srgbClr val="FFFF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adaptive residuals</a:t>
                      </a:r>
                    </a:p>
                  </a:txBody>
                  <a:tcPr>
                    <a:solidFill>
                      <a:srgbClr val="D4ED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LISTA-L1  (6 million matrices).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7094"/>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7094"/>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