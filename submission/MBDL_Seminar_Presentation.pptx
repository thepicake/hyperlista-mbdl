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We are Etay Baron and Etai Wigman, and this is our final project for the Model-Based Deep Learning course. Our topic is sparse recovery and compressed sensing, based on the NeurIPS 2021 paper 'Hyperparameter Tuning is All You Need for LISTA'. The core question that guides this talk is simple: how far can model-based structure take us — and when do we need data-driven flexibility?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for the next fifteen minutes. We start with the background: the sparse recovery problem, the LASSO formulation, and the classical ISTA and FISTA algorithms. We then move to deep unrolling — LISTA, ALISTA, and HyperLISTA. The central part is our own study: we ask which components of ISTA are actually worth learning, and we compare the training methods for unfolded optimizers that were discussed in class. Finally, we stress-test everything on real images — MNIST and Fashion-MNIST — under compressed sensing. Our synthetic setup uses 250 measurements, signal dimension 500, and sparsity 50.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define the problem. We want to recover a sparse vector x-star of dimension n, but we only observe m linear measurements, with m smaller than n, possibly with noise. This inverse problem is underdetermined — infinitely many signals explain the same measurements. The sparsity assumption is what makes it solvable, and this situation appears everywhere: MRI acceleration, radar, hyperspectral imaging. The standard formulation is the LASSO: a trade-off between fidelity to the measurements and an L1 norm that promotes sparsity. Our metrics are NMSE in decibels for synthetic signals, plus PSNR and SSIM for images.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ISTA is proximal gradient descent on the LASSO objective. Each iteration takes a gradient step on the data-fidelity term, and then applies soft-thresholding, which shrinks small entries to zero. FISTA adds Nesterov momentum and improves the convergence rate from order one-over-k to one-over-k-squared. But here is the key point: after only sixteen iterations, ISTA reaches just minus 5.3 dB, and FISTA minus 11. Reaching minus 20 dB takes hundreds of iterations. So the question is: how do we make sixteen steps really count?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due to Gregor and LeCun in 2010, is to unfold the K iterations of ISTA into a network with K layers, and to turn the algorithmic constants into learnable parameters. On the left you see classical ISTA, with a fixed step size and a fixed threshold. On the right is LISTA: two weight matrices and a separate threshold per layer, all trained end-to-end with backpropagation. This is the model-based deep learning principle: keep the structure — a gradient step followed by soft-thresholding — and learn only what improves reconstruction at a finite depth. In our setting this amounts to about six million parameters.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MBDL ladder — more structure, fewer parameters. LISTA learns everything: six million parameters, minus 20 dB. ALISTA shows that the weight matrix does not need to be learned at all: it can be computed analytically from A, leaving only per-layer step sizes and thresholds — 32 parameters, and minus 30 dB. HyperLISTA takes this to the extreme: only three scalars. The threshold, the momentum, and the support selection are computed adaptively from the residual at every layer, using the formulas on the slide. And notice — there is no backpropagation at all: the three scalars are found by a simple grid search. The result: minus 61 dB, the best of all. More structure, fewer parameters, better performance — this is the MBDL principle in 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leads to our research question: between six million parameters and three, what is the minimal set that is actually worth learning? The generalized ISTA update exposes two free scalar sequences: the step size gamma and the threshold theta. We designed three models. ThresholdISTA learns only the thresholds. StepISTA learns only the step sizes, with the threshold tied to them. And StepThresholdISTA learns both, independently — 32 scalars in total. All of them are initialized to the exact ISTA values, so before training, every model is identical to ISTA.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are quite striking. Learning thresholds alone barely helps: minus 7 dB. But learning the step-size schedule alone — just sixteen scalars — jumps to minus 20 dB and matches the full LISTA with six million parameters. Decoupling the threshold from the step adds another 3.6 dB, essentially for free. The conclusion: the step-size schedule is the critical component to learn at finite depth, and learning full matrices is largely redundant when the sensing matrix is fixed.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the training strategies discussed in class, we compared them on the exact same architecture. L1 is standard end-to-end training, with a loss on the final layer only. L2 is deep supervision: a weighted loss on every intermediate layer. L3 is greedy layer-wise training, where each layer is trained while the previous ones are frozen. We also tested weight tying — the same layer repeated K times, like a recurrent network. The interesting finding: tied LISTA, with sixteen times fewer parameters, comes very close to the untied version. Weight tying acts as a built-in regularizer.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picture on the synthetic problem: NMSE as a function of depth. The training method matters — L2 is the best, and L3 gets stuck around layer eight, because later layers have no incentive to improve on what earlier layers already solved. But the big hierarchy remains: ALISTA beats every LISTA variant with 32 parameters, and HyperLISTA beats everyone with three. When the model assumptions hold, structure beats capacity.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map summarizes the synthetic part. The x-axis is the number of parameters on a logarithmic scale; the y-axis is the reconstruction error; the bottom-left corner is the ideal. Our StepThresholdISTA, with 32 scalars, sits in an excellent spot and beats LISTA with 187,000 times fewer parameters. HyperLISTA breaks the scale entirely. The message: in problems with known structure, choosing what to learn matters more than raw capacity.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test — actual images. We moved to pixel-domain compressed sensing on Fashion-MNIST: the image is flattened into a 784-dimensional vector, and we measure only a quarter of that dimension. No transform is needed, because these images have a black background and are naturally sparse in pixels. And here the ranking flips completely. All the structured methods collapse — ALISTA and HyperLISTA do even worse than plain ISTA — while LISTA with deep supervision reaches an SSIM of 0.82. The reason: the assumption of i.i.d. Gaussian sparsity is simply wrong for bounded, spatially-correlated pixels. A wrong prior is worse than no prior.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this systematically over two datasets and two measurement ratios; the heatmap shows SSIM. On MNIST with half the measurements, every method does fine, because MNIST is genuinely sparse — about 78 percent of its pixels are zero. As the task gets harder — fewer measurements, or more textured data — the structured methods degrade sharply, while LISTA-L2 stays above 0.82 in every scenario. The sparse prior breaks down gradually as the data moves away from the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 comparison makes the numbers concrete. MNIST is on the left, Fashion-MNIST on the right, both with a quarter of the measurements. The LISTA-L2 row is almost identical to the originals in both cases. ALISTA and HyperLISTA literally erase real signal — a threshold calibrated for sparse Gaussian residuals deletes the image itself. This is what a wrong prior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four lessons. One: when the assumptions hold, structure wins — three scalars beat six million parameters by 41 dB. Two: the step-size schedule is the most valuable thing to learn. Three: weight tying is implicit regularization. Four: a wrong prior actively hurts — on real images, the flexible LISTA wins. As future work, we would like to test these models in the DCT or wavelet domain, where images are much closer to the Gaussian-sparse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our code — the four notebooks and the source modules — is available in a public GitHub repository, and these are the main references we built on. Thank you very much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E3D"/>
        </a:solidFill>
        <a:effectLst/>
      </p:bgPr>
    </p:bg>
    <p:spTree>
      <p:nvGrpSpPr>
        <p:cNvPr id="1" name=""/>
        <p:cNvGrpSpPr/>
        <p:nvPr/>
      </p:nvGrpSpPr>
      <p:grpSpPr/>
      <p:sp>
        <p:nvSpPr>
          <p:cNvPr id="2" name="Rectangle 1"/>
          <p:cNvSpPr/>
          <p:nvPr/>
        </p:nvSpPr>
        <p:spPr>
          <a:xfrm>
            <a:off x="0" y="6803136"/>
            <a:ext cx="12191695"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45775" cy="1280160"/>
          </a:xfrm>
          <a:prstGeom prst="rect">
            <a:avLst/>
          </a:prstGeom>
          <a:noFill/>
        </p:spPr>
        <p:txBody>
          <a:bodyPr wrap="square">
            <a:spAutoFit/>
          </a:bodyPr>
          <a:lstStyle/>
          <a:p>
            <a:r>
              <a:rPr sz="4400" b="1">
                <a:solidFill>
                  <a:srgbClr val="FFFFFF"/>
                </a:solidFill>
                <a:latin typeface="Calibri"/>
              </a:rPr>
              <a:t>Sparse Recovery and Compressed Sensing</a:t>
            </a:r>
          </a:p>
        </p:txBody>
      </p:sp>
      <p:sp>
        <p:nvSpPr>
          <p:cNvPr id="4" name="TextBox 3"/>
          <p:cNvSpPr txBox="1"/>
          <p:nvPr/>
        </p:nvSpPr>
        <p:spPr>
          <a:xfrm>
            <a:off x="822960" y="2834640"/>
            <a:ext cx="10545775" cy="640080"/>
          </a:xfrm>
          <a:prstGeom prst="rect">
            <a:avLst/>
          </a:prstGeom>
          <a:noFill/>
        </p:spPr>
        <p:txBody>
          <a:bodyPr wrap="none">
            <a:spAutoFit/>
          </a:bodyPr>
          <a:lstStyle/>
          <a:p>
            <a:r>
              <a:rPr sz="2600">
                <a:solidFill>
                  <a:srgbClr val="00A3E0"/>
                </a:solidFill>
                <a:latin typeface="Calibri"/>
              </a:rPr>
              <a:t>A Model-Based Deep Learning Approach</a:t>
            </a:r>
          </a:p>
        </p:txBody>
      </p:sp>
      <p:sp>
        <p:nvSpPr>
          <p:cNvPr id="5" name="Rectangle 4"/>
          <p:cNvSpPr/>
          <p:nvPr/>
        </p:nvSpPr>
        <p:spPr>
          <a:xfrm>
            <a:off x="822960" y="3566160"/>
            <a:ext cx="1054577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749039"/>
            <a:ext cx="10545775" cy="777240"/>
          </a:xfrm>
          <a:prstGeom prst="rect">
            <a:avLst/>
          </a:prstGeom>
          <a:solidFill>
            <a:srgbClr val="0D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794760"/>
            <a:ext cx="10362895" cy="685800"/>
          </a:xfrm>
          <a:prstGeom prst="rect">
            <a:avLst/>
          </a:prstGeom>
          <a:noFill/>
        </p:spPr>
        <p:txBody>
          <a:bodyPr wrap="square">
            <a:spAutoFit/>
          </a:bodyPr>
          <a:lstStyle/>
          <a:p>
            <a:r>
              <a:rPr sz="1700" i="1">
                <a:solidFill>
                  <a:srgbClr val="00A3E0"/>
                </a:solidFill>
                <a:latin typeface="Calibri"/>
              </a:rPr>
              <a:t>Core question:  How far can model-based structure take us — and when do we need data-driven flexibility?</a:t>
            </a:r>
          </a:p>
        </p:txBody>
      </p:sp>
      <p:sp>
        <p:nvSpPr>
          <p:cNvPr id="8" name="TextBox 7"/>
          <p:cNvSpPr txBox="1"/>
          <p:nvPr/>
        </p:nvSpPr>
        <p:spPr>
          <a:xfrm>
            <a:off x="822960" y="4800600"/>
            <a:ext cx="10545775" cy="411480"/>
          </a:xfrm>
          <a:prstGeom prst="rect">
            <a:avLst/>
          </a:prstGeom>
          <a:noFill/>
        </p:spPr>
        <p:txBody>
          <a:bodyPr wrap="square">
            <a:spAutoFit/>
          </a:bodyPr>
          <a:lstStyle/>
          <a:p>
            <a:pPr algn="l"/>
            <a:r>
              <a:rPr sz="1900" b="1" i="0">
                <a:solidFill>
                  <a:srgbClr val="FFFFFF"/>
                </a:solidFill>
                <a:latin typeface="Calibri"/>
              </a:rPr>
              <a:t>Etay Baron   ·   Etai Wigman</a:t>
            </a:r>
          </a:p>
        </p:txBody>
      </p:sp>
      <p:sp>
        <p:nvSpPr>
          <p:cNvPr id="9" name="TextBox 8"/>
          <p:cNvSpPr txBox="1"/>
          <p:nvPr/>
        </p:nvSpPr>
        <p:spPr>
          <a:xfrm>
            <a:off x="822960" y="5257800"/>
            <a:ext cx="10545775" cy="365760"/>
          </a:xfrm>
          <a:prstGeom prst="rect">
            <a:avLst/>
          </a:prstGeom>
          <a:noFill/>
        </p:spPr>
        <p:txBody>
          <a:bodyPr wrap="square">
            <a:spAutoFit/>
          </a:bodyPr>
          <a:lstStyle/>
          <a:p>
            <a:pPr algn="l"/>
            <a:r>
              <a:rPr sz="1500" b="0" i="0">
                <a:solidFill>
                  <a:srgbClr val="AABBCC"/>
                </a:solidFill>
                <a:latin typeface="Calibri"/>
              </a:rPr>
              <a:t>Model-Based Deep Learning (361.2.2320)  ·  Ben-Gurion University  ·  Spring 2025–2026</a:t>
            </a:r>
          </a:p>
        </p:txBody>
      </p:sp>
      <p:sp>
        <p:nvSpPr>
          <p:cNvPr id="10" name="TextBox 9"/>
          <p:cNvSpPr txBox="1"/>
          <p:nvPr/>
        </p:nvSpPr>
        <p:spPr>
          <a:xfrm>
            <a:off x="822960" y="5623560"/>
            <a:ext cx="10545775" cy="365760"/>
          </a:xfrm>
          <a:prstGeom prst="rect">
            <a:avLst/>
          </a:prstGeom>
          <a:noFill/>
        </p:spPr>
        <p:txBody>
          <a:bodyPr wrap="square">
            <a:spAutoFit/>
          </a:bodyPr>
          <a:lstStyle/>
          <a:p>
            <a:pPr algn="l"/>
            <a:r>
              <a:rPr sz="1300" b="0" i="1">
                <a:solidFill>
                  <a:srgbClr val="8899AA"/>
                </a:solidFill>
                <a:latin typeface="Calibri"/>
              </a:rPr>
              <a:t>Based on: Chen, Liu, Wang, Yin — "Hyperparameter Tuning is All You Need for LISTA" · NeurIPS 2021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Seminar Roadmap</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2 / 16</a:t>
            </a:r>
          </a:p>
        </p:txBody>
      </p:sp>
      <p:sp>
        <p:nvSpPr>
          <p:cNvPr id="7" name="Rectangle 6"/>
          <p:cNvSpPr/>
          <p:nvPr/>
        </p:nvSpPr>
        <p:spPr>
          <a:xfrm>
            <a:off x="502920" y="1188720"/>
            <a:ext cx="2127443" cy="182880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65473" y="1371600"/>
            <a:ext cx="402336" cy="402336"/>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65473" y="1371600"/>
            <a:ext cx="402336" cy="402336"/>
          </a:xfrm>
          <a:prstGeom prst="rect">
            <a:avLst/>
          </a:prstGeom>
          <a:noFill/>
        </p:spPr>
        <p:txBody>
          <a:bodyPr wrap="none">
            <a:spAutoFit/>
          </a:bodyPr>
          <a:lstStyle/>
          <a:p>
            <a:pPr algn="ctr"/>
            <a:r>
              <a:rPr sz="1600" b="1">
                <a:solidFill>
                  <a:srgbClr val="FFFFFF"/>
                </a:solidFill>
                <a:latin typeface="Calibri"/>
              </a:rPr>
              <a:t>1</a:t>
            </a:r>
          </a:p>
        </p:txBody>
      </p:sp>
      <p:sp>
        <p:nvSpPr>
          <p:cNvPr id="10" name="TextBox 9"/>
          <p:cNvSpPr txBox="1"/>
          <p:nvPr/>
        </p:nvSpPr>
        <p:spPr>
          <a:xfrm>
            <a:off x="576072" y="1874520"/>
            <a:ext cx="1981139" cy="365760"/>
          </a:xfrm>
          <a:prstGeom prst="rect">
            <a:avLst/>
          </a:prstGeom>
          <a:noFill/>
        </p:spPr>
        <p:txBody>
          <a:bodyPr wrap="square">
            <a:spAutoFit/>
          </a:bodyPr>
          <a:lstStyle/>
          <a:p>
            <a:pPr algn="ctr"/>
            <a:r>
              <a:rPr sz="1500" b="1" i="0">
                <a:solidFill>
                  <a:srgbClr val="003F87"/>
                </a:solidFill>
                <a:latin typeface="Calibri"/>
              </a:rPr>
              <a:t>Background</a:t>
            </a:r>
          </a:p>
        </p:txBody>
      </p:sp>
      <p:sp>
        <p:nvSpPr>
          <p:cNvPr id="11" name="TextBox 10"/>
          <p:cNvSpPr txBox="1"/>
          <p:nvPr/>
        </p:nvSpPr>
        <p:spPr>
          <a:xfrm>
            <a:off x="576072" y="2286000"/>
            <a:ext cx="1981139" cy="594360"/>
          </a:xfrm>
          <a:prstGeom prst="rect">
            <a:avLst/>
          </a:prstGeom>
          <a:noFill/>
        </p:spPr>
        <p:txBody>
          <a:bodyPr wrap="square">
            <a:spAutoFit/>
          </a:bodyPr>
          <a:lstStyle/>
          <a:p>
            <a:pPr algn="ctr"/>
            <a:r>
              <a:rPr sz="1200" b="0" i="0">
                <a:solidFill>
                  <a:srgbClr val="4A5568"/>
                </a:solidFill>
                <a:latin typeface="Calibri"/>
              </a:rPr>
              <a:t>Motivation, LASSO,
ISTA / FISTA</a:t>
            </a:r>
          </a:p>
        </p:txBody>
      </p:sp>
      <p:sp>
        <p:nvSpPr>
          <p:cNvPr id="12" name="Rectangle 11"/>
          <p:cNvSpPr/>
          <p:nvPr/>
        </p:nvSpPr>
        <p:spPr>
          <a:xfrm>
            <a:off x="2740091" y="1188720"/>
            <a:ext cx="2127443" cy="182880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02644" y="1371600"/>
            <a:ext cx="402336" cy="402336"/>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02644" y="1371600"/>
            <a:ext cx="402336" cy="402336"/>
          </a:xfrm>
          <a:prstGeom prst="rect">
            <a:avLst/>
          </a:prstGeom>
          <a:noFill/>
        </p:spPr>
        <p:txBody>
          <a:bodyPr wrap="none">
            <a:spAutoFit/>
          </a:bodyPr>
          <a:lstStyle/>
          <a:p>
            <a:pPr algn="ctr"/>
            <a:r>
              <a:rPr sz="1600" b="1">
                <a:solidFill>
                  <a:srgbClr val="FFFFFF"/>
                </a:solidFill>
                <a:latin typeface="Calibri"/>
              </a:rPr>
              <a:t>2</a:t>
            </a:r>
          </a:p>
        </p:txBody>
      </p:sp>
      <p:sp>
        <p:nvSpPr>
          <p:cNvPr id="15" name="TextBox 14"/>
          <p:cNvSpPr txBox="1"/>
          <p:nvPr/>
        </p:nvSpPr>
        <p:spPr>
          <a:xfrm>
            <a:off x="2813243" y="1874520"/>
            <a:ext cx="1981139" cy="365760"/>
          </a:xfrm>
          <a:prstGeom prst="rect">
            <a:avLst/>
          </a:prstGeom>
          <a:noFill/>
        </p:spPr>
        <p:txBody>
          <a:bodyPr wrap="square">
            <a:spAutoFit/>
          </a:bodyPr>
          <a:lstStyle/>
          <a:p>
            <a:pPr algn="ctr"/>
            <a:r>
              <a:rPr sz="1500" b="1" i="0">
                <a:solidFill>
                  <a:srgbClr val="003F87"/>
                </a:solidFill>
                <a:latin typeface="Calibri"/>
              </a:rPr>
              <a:t>Unrolling</a:t>
            </a:r>
          </a:p>
        </p:txBody>
      </p:sp>
      <p:sp>
        <p:nvSpPr>
          <p:cNvPr id="16" name="TextBox 15"/>
          <p:cNvSpPr txBox="1"/>
          <p:nvPr/>
        </p:nvSpPr>
        <p:spPr>
          <a:xfrm>
            <a:off x="2813243" y="2286000"/>
            <a:ext cx="1981139" cy="594360"/>
          </a:xfrm>
          <a:prstGeom prst="rect">
            <a:avLst/>
          </a:prstGeom>
          <a:noFill/>
        </p:spPr>
        <p:txBody>
          <a:bodyPr wrap="square">
            <a:spAutoFit/>
          </a:bodyPr>
          <a:lstStyle/>
          <a:p>
            <a:pPr algn="ctr"/>
            <a:r>
              <a:rPr sz="1200" b="0" i="0">
                <a:solidFill>
                  <a:srgbClr val="4A5568"/>
                </a:solidFill>
                <a:latin typeface="Calibri"/>
              </a:rPr>
              <a:t>LISTA, ALISTA,
HyperLISTA</a:t>
            </a:r>
          </a:p>
        </p:txBody>
      </p:sp>
      <p:sp>
        <p:nvSpPr>
          <p:cNvPr id="17" name="Rectangle 16"/>
          <p:cNvSpPr/>
          <p:nvPr/>
        </p:nvSpPr>
        <p:spPr>
          <a:xfrm>
            <a:off x="4977262" y="1188720"/>
            <a:ext cx="2127443" cy="1828800"/>
          </a:xfrm>
          <a:prstGeom prst="rect">
            <a:avLst/>
          </a:prstGeom>
          <a:solidFill>
            <a:srgbClr val="EAF5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39815" y="1371600"/>
            <a:ext cx="402336" cy="402336"/>
          </a:xfrm>
          <a:prstGeom prst="ellipse">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39815" y="1371600"/>
            <a:ext cx="402336" cy="402336"/>
          </a:xfrm>
          <a:prstGeom prst="rect">
            <a:avLst/>
          </a:prstGeom>
          <a:noFill/>
        </p:spPr>
        <p:txBody>
          <a:bodyPr wrap="none">
            <a:spAutoFit/>
          </a:bodyPr>
          <a:lstStyle/>
          <a:p>
            <a:pPr algn="ctr"/>
            <a:r>
              <a:rPr sz="1600" b="1">
                <a:solidFill>
                  <a:srgbClr val="FFFFFF"/>
                </a:solidFill>
                <a:latin typeface="Calibri"/>
              </a:rPr>
              <a:t>3</a:t>
            </a:r>
          </a:p>
        </p:txBody>
      </p:sp>
      <p:sp>
        <p:nvSpPr>
          <p:cNvPr id="20" name="TextBox 19"/>
          <p:cNvSpPr txBox="1"/>
          <p:nvPr/>
        </p:nvSpPr>
        <p:spPr>
          <a:xfrm>
            <a:off x="5050414" y="1874520"/>
            <a:ext cx="1981139" cy="365760"/>
          </a:xfrm>
          <a:prstGeom prst="rect">
            <a:avLst/>
          </a:prstGeom>
          <a:noFill/>
        </p:spPr>
        <p:txBody>
          <a:bodyPr wrap="square">
            <a:spAutoFit/>
          </a:bodyPr>
          <a:lstStyle/>
          <a:p>
            <a:pPr algn="ctr"/>
            <a:r>
              <a:rPr sz="1500" b="1" i="0">
                <a:solidFill>
                  <a:srgbClr val="00A3E0"/>
                </a:solidFill>
                <a:latin typeface="Calibri"/>
              </a:rPr>
              <a:t>Our Study</a:t>
            </a:r>
          </a:p>
        </p:txBody>
      </p:sp>
      <p:sp>
        <p:nvSpPr>
          <p:cNvPr id="21" name="TextBox 20"/>
          <p:cNvSpPr txBox="1"/>
          <p:nvPr/>
        </p:nvSpPr>
        <p:spPr>
          <a:xfrm>
            <a:off x="5050414" y="2286000"/>
            <a:ext cx="1981139" cy="594360"/>
          </a:xfrm>
          <a:prstGeom prst="rect">
            <a:avLst/>
          </a:prstGeom>
          <a:noFill/>
        </p:spPr>
        <p:txBody>
          <a:bodyPr wrap="square">
            <a:spAutoFit/>
          </a:bodyPr>
          <a:lstStyle/>
          <a:p>
            <a:pPr algn="ctr"/>
            <a:r>
              <a:rPr sz="1200" b="0" i="0">
                <a:solidFill>
                  <a:srgbClr val="4A5568"/>
                </a:solidFill>
                <a:latin typeface="Calibri"/>
              </a:rPr>
              <a:t>Scalar variants +
training methods</a:t>
            </a:r>
          </a:p>
        </p:txBody>
      </p:sp>
      <p:sp>
        <p:nvSpPr>
          <p:cNvPr id="22" name="Rectangle 21"/>
          <p:cNvSpPr/>
          <p:nvPr/>
        </p:nvSpPr>
        <p:spPr>
          <a:xfrm>
            <a:off x="7214433" y="1188720"/>
            <a:ext cx="2127443" cy="182880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76986" y="1371600"/>
            <a:ext cx="402336" cy="402336"/>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6986" y="1371600"/>
            <a:ext cx="402336" cy="402336"/>
          </a:xfrm>
          <a:prstGeom prst="rect">
            <a:avLst/>
          </a:prstGeom>
          <a:noFill/>
        </p:spPr>
        <p:txBody>
          <a:bodyPr wrap="none">
            <a:spAutoFit/>
          </a:bodyPr>
          <a:lstStyle/>
          <a:p>
            <a:pPr algn="ctr"/>
            <a:r>
              <a:rPr sz="1600" b="1">
                <a:solidFill>
                  <a:srgbClr val="FFFFFF"/>
                </a:solidFill>
                <a:latin typeface="Calibri"/>
              </a:rPr>
              <a:t>4</a:t>
            </a:r>
          </a:p>
        </p:txBody>
      </p:sp>
      <p:sp>
        <p:nvSpPr>
          <p:cNvPr id="25" name="TextBox 24"/>
          <p:cNvSpPr txBox="1"/>
          <p:nvPr/>
        </p:nvSpPr>
        <p:spPr>
          <a:xfrm>
            <a:off x="7287585" y="1874520"/>
            <a:ext cx="1981139" cy="365760"/>
          </a:xfrm>
          <a:prstGeom prst="rect">
            <a:avLst/>
          </a:prstGeom>
          <a:noFill/>
        </p:spPr>
        <p:txBody>
          <a:bodyPr wrap="square">
            <a:spAutoFit/>
          </a:bodyPr>
          <a:lstStyle/>
          <a:p>
            <a:pPr algn="ctr"/>
            <a:r>
              <a:rPr sz="1500" b="1" i="0">
                <a:solidFill>
                  <a:srgbClr val="003F87"/>
                </a:solidFill>
                <a:latin typeface="Calibri"/>
              </a:rPr>
              <a:t>Results</a:t>
            </a:r>
          </a:p>
        </p:txBody>
      </p:sp>
      <p:sp>
        <p:nvSpPr>
          <p:cNvPr id="26" name="TextBox 25"/>
          <p:cNvSpPr txBox="1"/>
          <p:nvPr/>
        </p:nvSpPr>
        <p:spPr>
          <a:xfrm>
            <a:off x="7287585" y="2286000"/>
            <a:ext cx="1981139" cy="594360"/>
          </a:xfrm>
          <a:prstGeom prst="rect">
            <a:avLst/>
          </a:prstGeom>
          <a:noFill/>
        </p:spPr>
        <p:txBody>
          <a:bodyPr wrap="square">
            <a:spAutoFit/>
          </a:bodyPr>
          <a:lstStyle/>
          <a:p>
            <a:pPr algn="ctr"/>
            <a:r>
              <a:rPr sz="1200" b="0" i="0">
                <a:solidFill>
                  <a:srgbClr val="4A5568"/>
                </a:solidFill>
                <a:latin typeface="Calibri"/>
              </a:rPr>
              <a:t>Sparse recovery &amp;
design space</a:t>
            </a:r>
          </a:p>
        </p:txBody>
      </p:sp>
      <p:sp>
        <p:nvSpPr>
          <p:cNvPr id="27" name="Rectangle 26"/>
          <p:cNvSpPr/>
          <p:nvPr/>
        </p:nvSpPr>
        <p:spPr>
          <a:xfrm>
            <a:off x="9451604" y="1188720"/>
            <a:ext cx="2127443" cy="182880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14157" y="1371600"/>
            <a:ext cx="402336" cy="402336"/>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14157" y="1371600"/>
            <a:ext cx="402336" cy="402336"/>
          </a:xfrm>
          <a:prstGeom prst="rect">
            <a:avLst/>
          </a:prstGeom>
          <a:noFill/>
        </p:spPr>
        <p:txBody>
          <a:bodyPr wrap="none">
            <a:spAutoFit/>
          </a:bodyPr>
          <a:lstStyle/>
          <a:p>
            <a:pPr algn="ctr"/>
            <a:r>
              <a:rPr sz="1600" b="1">
                <a:solidFill>
                  <a:srgbClr val="FFFFFF"/>
                </a:solidFill>
                <a:latin typeface="Calibri"/>
              </a:rPr>
              <a:t>5</a:t>
            </a:r>
          </a:p>
        </p:txBody>
      </p:sp>
      <p:sp>
        <p:nvSpPr>
          <p:cNvPr id="30" name="TextBox 29"/>
          <p:cNvSpPr txBox="1"/>
          <p:nvPr/>
        </p:nvSpPr>
        <p:spPr>
          <a:xfrm>
            <a:off x="9524756" y="1874520"/>
            <a:ext cx="1981139" cy="365760"/>
          </a:xfrm>
          <a:prstGeom prst="rect">
            <a:avLst/>
          </a:prstGeom>
          <a:noFill/>
        </p:spPr>
        <p:txBody>
          <a:bodyPr wrap="square">
            <a:spAutoFit/>
          </a:bodyPr>
          <a:lstStyle/>
          <a:p>
            <a:pPr algn="ctr"/>
            <a:r>
              <a:rPr sz="1500" b="1" i="0">
                <a:solidFill>
                  <a:srgbClr val="003F87"/>
                </a:solidFill>
                <a:latin typeface="Calibri"/>
              </a:rPr>
              <a:t>Images</a:t>
            </a:r>
          </a:p>
        </p:txBody>
      </p:sp>
      <p:sp>
        <p:nvSpPr>
          <p:cNvPr id="31" name="TextBox 30"/>
          <p:cNvSpPr txBox="1"/>
          <p:nvPr/>
        </p:nvSpPr>
        <p:spPr>
          <a:xfrm>
            <a:off x="9524756" y="2286000"/>
            <a:ext cx="1981139" cy="594360"/>
          </a:xfrm>
          <a:prstGeom prst="rect">
            <a:avLst/>
          </a:prstGeom>
          <a:noFill/>
        </p:spPr>
        <p:txBody>
          <a:bodyPr wrap="square">
            <a:spAutoFit/>
          </a:bodyPr>
          <a:lstStyle/>
          <a:p>
            <a:pPr algn="ctr"/>
            <a:r>
              <a:rPr sz="1200" b="0" i="0">
                <a:solidFill>
                  <a:srgbClr val="4A5568"/>
                </a:solidFill>
                <a:latin typeface="Calibri"/>
              </a:rPr>
              <a:t>MNIST &amp; FashionMNIST
CS stress tests</a:t>
            </a:r>
          </a:p>
        </p:txBody>
      </p:sp>
      <p:sp>
        <p:nvSpPr>
          <p:cNvPr id="32" name="TextBox 31"/>
          <p:cNvSpPr txBox="1"/>
          <p:nvPr/>
        </p:nvSpPr>
        <p:spPr>
          <a:xfrm>
            <a:off x="502920" y="3246120"/>
            <a:ext cx="11185855" cy="365760"/>
          </a:xfrm>
          <a:prstGeom prst="rect">
            <a:avLst/>
          </a:prstGeom>
          <a:noFill/>
        </p:spPr>
        <p:txBody>
          <a:bodyPr wrap="square">
            <a:spAutoFit/>
          </a:bodyPr>
          <a:lstStyle/>
          <a:p>
            <a:pPr algn="l"/>
            <a:r>
              <a:rPr sz="1600" b="0" i="0">
                <a:solidFill>
                  <a:srgbClr val="1A1A2E"/>
                </a:solidFill>
                <a:latin typeface="Calibri"/>
              </a:rPr>
              <a:t>Goal:  systematically compare how much learning is needed when moving from ideal sparse signals to real compressed-sensing images.</a:t>
            </a:r>
          </a:p>
        </p:txBody>
      </p:sp>
      <p:sp>
        <p:nvSpPr>
          <p:cNvPr id="33" name="Rectangle 32"/>
          <p:cNvSpPr/>
          <p:nvPr/>
        </p:nvSpPr>
        <p:spPr>
          <a:xfrm>
            <a:off x="502920" y="3794760"/>
            <a:ext cx="3618890" cy="100584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794760"/>
            <a:ext cx="50292" cy="10058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3904488"/>
            <a:ext cx="3289706" cy="896112"/>
          </a:xfrm>
          <a:prstGeom prst="rect">
            <a:avLst/>
          </a:prstGeom>
          <a:noFill/>
        </p:spPr>
        <p:txBody>
          <a:bodyPr wrap="square">
            <a:spAutoFit/>
          </a:bodyPr>
          <a:lstStyle/>
          <a:p>
            <a:pPr>
              <a:defRPr b="1" sz="1500">
                <a:solidFill>
                  <a:srgbClr val="003F87"/>
                </a:solidFill>
                <a:latin typeface="Calibri"/>
              </a:defRPr>
            </a:pPr>
            <a:r>
              <a:t>Synthetic signals</a:t>
            </a:r>
          </a:p>
          <a:p>
            <a:pPr>
              <a:spcBef>
                <a:spcPts val="200"/>
              </a:spcBef>
              <a:defRPr sz="1300">
                <a:solidFill>
                  <a:srgbClr val="1A1A2E"/>
                </a:solidFill>
                <a:latin typeface="Calibri"/>
              </a:defRPr>
            </a:pPr>
            <a:r>
              <a:t>m=250, n=500, s=50</a:t>
            </a:r>
          </a:p>
          <a:p>
            <a:pPr>
              <a:spcBef>
                <a:spcPts val="200"/>
              </a:spcBef>
              <a:defRPr sz="1300">
                <a:solidFill>
                  <a:srgbClr val="1A1A2E"/>
                </a:solidFill>
                <a:latin typeface="Calibri"/>
              </a:defRPr>
            </a:pPr>
            <a:r>
              <a:t>Gaussian A, noiseless</a:t>
            </a:r>
          </a:p>
        </p:txBody>
      </p:sp>
      <p:sp>
        <p:nvSpPr>
          <p:cNvPr id="36" name="Rectangle 35"/>
          <p:cNvSpPr/>
          <p:nvPr/>
        </p:nvSpPr>
        <p:spPr>
          <a:xfrm>
            <a:off x="4231538" y="3794760"/>
            <a:ext cx="3618890" cy="100584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31538" y="3794760"/>
            <a:ext cx="50292" cy="10058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23562" y="3904488"/>
            <a:ext cx="3289706" cy="896112"/>
          </a:xfrm>
          <a:prstGeom prst="rect">
            <a:avLst/>
          </a:prstGeom>
          <a:noFill/>
        </p:spPr>
        <p:txBody>
          <a:bodyPr wrap="square">
            <a:spAutoFit/>
          </a:bodyPr>
          <a:lstStyle/>
          <a:p>
            <a:pPr>
              <a:defRPr b="1" sz="1500">
                <a:solidFill>
                  <a:srgbClr val="003F87"/>
                </a:solidFill>
                <a:latin typeface="Calibri"/>
              </a:defRPr>
            </a:pPr>
            <a:r>
              <a:t>Trained models</a:t>
            </a:r>
          </a:p>
          <a:p>
            <a:pPr>
              <a:spcBef>
                <a:spcPts val="200"/>
              </a:spcBef>
              <a:defRPr sz="1300">
                <a:solidFill>
                  <a:srgbClr val="1A1A2E"/>
                </a:solidFill>
                <a:latin typeface="Calibri"/>
              </a:defRPr>
            </a:pPr>
            <a:r>
              <a:t>LISTA, ALISTA, HyperLISTA</a:t>
            </a:r>
          </a:p>
          <a:p>
            <a:pPr>
              <a:spcBef>
                <a:spcPts val="200"/>
              </a:spcBef>
              <a:defRPr sz="1300">
                <a:solidFill>
                  <a:srgbClr val="1A1A2E"/>
                </a:solidFill>
                <a:latin typeface="Calibri"/>
              </a:defRPr>
            </a:pPr>
            <a:r>
              <a:t>+ 3 scalar designs (ours)</a:t>
            </a:r>
          </a:p>
        </p:txBody>
      </p:sp>
      <p:sp>
        <p:nvSpPr>
          <p:cNvPr id="39" name="Rectangle 38"/>
          <p:cNvSpPr/>
          <p:nvPr/>
        </p:nvSpPr>
        <p:spPr>
          <a:xfrm>
            <a:off x="7960156" y="3794760"/>
            <a:ext cx="3618890" cy="100584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60156" y="3794760"/>
            <a:ext cx="50292" cy="10058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52180" y="3904488"/>
            <a:ext cx="3289706" cy="896112"/>
          </a:xfrm>
          <a:prstGeom prst="rect">
            <a:avLst/>
          </a:prstGeom>
          <a:noFill/>
        </p:spPr>
        <p:txBody>
          <a:bodyPr wrap="square">
            <a:spAutoFit/>
          </a:bodyPr>
          <a:lstStyle/>
          <a:p>
            <a:pPr>
              <a:defRPr b="1" sz="1500">
                <a:solidFill>
                  <a:srgbClr val="003F87"/>
                </a:solidFill>
                <a:latin typeface="Calibri"/>
              </a:defRPr>
            </a:pPr>
            <a:r>
              <a:t>Image CS</a:t>
            </a:r>
          </a:p>
          <a:p>
            <a:pPr>
              <a:spcBef>
                <a:spcPts val="200"/>
              </a:spcBef>
              <a:defRPr sz="1300">
                <a:solidFill>
                  <a:srgbClr val="1A1A2E"/>
                </a:solidFill>
                <a:latin typeface="Calibri"/>
              </a:defRPr>
            </a:pPr>
            <a:r>
              <a:t>MNIST &amp; FashionMNIST pixel domain</a:t>
            </a:r>
          </a:p>
          <a:p>
            <a:pPr>
              <a:spcBef>
                <a:spcPts val="200"/>
              </a:spcBef>
              <a:defRPr sz="1300">
                <a:solidFill>
                  <a:srgbClr val="1A1A2E"/>
                </a:solidFill>
                <a:latin typeface="Calibri"/>
              </a:defRPr>
            </a:pPr>
            <a:r>
              <a:t>ratios ∈ {0.25,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Motivation &amp; Problem Formulation</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3 / 16</a:t>
            </a:r>
          </a:p>
        </p:txBody>
      </p:sp>
      <p:sp>
        <p:nvSpPr>
          <p:cNvPr id="7" name="TextBox 6"/>
          <p:cNvSpPr txBox="1"/>
          <p:nvPr/>
        </p:nvSpPr>
        <p:spPr>
          <a:xfrm>
            <a:off x="502920" y="1143000"/>
            <a:ext cx="5943600" cy="320040"/>
          </a:xfrm>
          <a:prstGeom prst="rect">
            <a:avLst/>
          </a:prstGeom>
          <a:noFill/>
        </p:spPr>
        <p:txBody>
          <a:bodyPr wrap="square">
            <a:spAutoFit/>
          </a:bodyPr>
          <a:lstStyle/>
          <a:p>
            <a:pPr algn="l"/>
            <a:r>
              <a:rPr sz="1700" b="1" i="0">
                <a:solidFill>
                  <a:srgbClr val="003F87"/>
                </a:solidFill>
                <a:latin typeface="Calibri"/>
              </a:rPr>
              <a:t>Sparse recovery appears everywhere:</a:t>
            </a:r>
          </a:p>
        </p:txBody>
      </p:sp>
      <p:graphicFrame>
        <p:nvGraphicFramePr>
          <p:cNvPr id="8" name="Table 7"/>
          <p:cNvGraphicFramePr>
            <a:graphicFrameLocks noGrp="1"/>
          </p:cNvGraphicFramePr>
          <p:nvPr/>
        </p:nvGraphicFramePr>
        <p:xfrm>
          <a:off x="502920" y="1508760"/>
          <a:ext cx="5760720" cy="1508760"/>
        </p:xfrm>
        <a:graphic>
          <a:graphicData uri="http://schemas.openxmlformats.org/drawingml/2006/table">
            <a:tbl>
              <a:tblPr firstRow="1" bandRow="1">
                <a:tableStyleId>{5C22544A-7EE6-4342-B048-85BDC9FD1C3A}</a:tableStyleId>
              </a:tblPr>
              <a:tblGrid>
                <a:gridCol w="2011680"/>
                <a:gridCol w="2194560"/>
                <a:gridCol w="1554480"/>
              </a:tblGrid>
              <a:tr h="301752">
                <a:tc>
                  <a:txBody>
                    <a:bodyPr/>
                    <a:lstStyle/>
                    <a:p>
                      <a:pPr>
                        <a:defRPr sz="1400" b="1">
                          <a:solidFill>
                            <a:srgbClr val="FFFFFF"/>
                          </a:solidFill>
                          <a:latin typeface="Calibri"/>
                        </a:defRPr>
                      </a:pPr>
                      <a:r>
                        <a:t>Application</a:t>
                      </a:r>
                    </a:p>
                  </a:txBody>
                  <a:tcPr>
                    <a:solidFill>
                      <a:srgbClr val="003F87"/>
                    </a:solidFill>
                  </a:tcPr>
                </a:tc>
                <a:tc>
                  <a:txBody>
                    <a:bodyPr/>
                    <a:lstStyle/>
                    <a:p>
                      <a:pPr>
                        <a:defRPr sz="1400" b="1">
                          <a:solidFill>
                            <a:srgbClr val="FFFFFF"/>
                          </a:solidFill>
                          <a:latin typeface="Calibri"/>
                        </a:defRPr>
                      </a:pPr>
                      <a:r>
                        <a:t>Measurements</a:t>
                      </a:r>
                    </a:p>
                  </a:txBody>
                  <a:tcPr>
                    <a:solidFill>
                      <a:srgbClr val="003F87"/>
                    </a:solidFill>
                  </a:tcPr>
                </a:tc>
                <a:tc>
                  <a:txBody>
                    <a:bodyPr/>
                    <a:lstStyle/>
                    <a:p>
                      <a:pPr>
                        <a:defRPr sz="1400" b="1">
                          <a:solidFill>
                            <a:srgbClr val="FFFFFF"/>
                          </a:solidFill>
                          <a:latin typeface="Calibri"/>
                        </a:defRPr>
                      </a:pPr>
                      <a:r>
                        <a:t>Goal</a:t>
                      </a:r>
                    </a:p>
                  </a:txBody>
                  <a:tcPr>
                    <a:solidFill>
                      <a:srgbClr val="003F87"/>
                    </a:solidFill>
                  </a:tcPr>
                </a:tc>
              </a:tr>
              <a:tr h="301752">
                <a:tc>
                  <a:txBody>
                    <a:bodyPr/>
                    <a:lstStyle/>
                    <a:p>
                      <a:pPr>
                        <a:defRPr sz="1400">
                          <a:latin typeface="Calibri"/>
                        </a:defRPr>
                      </a:pPr>
                      <a:r>
                        <a:t>MRI acceleration</a:t>
                      </a:r>
                    </a:p>
                  </a:txBody>
                  <a:tcPr>
                    <a:solidFill>
                      <a:srgbClr val="FFFFFF"/>
                    </a:solidFill>
                  </a:tcPr>
                </a:tc>
                <a:tc>
                  <a:txBody>
                    <a:bodyPr/>
                    <a:lstStyle/>
                    <a:p>
                      <a:pPr>
                        <a:defRPr sz="1400">
                          <a:latin typeface="Calibri"/>
                        </a:defRPr>
                      </a:pPr>
                      <a:r>
                        <a:t>k-space  (m ≪ n)</a:t>
                      </a:r>
                    </a:p>
                  </a:txBody>
                  <a:tcPr>
                    <a:solidFill>
                      <a:srgbClr val="FFFFFF"/>
                    </a:solidFill>
                  </a:tcPr>
                </a:tc>
                <a:tc>
                  <a:txBody>
                    <a:bodyPr/>
                    <a:lstStyle/>
                    <a:p>
                      <a:pPr>
                        <a:defRPr sz="1400">
                          <a:latin typeface="Calibri"/>
                        </a:defRPr>
                      </a:pPr>
                      <a:r>
                        <a:t>Image pixels</a:t>
                      </a:r>
                    </a:p>
                  </a:txBody>
                  <a:tcPr>
                    <a:solidFill>
                      <a:srgbClr val="FFFFFF"/>
                    </a:solidFill>
                  </a:tcPr>
                </a:tc>
              </a:tr>
              <a:tr h="301752">
                <a:tc>
                  <a:txBody>
                    <a:bodyPr/>
                    <a:lstStyle/>
                    <a:p>
                      <a:pPr>
                        <a:defRPr sz="1400">
                          <a:latin typeface="Calibri"/>
                        </a:defRPr>
                      </a:pPr>
                      <a:r>
                        <a:t>Radar</a:t>
                      </a:r>
                    </a:p>
                  </a:txBody>
                  <a:tcPr>
                    <a:solidFill>
                      <a:srgbClr val="EEF4FB"/>
                    </a:solidFill>
                  </a:tcPr>
                </a:tc>
                <a:tc>
                  <a:txBody>
                    <a:bodyPr/>
                    <a:lstStyle/>
                    <a:p>
                      <a:pPr>
                        <a:defRPr sz="1400">
                          <a:latin typeface="Calibri"/>
                        </a:defRPr>
                      </a:pPr>
                      <a:r>
                        <a:t>Compressed snapshots</a:t>
                      </a:r>
                    </a:p>
                  </a:txBody>
                  <a:tcPr>
                    <a:solidFill>
                      <a:srgbClr val="EEF4FB"/>
                    </a:solidFill>
                  </a:tcPr>
                </a:tc>
                <a:tc>
                  <a:txBody>
                    <a:bodyPr/>
                    <a:lstStyle/>
                    <a:p>
                      <a:pPr>
                        <a:defRPr sz="1400">
                          <a:latin typeface="Calibri"/>
                        </a:defRPr>
                      </a:pPr>
                      <a:r>
                        <a:t>Reflectivity</a:t>
                      </a:r>
                    </a:p>
                  </a:txBody>
                  <a:tcPr>
                    <a:solidFill>
                      <a:srgbClr val="EEF4FB"/>
                    </a:solidFill>
                  </a:tcPr>
                </a:tc>
              </a:tr>
              <a:tr h="301752">
                <a:tc>
                  <a:txBody>
                    <a:bodyPr/>
                    <a:lstStyle/>
                    <a:p>
                      <a:pPr>
                        <a:defRPr sz="1400">
                          <a:latin typeface="Calibri"/>
                        </a:defRPr>
                      </a:pPr>
                      <a:r>
                        <a:t>Hyperspectral</a:t>
                      </a:r>
                    </a:p>
                  </a:txBody>
                  <a:tcPr>
                    <a:solidFill>
                      <a:srgbClr val="FFFFFF"/>
                    </a:solidFill>
                  </a:tcPr>
                </a:tc>
                <a:tc>
                  <a:txBody>
                    <a:bodyPr/>
                    <a:lstStyle/>
                    <a:p>
                      <a:pPr>
                        <a:defRPr sz="1400">
                          <a:latin typeface="Calibri"/>
                        </a:defRPr>
                      </a:pPr>
                      <a:r>
                        <a:t>Spectral bands</a:t>
                      </a:r>
                    </a:p>
                  </a:txBody>
                  <a:tcPr>
                    <a:solidFill>
                      <a:srgbClr val="FFFFFF"/>
                    </a:solidFill>
                  </a:tcPr>
                </a:tc>
                <a:tc>
                  <a:txBody>
                    <a:bodyPr/>
                    <a:lstStyle/>
                    <a:p>
                      <a:pPr>
                        <a:defRPr sz="1400">
                          <a:latin typeface="Calibri"/>
                        </a:defRPr>
                      </a:pPr>
                      <a:r>
                        <a:t>Spatial cube</a:t>
                      </a:r>
                    </a:p>
                  </a:txBody>
                  <a:tcPr>
                    <a:solidFill>
                      <a:srgbClr val="FFFFFF"/>
                    </a:solidFill>
                  </a:tcPr>
                </a:tc>
              </a:tr>
              <a:tr h="301752">
                <a:tc>
                  <a:txBody>
                    <a:bodyPr/>
                    <a:lstStyle/>
                    <a:p>
                      <a:pPr>
                        <a:defRPr sz="1400">
                          <a:latin typeface="Calibri"/>
                        </a:defRPr>
                      </a:pPr>
                      <a:r>
                        <a:t>Compressed sensing</a:t>
                      </a:r>
                    </a:p>
                  </a:txBody>
                  <a:tcPr>
                    <a:solidFill>
                      <a:srgbClr val="EEF4FB"/>
                    </a:solidFill>
                  </a:tcPr>
                </a:tc>
                <a:tc>
                  <a:txBody>
                    <a:bodyPr/>
                    <a:lstStyle/>
                    <a:p>
                      <a:pPr>
                        <a:defRPr sz="1400">
                          <a:latin typeface="Calibri"/>
                        </a:defRPr>
                      </a:pPr>
                      <a:r>
                        <a:t>Random projections</a:t>
                      </a:r>
                    </a:p>
                  </a:txBody>
                  <a:tcPr>
                    <a:solidFill>
                      <a:srgbClr val="EEF4FB"/>
                    </a:solidFill>
                  </a:tcPr>
                </a:tc>
                <a:tc>
                  <a:txBody>
                    <a:bodyPr/>
                    <a:lstStyle/>
                    <a:p>
                      <a:pPr>
                        <a:defRPr sz="1400">
                          <a:latin typeface="Calibri"/>
                        </a:defRPr>
                      </a:pPr>
                      <a:r>
                        <a:t>Original signal</a:t>
                      </a:r>
                    </a:p>
                  </a:txBody>
                  <a:tcPr>
                    <a:solidFill>
                      <a:srgbClr val="EEF4FB"/>
                    </a:solidFill>
                  </a:tcPr>
                </a:tc>
              </a:tr>
            </a:tbl>
          </a:graphicData>
        </a:graphic>
      </p:graphicFrame>
      <p:sp>
        <p:nvSpPr>
          <p:cNvPr id="9" name="TextBox 8"/>
          <p:cNvSpPr txBox="1"/>
          <p:nvPr/>
        </p:nvSpPr>
        <p:spPr>
          <a:xfrm>
            <a:off x="502920" y="3566160"/>
            <a:ext cx="5943600" cy="411480"/>
          </a:xfrm>
          <a:prstGeom prst="rect">
            <a:avLst/>
          </a:prstGeom>
          <a:noFill/>
        </p:spPr>
        <p:txBody>
          <a:bodyPr wrap="square">
            <a:spAutoFit/>
          </a:bodyPr>
          <a:lstStyle/>
          <a:p>
            <a:pPr algn="l"/>
            <a:r>
              <a:rPr sz="1500" b="0" i="0">
                <a:solidFill>
                  <a:srgbClr val="1A1A2E"/>
                </a:solidFill>
                <a:latin typeface="Calibri"/>
              </a:rPr>
              <a:t>Why tractable?  Natural signals have only s ≪ n non-zero components.</a:t>
            </a:r>
          </a:p>
        </p:txBody>
      </p:sp>
      <p:sp>
        <p:nvSpPr>
          <p:cNvPr id="10" name="TextBox 9"/>
          <p:cNvSpPr txBox="1"/>
          <p:nvPr/>
        </p:nvSpPr>
        <p:spPr>
          <a:xfrm>
            <a:off x="502920" y="4023360"/>
            <a:ext cx="5943600" cy="320040"/>
          </a:xfrm>
          <a:prstGeom prst="rect">
            <a:avLst/>
          </a:prstGeom>
          <a:noFill/>
        </p:spPr>
        <p:txBody>
          <a:bodyPr wrap="square">
            <a:spAutoFit/>
          </a:bodyPr>
          <a:lstStyle/>
          <a:p>
            <a:pPr algn="l"/>
            <a:r>
              <a:rPr sz="1700" b="1" i="0">
                <a:solidFill>
                  <a:srgbClr val="003F87"/>
                </a:solidFill>
                <a:latin typeface="Calibri"/>
              </a:rPr>
              <a:t>LASSO — the optimization backbone:</a:t>
            </a:r>
          </a:p>
        </p:txBody>
      </p:sp>
      <p:pic>
        <p:nvPicPr>
          <p:cNvPr id="11" name="Picture 10" descr="image.png"/>
          <p:cNvPicPr>
            <a:picLocks noChangeAspect="1"/>
          </p:cNvPicPr>
          <p:nvPr/>
        </p:nvPicPr>
        <p:blipFill>
          <a:blip r:embed="rId2"/>
          <a:stretch>
            <a:fillRect/>
          </a:stretch>
        </p:blipFill>
        <p:spPr>
          <a:xfrm>
            <a:off x="685800" y="4389120"/>
            <a:ext cx="4389120" cy="574054"/>
          </a:xfrm>
          <a:prstGeom prst="rect">
            <a:avLst/>
          </a:prstGeom>
        </p:spPr>
      </p:pic>
      <p:sp>
        <p:nvSpPr>
          <p:cNvPr id="12" name="Rectangle 11"/>
          <p:cNvSpPr/>
          <p:nvPr/>
        </p:nvSpPr>
        <p:spPr>
          <a:xfrm>
            <a:off x="6675120" y="1143000"/>
            <a:ext cx="5029200" cy="2926080"/>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1325880"/>
            <a:ext cx="4663440" cy="365760"/>
          </a:xfrm>
          <a:prstGeom prst="rect">
            <a:avLst/>
          </a:prstGeom>
          <a:noFill/>
        </p:spPr>
        <p:txBody>
          <a:bodyPr wrap="square">
            <a:spAutoFit/>
          </a:bodyPr>
          <a:lstStyle/>
          <a:p>
            <a:pPr algn="l"/>
            <a:r>
              <a:rPr sz="1600" b="1" i="0">
                <a:solidFill>
                  <a:srgbClr val="F5A623"/>
                </a:solidFill>
                <a:latin typeface="Calibri"/>
              </a:rPr>
              <a:t>Measurement model</a:t>
            </a:r>
          </a:p>
        </p:txBody>
      </p:sp>
      <p:pic>
        <p:nvPicPr>
          <p:cNvPr id="14" name="Picture 13" descr="image.png"/>
          <p:cNvPicPr>
            <a:picLocks noChangeAspect="1"/>
          </p:cNvPicPr>
          <p:nvPr/>
        </p:nvPicPr>
        <p:blipFill>
          <a:blip r:embed="rId3"/>
          <a:stretch>
            <a:fillRect/>
          </a:stretch>
        </p:blipFill>
        <p:spPr>
          <a:xfrm>
            <a:off x="7132320" y="1783080"/>
            <a:ext cx="2743200" cy="683741"/>
          </a:xfrm>
          <a:prstGeom prst="rect">
            <a:avLst/>
          </a:prstGeom>
        </p:spPr>
      </p:pic>
      <p:sp>
        <p:nvSpPr>
          <p:cNvPr id="15" name="TextBox 14"/>
          <p:cNvSpPr txBox="1"/>
          <p:nvPr/>
        </p:nvSpPr>
        <p:spPr>
          <a:xfrm>
            <a:off x="6858000" y="2606040"/>
            <a:ext cx="4663440" cy="365760"/>
          </a:xfrm>
          <a:prstGeom prst="rect">
            <a:avLst/>
          </a:prstGeom>
          <a:noFill/>
        </p:spPr>
        <p:txBody>
          <a:bodyPr wrap="square">
            <a:spAutoFit/>
          </a:bodyPr>
          <a:lstStyle/>
          <a:p>
            <a:pPr algn="l"/>
            <a:r>
              <a:rPr sz="1500" b="0" i="0">
                <a:solidFill>
                  <a:srgbClr val="FFFFFF"/>
                </a:solidFill>
                <a:latin typeface="Calibri"/>
              </a:rPr>
              <a:t>A ∈ ℝ^{m×n},   m ≪ n</a:t>
            </a:r>
          </a:p>
        </p:txBody>
      </p:sp>
      <p:sp>
        <p:nvSpPr>
          <p:cNvPr id="16" name="TextBox 15"/>
          <p:cNvSpPr txBox="1"/>
          <p:nvPr/>
        </p:nvSpPr>
        <p:spPr>
          <a:xfrm>
            <a:off x="6858000" y="2990088"/>
            <a:ext cx="4663440" cy="365760"/>
          </a:xfrm>
          <a:prstGeom prst="rect">
            <a:avLst/>
          </a:prstGeom>
          <a:noFill/>
        </p:spPr>
        <p:txBody>
          <a:bodyPr wrap="square">
            <a:spAutoFit/>
          </a:bodyPr>
          <a:lstStyle/>
          <a:p>
            <a:pPr algn="l"/>
            <a:r>
              <a:rPr sz="1500" b="0" i="0">
                <a:solidFill>
                  <a:srgbClr val="FFFFFF"/>
                </a:solidFill>
                <a:latin typeface="Calibri"/>
              </a:rPr>
              <a:t>x*: s-sparse signal</a:t>
            </a:r>
          </a:p>
        </p:txBody>
      </p:sp>
      <p:sp>
        <p:nvSpPr>
          <p:cNvPr id="17" name="TextBox 16"/>
          <p:cNvSpPr txBox="1"/>
          <p:nvPr/>
        </p:nvSpPr>
        <p:spPr>
          <a:xfrm>
            <a:off x="6858000" y="3374136"/>
            <a:ext cx="4663440" cy="365760"/>
          </a:xfrm>
          <a:prstGeom prst="rect">
            <a:avLst/>
          </a:prstGeom>
          <a:noFill/>
        </p:spPr>
        <p:txBody>
          <a:bodyPr wrap="square">
            <a:spAutoFit/>
          </a:bodyPr>
          <a:lstStyle/>
          <a:p>
            <a:pPr algn="l"/>
            <a:r>
              <a:rPr sz="1500" b="0" i="0">
                <a:solidFill>
                  <a:srgbClr val="FFFFFF"/>
                </a:solidFill>
                <a:latin typeface="Calibri"/>
              </a:rPr>
              <a:t>ε: additive Gaussian noise</a:t>
            </a:r>
          </a:p>
        </p:txBody>
      </p:sp>
      <p:sp>
        <p:nvSpPr>
          <p:cNvPr id="18" name="Rectangle 17"/>
          <p:cNvSpPr/>
          <p:nvPr/>
        </p:nvSpPr>
        <p:spPr>
          <a:xfrm>
            <a:off x="6675120" y="4251960"/>
            <a:ext cx="5029200" cy="91440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75120" y="4251960"/>
            <a:ext cx="50292" cy="9144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67144" y="4361688"/>
            <a:ext cx="4700016" cy="804672"/>
          </a:xfrm>
          <a:prstGeom prst="rect">
            <a:avLst/>
          </a:prstGeom>
          <a:noFill/>
        </p:spPr>
        <p:txBody>
          <a:bodyPr wrap="square">
            <a:spAutoFit/>
          </a:bodyPr>
          <a:lstStyle/>
          <a:p/>
          <a:p>
            <a:pPr>
              <a:spcBef>
                <a:spcPts val="200"/>
              </a:spcBef>
              <a:defRPr sz="1500">
                <a:solidFill>
                  <a:srgbClr val="1A1A2E"/>
                </a:solidFill>
                <a:latin typeface="Calibri"/>
              </a:defRPr>
            </a:pPr>
            <a:r>
              <a:t>Metrics:  NMSE (dB) for synthetic signals;</a:t>
            </a:r>
          </a:p>
          <a:p>
            <a:pPr>
              <a:spcBef>
                <a:spcPts val="200"/>
              </a:spcBef>
              <a:defRPr sz="1500">
                <a:solidFill>
                  <a:srgbClr val="1A1A2E"/>
                </a:solidFill>
                <a:latin typeface="Calibri"/>
              </a:defRPr>
            </a:pPr>
            <a:r>
              <a:t>NMSE + PSNR + SSIM for image 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Classical Baselines: ISTA and FISTA</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4 / 16</a:t>
            </a:r>
          </a:p>
        </p:txBody>
      </p:sp>
      <p:sp>
        <p:nvSpPr>
          <p:cNvPr id="7" name="TextBox 6"/>
          <p:cNvSpPr txBox="1"/>
          <p:nvPr/>
        </p:nvSpPr>
        <p:spPr>
          <a:xfrm>
            <a:off x="502920" y="1188720"/>
            <a:ext cx="11185855" cy="320040"/>
          </a:xfrm>
          <a:prstGeom prst="rect">
            <a:avLst/>
          </a:prstGeom>
          <a:noFill/>
        </p:spPr>
        <p:txBody>
          <a:bodyPr wrap="square">
            <a:spAutoFit/>
          </a:bodyPr>
          <a:lstStyle/>
          <a:p>
            <a:pPr algn="l"/>
            <a:r>
              <a:rPr sz="1700" b="1" i="0">
                <a:solidFill>
                  <a:srgbClr val="003F87"/>
                </a:solidFill>
                <a:latin typeface="Calibri"/>
              </a:rPr>
              <a:t>ISTA  —  proximal gradient descent on the LASSO objective:</a:t>
            </a:r>
          </a:p>
        </p:txBody>
      </p:sp>
      <p:pic>
        <p:nvPicPr>
          <p:cNvPr id="8" name="Picture 7" descr="image.png"/>
          <p:cNvPicPr>
            <a:picLocks noChangeAspect="1"/>
          </p:cNvPicPr>
          <p:nvPr/>
        </p:nvPicPr>
        <p:blipFill>
          <a:blip r:embed="rId2"/>
          <a:stretch>
            <a:fillRect/>
          </a:stretch>
        </p:blipFill>
        <p:spPr>
          <a:xfrm>
            <a:off x="822960" y="1554480"/>
            <a:ext cx="9601200" cy="813509"/>
          </a:xfrm>
          <a:prstGeom prst="rect">
            <a:avLst/>
          </a:prstGeom>
        </p:spPr>
      </p:pic>
      <p:sp>
        <p:nvSpPr>
          <p:cNvPr id="9" name="TextBox 8"/>
          <p:cNvSpPr txBox="1"/>
          <p:nvPr/>
        </p:nvSpPr>
        <p:spPr>
          <a:xfrm>
            <a:off x="502920" y="2331720"/>
            <a:ext cx="11185855" cy="320040"/>
          </a:xfrm>
          <a:prstGeom prst="rect">
            <a:avLst/>
          </a:prstGeom>
          <a:noFill/>
        </p:spPr>
        <p:txBody>
          <a:bodyPr wrap="square">
            <a:spAutoFit/>
          </a:bodyPr>
          <a:lstStyle/>
          <a:p>
            <a:pPr algn="l"/>
            <a:r>
              <a:rPr sz="1700" b="1" i="0">
                <a:solidFill>
                  <a:srgbClr val="003F87"/>
                </a:solidFill>
                <a:latin typeface="Calibri"/>
              </a:rPr>
              <a:t>FISTA  —  ISTA with Nesterov momentum,  O(1/k²) convergence vs O(1/k):</a:t>
            </a:r>
          </a:p>
        </p:txBody>
      </p:sp>
      <p:pic>
        <p:nvPicPr>
          <p:cNvPr id="10" name="Picture 9" descr="image.png"/>
          <p:cNvPicPr>
            <a:picLocks noChangeAspect="1"/>
          </p:cNvPicPr>
          <p:nvPr/>
        </p:nvPicPr>
        <p:blipFill>
          <a:blip r:embed="rId3"/>
          <a:stretch>
            <a:fillRect/>
          </a:stretch>
        </p:blipFill>
        <p:spPr>
          <a:xfrm>
            <a:off x="822960" y="2697480"/>
            <a:ext cx="10058400" cy="743121"/>
          </a:xfrm>
          <a:prstGeom prst="rect">
            <a:avLst/>
          </a:prstGeom>
        </p:spPr>
      </p:pic>
      <p:graphicFrame>
        <p:nvGraphicFramePr>
          <p:cNvPr id="11" name="Table 10"/>
          <p:cNvGraphicFramePr>
            <a:graphicFrameLocks noGrp="1"/>
          </p:cNvGraphicFramePr>
          <p:nvPr/>
        </p:nvGraphicFramePr>
        <p:xfrm>
          <a:off x="502920" y="3794760"/>
          <a:ext cx="6675120" cy="905256"/>
        </p:xfrm>
        <a:graphic>
          <a:graphicData uri="http://schemas.openxmlformats.org/drawingml/2006/table">
            <a:tbl>
              <a:tblPr firstRow="1" bandRow="1">
                <a:tableStyleId>{5C22544A-7EE6-4342-B048-85BDC9FD1C3A}</a:tableStyleId>
              </a:tblPr>
              <a:tblGrid>
                <a:gridCol w="2743200"/>
                <a:gridCol w="2286000"/>
                <a:gridCol w="1645920"/>
              </a:tblGrid>
              <a:tr h="301752">
                <a:tc>
                  <a:txBody>
                    <a:bodyPr/>
                    <a:lstStyle/>
                    <a:p>
                      <a:pPr>
                        <a:defRPr sz="1500" b="1">
                          <a:solidFill>
                            <a:srgbClr val="FFFFFF"/>
                          </a:solidFill>
                          <a:latin typeface="Calibri"/>
                        </a:defRPr>
                      </a:pPr>
                      <a:r>
                        <a:t>Method</a:t>
                      </a:r>
                    </a:p>
                  </a:txBody>
                  <a:tcPr>
                    <a:solidFill>
                      <a:srgbClr val="003F87"/>
                    </a:solidFill>
                  </a:tcPr>
                </a:tc>
                <a:tc>
                  <a:txBody>
                    <a:bodyPr/>
                    <a:lstStyle/>
                    <a:p>
                      <a:pPr>
                        <a:defRPr sz="1500" b="1">
                          <a:solidFill>
                            <a:srgbClr val="FFFFFF"/>
                          </a:solidFill>
                          <a:latin typeface="Calibri"/>
                        </a:defRPr>
                      </a:pPr>
                      <a:r>
                        <a:t>NMSE @ K=16</a:t>
                      </a:r>
                    </a:p>
                  </a:txBody>
                  <a:tcPr>
                    <a:solidFill>
                      <a:srgbClr val="003F87"/>
                    </a:solidFill>
                  </a:tcPr>
                </a:tc>
                <a:tc>
                  <a:txBody>
                    <a:bodyPr/>
                    <a:lstStyle/>
                    <a:p>
                      <a:pPr>
                        <a:defRPr sz="1500" b="1">
                          <a:solidFill>
                            <a:srgbClr val="FFFFFF"/>
                          </a:solidFill>
                          <a:latin typeface="Calibri"/>
                        </a:defRPr>
                      </a:pPr>
                      <a:r>
                        <a:t>Params</a:t>
                      </a:r>
                    </a:p>
                  </a:txBody>
                  <a:tcPr>
                    <a:solidFill>
                      <a:srgbClr val="003F87"/>
                    </a:solidFill>
                  </a:tcPr>
                </a:tc>
              </a:tr>
              <a:tr h="301752">
                <a:tc>
                  <a:txBody>
                    <a:bodyPr/>
                    <a:lstStyle/>
                    <a:p>
                      <a:pPr>
                        <a:defRPr sz="1500">
                          <a:latin typeface="Calibri"/>
                        </a:defRPr>
                      </a:pPr>
                      <a:r>
                        <a:t>ISTA</a:t>
                      </a:r>
                    </a:p>
                  </a:txBody>
                  <a:tcPr>
                    <a:solidFill>
                      <a:srgbClr val="FFFFFF"/>
                    </a:solidFill>
                  </a:tcPr>
                </a:tc>
                <a:tc>
                  <a:txBody>
                    <a:bodyPr/>
                    <a:lstStyle/>
                    <a:p>
                      <a:pPr>
                        <a:defRPr sz="1500">
                          <a:latin typeface="Calibri"/>
                        </a:defRPr>
                      </a:pPr>
                      <a:r>
                        <a:t>−5.3 dB</a:t>
                      </a:r>
                    </a:p>
                  </a:txBody>
                  <a:tcPr>
                    <a:solidFill>
                      <a:srgbClr val="FFFFFF"/>
                    </a:solidFill>
                  </a:tcPr>
                </a:tc>
                <a:tc>
                  <a:txBody>
                    <a:bodyPr/>
                    <a:lstStyle/>
                    <a:p>
                      <a:pPr>
                        <a:defRPr sz="1500">
                          <a:latin typeface="Calibri"/>
                        </a:defRPr>
                      </a:pPr>
                      <a:r>
                        <a:t>0</a:t>
                      </a:r>
                    </a:p>
                  </a:txBody>
                  <a:tcPr>
                    <a:solidFill>
                      <a:srgbClr val="FFFFFF"/>
                    </a:solidFill>
                  </a:tcPr>
                </a:tc>
              </a:tr>
              <a:tr h="301752">
                <a:tc>
                  <a:txBody>
                    <a:bodyPr/>
                    <a:lstStyle/>
                    <a:p>
                      <a:pPr>
                        <a:defRPr sz="1500">
                          <a:latin typeface="Calibri"/>
                        </a:defRPr>
                      </a:pPr>
                      <a:r>
                        <a:t>FISTA</a:t>
                      </a:r>
                    </a:p>
                  </a:txBody>
                  <a:tcPr>
                    <a:solidFill>
                      <a:srgbClr val="EEF4FB"/>
                    </a:solidFill>
                  </a:tcPr>
                </a:tc>
                <a:tc>
                  <a:txBody>
                    <a:bodyPr/>
                    <a:lstStyle/>
                    <a:p>
                      <a:pPr>
                        <a:defRPr sz="1500">
                          <a:latin typeface="Calibri"/>
                        </a:defRPr>
                      </a:pPr>
                      <a:r>
                        <a:t>−11.0 dB</a:t>
                      </a:r>
                    </a:p>
                  </a:txBody>
                  <a:tcPr>
                    <a:solidFill>
                      <a:srgbClr val="EEF4FB"/>
                    </a:solidFill>
                  </a:tcPr>
                </a:tc>
                <a:tc>
                  <a:txBody>
                    <a:bodyPr/>
                    <a:lstStyle/>
                    <a:p>
                      <a:pPr>
                        <a:defRPr sz="1500">
                          <a:latin typeface="Calibri"/>
                        </a:defRPr>
                      </a:pPr>
                      <a:r>
                        <a:t>0</a:t>
                      </a:r>
                    </a:p>
                  </a:txBody>
                  <a:tcPr>
                    <a:solidFill>
                      <a:srgbClr val="EEF4FB"/>
                    </a:solidFill>
                  </a:tcPr>
                </a:tc>
              </a:tr>
            </a:tbl>
          </a:graphicData>
        </a:graphic>
      </p:graphicFrame>
      <p:sp>
        <p:nvSpPr>
          <p:cNvPr id="12" name="Rectangle 11"/>
          <p:cNvSpPr/>
          <p:nvPr/>
        </p:nvSpPr>
        <p:spPr>
          <a:xfrm>
            <a:off x="7589520" y="3794760"/>
            <a:ext cx="4297680" cy="118872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9520" y="3794760"/>
            <a:ext cx="50292" cy="11887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81544" y="3904488"/>
            <a:ext cx="3968496" cy="1078992"/>
          </a:xfrm>
          <a:prstGeom prst="rect">
            <a:avLst/>
          </a:prstGeom>
          <a:noFill/>
        </p:spPr>
        <p:txBody>
          <a:bodyPr wrap="square">
            <a:spAutoFit/>
          </a:bodyPr>
          <a:lstStyle/>
          <a:p/>
          <a:p>
            <a:pPr>
              <a:spcBef>
                <a:spcPts val="200"/>
              </a:spcBef>
              <a:defRPr sz="1500">
                <a:solidFill>
                  <a:srgbClr val="1A1A2E"/>
                </a:solidFill>
                <a:latin typeface="Calibri"/>
              </a:defRPr>
            </a:pPr>
            <a:r>
              <a:t>At K=16 iterations both methods are far from converged.</a:t>
            </a:r>
          </a:p>
          <a:p>
            <a:pPr>
              <a:spcBef>
                <a:spcPts val="200"/>
              </a:spcBef>
              <a:defRPr sz="1500">
                <a:solidFill>
                  <a:srgbClr val="1A1A2E"/>
                </a:solidFill>
                <a:latin typeface="Calibri"/>
              </a:defRPr>
            </a:pPr>
            <a:r>
              <a:t>ISTA needs 200+ iterations for −20 dB.</a:t>
            </a:r>
          </a:p>
          <a:p>
            <a:pPr>
              <a:spcBef>
                <a:spcPts val="200"/>
              </a:spcBef>
              <a:defRPr sz="1500">
                <a:solidFill>
                  <a:srgbClr val="1A1A2E"/>
                </a:solidFill>
                <a:latin typeface="Calibri"/>
              </a:defRPr>
            </a:pPr>
          </a:p>
          <a:p>
            <a:pPr>
              <a:spcBef>
                <a:spcPts val="200"/>
              </a:spcBef>
              <a:defRPr sz="1500">
                <a:solidFill>
                  <a:srgbClr val="1A1A2E"/>
                </a:solidFill>
                <a:latin typeface="Calibri"/>
              </a:defRPr>
            </a:pPr>
            <a:r>
              <a:t>Can we make 16 steps count?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Deep Unrolling: From Iterations to Layers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5 / 16</a:t>
            </a:r>
          </a:p>
        </p:txBody>
      </p:sp>
      <p:sp>
        <p:nvSpPr>
          <p:cNvPr id="7" name="TextBox 6"/>
          <p:cNvSpPr txBox="1"/>
          <p:nvPr/>
        </p:nvSpPr>
        <p:spPr>
          <a:xfrm>
            <a:off x="502920" y="1188720"/>
            <a:ext cx="11185855" cy="347472"/>
          </a:xfrm>
          <a:prstGeom prst="rect">
            <a:avLst/>
          </a:prstGeom>
          <a:noFill/>
        </p:spPr>
        <p:txBody>
          <a:bodyPr wrap="square">
            <a:spAutoFit/>
          </a:bodyPr>
          <a:lstStyle/>
          <a:p>
            <a:pPr algn="l"/>
            <a:r>
              <a:rPr sz="1700" b="0" i="0">
                <a:solidFill>
                  <a:srgbClr val="1A1A2E"/>
                </a:solidFill>
                <a:latin typeface="Calibri"/>
              </a:rPr>
              <a:t>Key idea (Gregor &amp; LeCun, 2010):  unfold K ISTA iterations into a K-layer network and learn the update parameters from data.</a:t>
            </a:r>
          </a:p>
        </p:txBody>
      </p:sp>
      <p:sp>
        <p:nvSpPr>
          <p:cNvPr id="8" name="Rectangle 7"/>
          <p:cNvSpPr/>
          <p:nvPr/>
        </p:nvSpPr>
        <p:spPr>
          <a:xfrm>
            <a:off x="502920" y="1691640"/>
            <a:ext cx="5478627" cy="292608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5112867" cy="347472"/>
          </a:xfrm>
          <a:prstGeom prst="rect">
            <a:avLst/>
          </a:prstGeom>
          <a:noFill/>
        </p:spPr>
        <p:txBody>
          <a:bodyPr wrap="square">
            <a:spAutoFit/>
          </a:bodyPr>
          <a:lstStyle/>
          <a:p>
            <a:pPr algn="l"/>
            <a:r>
              <a:rPr sz="1600" b="1" i="0">
                <a:solidFill>
                  <a:srgbClr val="003F87"/>
                </a:solidFill>
                <a:latin typeface="Calibri"/>
              </a:rPr>
              <a:t>Classical ISTA  —  parameters fixed</a:t>
            </a:r>
          </a:p>
        </p:txBody>
      </p:sp>
      <p:pic>
        <p:nvPicPr>
          <p:cNvPr id="10" name="Picture 9" descr="image.png"/>
          <p:cNvPicPr>
            <a:picLocks noChangeAspect="1"/>
          </p:cNvPicPr>
          <p:nvPr/>
        </p:nvPicPr>
        <p:blipFill>
          <a:blip r:embed="rId2"/>
          <a:stretch>
            <a:fillRect/>
          </a:stretch>
        </p:blipFill>
        <p:spPr>
          <a:xfrm>
            <a:off x="640080" y="2286000"/>
            <a:ext cx="5120640" cy="871598"/>
          </a:xfrm>
          <a:prstGeom prst="rect">
            <a:avLst/>
          </a:prstGeom>
        </p:spPr>
      </p:pic>
      <p:pic>
        <p:nvPicPr>
          <p:cNvPr id="11" name="Picture 10" descr="image.png"/>
          <p:cNvPicPr>
            <a:picLocks noChangeAspect="1"/>
          </p:cNvPicPr>
          <p:nvPr/>
        </p:nvPicPr>
        <p:blipFill>
          <a:blip r:embed="rId3"/>
          <a:stretch>
            <a:fillRect/>
          </a:stretch>
        </p:blipFill>
        <p:spPr>
          <a:xfrm>
            <a:off x="640080" y="2926080"/>
            <a:ext cx="3657600" cy="856034"/>
          </a:xfrm>
          <a:prstGeom prst="rect">
            <a:avLst/>
          </a:prstGeom>
        </p:spPr>
      </p:pic>
      <p:sp>
        <p:nvSpPr>
          <p:cNvPr id="12" name="TextBox 11"/>
          <p:cNvSpPr txBox="1"/>
          <p:nvPr/>
        </p:nvSpPr>
        <p:spPr>
          <a:xfrm>
            <a:off x="685800" y="3611880"/>
            <a:ext cx="5112867" cy="365760"/>
          </a:xfrm>
          <a:prstGeom prst="rect">
            <a:avLst/>
          </a:prstGeom>
          <a:noFill/>
        </p:spPr>
        <p:txBody>
          <a:bodyPr wrap="square">
            <a:spAutoFit/>
          </a:bodyPr>
          <a:lstStyle/>
          <a:p>
            <a:pPr algn="l"/>
            <a:r>
              <a:rPr sz="1400" b="0" i="0">
                <a:solidFill>
                  <a:srgbClr val="4A5568"/>
                </a:solidFill>
                <a:latin typeface="Calibri"/>
              </a:rPr>
              <a:t>Parameters 1/L and θ = λ/L  are fixed constants.</a:t>
            </a:r>
          </a:p>
        </p:txBody>
      </p:sp>
      <p:sp>
        <p:nvSpPr>
          <p:cNvPr id="13" name="Rectangle 12"/>
          <p:cNvSpPr/>
          <p:nvPr/>
        </p:nvSpPr>
        <p:spPr>
          <a:xfrm>
            <a:off x="685800" y="4069080"/>
            <a:ext cx="5112867" cy="347472"/>
          </a:xfrm>
          <a:prstGeom prst="rect">
            <a:avLst/>
          </a:prstGeom>
          <a:solidFill>
            <a:srgbClr val="EEF4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87368"/>
            <a:ext cx="5021427" cy="320040"/>
          </a:xfrm>
          <a:prstGeom prst="rect">
            <a:avLst/>
          </a:prstGeom>
          <a:noFill/>
        </p:spPr>
        <p:txBody>
          <a:bodyPr wrap="square">
            <a:spAutoFit/>
          </a:bodyPr>
          <a:lstStyle/>
          <a:p>
            <a:pPr algn="ctr"/>
            <a:r>
              <a:rPr sz="1400" b="1" i="0">
                <a:solidFill>
                  <a:srgbClr val="4A5568"/>
                </a:solidFill>
                <a:latin typeface="Calibri"/>
              </a:rPr>
              <a:t>Fixed  —  no learning</a:t>
            </a:r>
          </a:p>
        </p:txBody>
      </p:sp>
      <p:sp>
        <p:nvSpPr>
          <p:cNvPr id="15" name="Rectangle 14"/>
          <p:cNvSpPr/>
          <p:nvPr/>
        </p:nvSpPr>
        <p:spPr>
          <a:xfrm>
            <a:off x="6210147" y="1691640"/>
            <a:ext cx="5478627" cy="2926080"/>
          </a:xfrm>
          <a:prstGeom prst="rect">
            <a:avLst/>
          </a:prstGeom>
          <a:solidFill>
            <a:srgbClr val="F0F8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3027" y="1828800"/>
            <a:ext cx="5112867" cy="347472"/>
          </a:xfrm>
          <a:prstGeom prst="rect">
            <a:avLst/>
          </a:prstGeom>
          <a:noFill/>
        </p:spPr>
        <p:txBody>
          <a:bodyPr wrap="square">
            <a:spAutoFit/>
          </a:bodyPr>
          <a:lstStyle/>
          <a:p>
            <a:pPr algn="l"/>
            <a:r>
              <a:rPr sz="1600" b="1" i="0">
                <a:solidFill>
                  <a:srgbClr val="003F87"/>
                </a:solidFill>
                <a:latin typeface="Calibri"/>
              </a:rPr>
              <a:t>Unrolled LISTA  —  parameters learned</a:t>
            </a:r>
          </a:p>
        </p:txBody>
      </p:sp>
      <p:pic>
        <p:nvPicPr>
          <p:cNvPr id="17" name="Picture 16" descr="image.png"/>
          <p:cNvPicPr>
            <a:picLocks noChangeAspect="1"/>
          </p:cNvPicPr>
          <p:nvPr/>
        </p:nvPicPr>
        <p:blipFill>
          <a:blip r:embed="rId4"/>
          <a:stretch>
            <a:fillRect/>
          </a:stretch>
        </p:blipFill>
        <p:spPr>
          <a:xfrm>
            <a:off x="6347307" y="2286000"/>
            <a:ext cx="4572000" cy="926897"/>
          </a:xfrm>
          <a:prstGeom prst="rect">
            <a:avLst/>
          </a:prstGeom>
        </p:spPr>
      </p:pic>
      <p:pic>
        <p:nvPicPr>
          <p:cNvPr id="18" name="Picture 17" descr="image.png"/>
          <p:cNvPicPr>
            <a:picLocks noChangeAspect="1"/>
          </p:cNvPicPr>
          <p:nvPr/>
        </p:nvPicPr>
        <p:blipFill>
          <a:blip r:embed="rId5"/>
          <a:stretch>
            <a:fillRect/>
          </a:stretch>
        </p:blipFill>
        <p:spPr>
          <a:xfrm>
            <a:off x="6347307" y="2926080"/>
            <a:ext cx="3657600" cy="879540"/>
          </a:xfrm>
          <a:prstGeom prst="rect">
            <a:avLst/>
          </a:prstGeom>
        </p:spPr>
      </p:pic>
      <p:sp>
        <p:nvSpPr>
          <p:cNvPr id="19" name="TextBox 18"/>
          <p:cNvSpPr txBox="1"/>
          <p:nvPr/>
        </p:nvSpPr>
        <p:spPr>
          <a:xfrm>
            <a:off x="6393027" y="3611880"/>
            <a:ext cx="5112867" cy="365760"/>
          </a:xfrm>
          <a:prstGeom prst="rect">
            <a:avLst/>
          </a:prstGeom>
          <a:noFill/>
        </p:spPr>
        <p:txBody>
          <a:bodyPr wrap="square">
            <a:spAutoFit/>
          </a:bodyPr>
          <a:lstStyle/>
          <a:p>
            <a:pPr algn="l"/>
            <a:r>
              <a:rPr sz="1400" b="0" i="0">
                <a:solidFill>
                  <a:srgbClr val="4A5568"/>
                </a:solidFill>
                <a:latin typeface="Calibri"/>
              </a:rPr>
              <a:t>W_x(k), W_y(k), θ_k  are learned per layer via BPTT.</a:t>
            </a:r>
          </a:p>
        </p:txBody>
      </p:sp>
      <p:sp>
        <p:nvSpPr>
          <p:cNvPr id="20" name="Rectangle 19"/>
          <p:cNvSpPr/>
          <p:nvPr/>
        </p:nvSpPr>
        <p:spPr>
          <a:xfrm>
            <a:off x="6393027" y="4069080"/>
            <a:ext cx="5112867" cy="347472"/>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747" y="4087368"/>
            <a:ext cx="5021427" cy="320040"/>
          </a:xfrm>
          <a:prstGeom prst="rect">
            <a:avLst/>
          </a:prstGeom>
          <a:noFill/>
        </p:spPr>
        <p:txBody>
          <a:bodyPr wrap="square">
            <a:spAutoFit/>
          </a:bodyPr>
          <a:lstStyle/>
          <a:p>
            <a:pPr algn="ctr"/>
            <a:r>
              <a:rPr sz="1400" b="1" i="0">
                <a:solidFill>
                  <a:srgbClr val="FFFFFF"/>
                </a:solidFill>
                <a:latin typeface="Calibri"/>
              </a:rPr>
              <a:t>~6 M parameters  —  learned end-to-end</a:t>
            </a:r>
          </a:p>
        </p:txBody>
      </p:sp>
      <p:sp>
        <p:nvSpPr>
          <p:cNvPr id="22" name="Rectangle 21"/>
          <p:cNvSpPr/>
          <p:nvPr/>
        </p:nvSpPr>
        <p:spPr>
          <a:xfrm>
            <a:off x="502920" y="4800600"/>
            <a:ext cx="11185855" cy="100584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800600"/>
            <a:ext cx="50292" cy="100584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4910328"/>
            <a:ext cx="10856671" cy="896112"/>
          </a:xfrm>
          <a:prstGeom prst="rect">
            <a:avLst/>
          </a:prstGeom>
          <a:noFill/>
        </p:spPr>
        <p:txBody>
          <a:bodyPr wrap="square">
            <a:spAutoFit/>
          </a:bodyPr>
          <a:lstStyle/>
          <a:p/>
          <a:p>
            <a:pPr>
              <a:spcBef>
                <a:spcPts val="200"/>
              </a:spcBef>
              <a:defRPr sz="1500">
                <a:solidFill>
                  <a:srgbClr val="1A1A2E"/>
                </a:solidFill>
                <a:latin typeface="Calibri"/>
              </a:defRPr>
            </a:pPr>
            <a:r>
              <a:t>MBDL principle:  preserve the known algorithmic structure (gradient step + soft-threshold);</a:t>
            </a:r>
          </a:p>
          <a:p>
            <a:pPr>
              <a:spcBef>
                <a:spcPts val="200"/>
              </a:spcBef>
              <a:defRPr sz="1500">
                <a:solidFill>
                  <a:srgbClr val="1A1A2E"/>
                </a:solidFill>
                <a:latin typeface="Calibri"/>
              </a:defRPr>
            </a:pPr>
            <a:r>
              <a:t>learn only what improves finite-depth reconstruction. Training minimizes  ‖x(K) − x*‖²  via BPTT.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The MBDL Ladder: LISTA → ALISTA → HyperLISTA</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6 / 16</a:t>
            </a:r>
          </a:p>
        </p:txBody>
      </p:sp>
      <p:sp>
        <p:nvSpPr>
          <p:cNvPr id="7" name="TextBox 6"/>
          <p:cNvSpPr txBox="1"/>
          <p:nvPr/>
        </p:nvSpPr>
        <p:spPr>
          <a:xfrm>
            <a:off x="502920" y="1188720"/>
            <a:ext cx="6705295" cy="320040"/>
          </a:xfrm>
          <a:prstGeom prst="rect">
            <a:avLst/>
          </a:prstGeom>
          <a:noFill/>
        </p:spPr>
        <p:txBody>
          <a:bodyPr wrap="square">
            <a:spAutoFit/>
          </a:bodyPr>
          <a:lstStyle/>
          <a:p>
            <a:pPr algn="l"/>
            <a:r>
              <a:rPr sz="1600" b="1" i="0">
                <a:solidFill>
                  <a:srgbClr val="003F87"/>
                </a:solidFill>
                <a:latin typeface="Calibri"/>
              </a:rPr>
              <a:t>LISTA  —  learn all matrices per layer,  ~6 M params:</a:t>
            </a:r>
          </a:p>
        </p:txBody>
      </p:sp>
      <p:pic>
        <p:nvPicPr>
          <p:cNvPr id="8" name="Picture 7" descr="image.png"/>
          <p:cNvPicPr>
            <a:picLocks noChangeAspect="1"/>
          </p:cNvPicPr>
          <p:nvPr/>
        </p:nvPicPr>
        <p:blipFill>
          <a:blip r:embed="rId2"/>
          <a:stretch>
            <a:fillRect/>
          </a:stretch>
        </p:blipFill>
        <p:spPr>
          <a:xfrm>
            <a:off x="502920" y="1554480"/>
            <a:ext cx="6400800" cy="991836"/>
          </a:xfrm>
          <a:prstGeom prst="rect">
            <a:avLst/>
          </a:prstGeom>
        </p:spPr>
      </p:pic>
      <p:sp>
        <p:nvSpPr>
          <p:cNvPr id="9" name="TextBox 8"/>
          <p:cNvSpPr txBox="1"/>
          <p:nvPr/>
        </p:nvSpPr>
        <p:spPr>
          <a:xfrm>
            <a:off x="502920" y="2331720"/>
            <a:ext cx="6705295" cy="320040"/>
          </a:xfrm>
          <a:prstGeom prst="rect">
            <a:avLst/>
          </a:prstGeom>
          <a:noFill/>
        </p:spPr>
        <p:txBody>
          <a:bodyPr wrap="square">
            <a:spAutoFit/>
          </a:bodyPr>
          <a:lstStyle/>
          <a:p>
            <a:pPr algn="l"/>
            <a:r>
              <a:rPr sz="1600" b="1" i="0">
                <a:solidFill>
                  <a:srgbClr val="003F87"/>
                </a:solidFill>
                <a:latin typeface="Calibri"/>
              </a:rPr>
              <a:t>ALISTA  —  W analytic, learn step sizes and thresholds,  32 params:</a:t>
            </a:r>
          </a:p>
        </p:txBody>
      </p:sp>
      <p:pic>
        <p:nvPicPr>
          <p:cNvPr id="10" name="Picture 9" descr="image.png"/>
          <p:cNvPicPr>
            <a:picLocks noChangeAspect="1"/>
          </p:cNvPicPr>
          <p:nvPr/>
        </p:nvPicPr>
        <p:blipFill>
          <a:blip r:embed="rId3"/>
          <a:stretch>
            <a:fillRect/>
          </a:stretch>
        </p:blipFill>
        <p:spPr>
          <a:xfrm>
            <a:off x="502920" y="2697480"/>
            <a:ext cx="5029200" cy="680139"/>
          </a:xfrm>
          <a:prstGeom prst="rect">
            <a:avLst/>
          </a:prstGeom>
        </p:spPr>
      </p:pic>
      <p:pic>
        <p:nvPicPr>
          <p:cNvPr id="11" name="Picture 10" descr="image.png"/>
          <p:cNvPicPr>
            <a:picLocks noChangeAspect="1"/>
          </p:cNvPicPr>
          <p:nvPr/>
        </p:nvPicPr>
        <p:blipFill>
          <a:blip r:embed="rId4"/>
          <a:stretch>
            <a:fillRect/>
          </a:stretch>
        </p:blipFill>
        <p:spPr>
          <a:xfrm>
            <a:off x="502920" y="3108960"/>
            <a:ext cx="6858000" cy="846399"/>
          </a:xfrm>
          <a:prstGeom prst="rect">
            <a:avLst/>
          </a:prstGeom>
        </p:spPr>
      </p:pic>
      <p:sp>
        <p:nvSpPr>
          <p:cNvPr id="12" name="TextBox 11"/>
          <p:cNvSpPr txBox="1"/>
          <p:nvPr/>
        </p:nvSpPr>
        <p:spPr>
          <a:xfrm>
            <a:off x="502920" y="3840480"/>
            <a:ext cx="6705295" cy="320040"/>
          </a:xfrm>
          <a:prstGeom prst="rect">
            <a:avLst/>
          </a:prstGeom>
          <a:noFill/>
        </p:spPr>
        <p:txBody>
          <a:bodyPr wrap="square">
            <a:spAutoFit/>
          </a:bodyPr>
          <a:lstStyle/>
          <a:p>
            <a:pPr algn="l"/>
            <a:r>
              <a:rPr sz="1600" b="1" i="0">
                <a:solidFill>
                  <a:srgbClr val="003F87"/>
                </a:solidFill>
                <a:latin typeface="Calibri"/>
              </a:rPr>
              <a:t>HyperLISTA  —  adaptive θ/β/p from residuals, 3 params (grid search, zero backprop):</a:t>
            </a:r>
          </a:p>
        </p:txBody>
      </p:sp>
      <p:pic>
        <p:nvPicPr>
          <p:cNvPr id="13" name="Picture 12" descr="image.png"/>
          <p:cNvPicPr>
            <a:picLocks noChangeAspect="1"/>
          </p:cNvPicPr>
          <p:nvPr/>
        </p:nvPicPr>
        <p:blipFill>
          <a:blip r:embed="rId5"/>
          <a:stretch>
            <a:fillRect/>
          </a:stretch>
        </p:blipFill>
        <p:spPr>
          <a:xfrm>
            <a:off x="502920" y="4206240"/>
            <a:ext cx="6400800" cy="622050"/>
          </a:xfrm>
          <a:prstGeom prst="rect">
            <a:avLst/>
          </a:prstGeom>
        </p:spPr>
      </p:pic>
      <p:pic>
        <p:nvPicPr>
          <p:cNvPr id="14" name="Picture 13" descr="image.png"/>
          <p:cNvPicPr>
            <a:picLocks noChangeAspect="1"/>
          </p:cNvPicPr>
          <p:nvPr/>
        </p:nvPicPr>
        <p:blipFill>
          <a:blip r:embed="rId6"/>
          <a:stretch>
            <a:fillRect/>
          </a:stretch>
        </p:blipFill>
        <p:spPr>
          <a:xfrm>
            <a:off x="502920" y="4663440"/>
            <a:ext cx="5029200" cy="1221190"/>
          </a:xfrm>
          <a:prstGeom prst="rect">
            <a:avLst/>
          </a:prstGeom>
        </p:spPr>
      </p:pic>
      <p:graphicFrame>
        <p:nvGraphicFramePr>
          <p:cNvPr id="15" name="Table 14"/>
          <p:cNvGraphicFramePr>
            <a:graphicFrameLocks noGrp="1"/>
          </p:cNvGraphicFramePr>
          <p:nvPr/>
        </p:nvGraphicFramePr>
        <p:xfrm>
          <a:off x="7573975" y="1188720"/>
          <a:ext cx="3931920" cy="1810512"/>
        </p:xfrm>
        <a:graphic>
          <a:graphicData uri="http://schemas.openxmlformats.org/drawingml/2006/table">
            <a:tbl>
              <a:tblPr firstRow="1" bandRow="1">
                <a:tableStyleId>{5C22544A-7EE6-4342-B048-85BDC9FD1C3A}</a:tableStyleId>
              </a:tblPr>
              <a:tblGrid>
                <a:gridCol w="1828800"/>
                <a:gridCol w="1005840"/>
                <a:gridCol w="1097280"/>
              </a:tblGrid>
              <a:tr h="301752">
                <a:tc>
                  <a:txBody>
                    <a:bodyPr/>
                    <a:lstStyle/>
                    <a:p>
                      <a:pPr>
                        <a:defRPr sz="1500" b="1">
                          <a:solidFill>
                            <a:srgbClr val="FFFFFF"/>
                          </a:solidFill>
                          <a:latin typeface="Calibri"/>
                        </a:defRPr>
                      </a:pPr>
                      <a:r>
                        <a:t>Model</a:t>
                      </a:r>
                    </a:p>
                  </a:txBody>
                  <a:tcPr>
                    <a:solidFill>
                      <a:srgbClr val="003F87"/>
                    </a:solidFill>
                  </a:tcPr>
                </a:tc>
                <a:tc>
                  <a:txBody>
                    <a:bodyPr/>
                    <a:lstStyle/>
                    <a:p>
                      <a:pPr>
                        <a:defRPr sz="1500" b="1">
                          <a:solidFill>
                            <a:srgbClr val="FFFFFF"/>
                          </a:solidFill>
                          <a:latin typeface="Calibri"/>
                        </a:defRPr>
                      </a:pPr>
                      <a:r>
                        <a:t>Params</a:t>
                      </a:r>
                    </a:p>
                  </a:txBody>
                  <a:tcPr>
                    <a:solidFill>
                      <a:srgbClr val="003F87"/>
                    </a:solidFill>
                  </a:tcPr>
                </a:tc>
                <a:tc>
                  <a:txBody>
                    <a:bodyPr/>
                    <a:lstStyle/>
                    <a:p>
                      <a:pPr>
                        <a:defRPr sz="1500" b="1">
                          <a:solidFill>
                            <a:srgbClr val="FFFFFF"/>
                          </a:solidFill>
                          <a:latin typeface="Calibri"/>
                        </a:defRPr>
                      </a:pPr>
                      <a:r>
                        <a:t>NMSE</a:t>
                      </a:r>
                    </a:p>
                  </a:txBody>
                  <a:tcPr>
                    <a:solidFill>
                      <a:srgbClr val="003F87"/>
                    </a:solidFill>
                  </a:tcPr>
                </a:tc>
              </a:tr>
              <a:tr h="301752">
                <a:tc>
                  <a:txBody>
                    <a:bodyPr/>
                    <a:lstStyle/>
                    <a:p>
                      <a:pPr>
                        <a:defRPr sz="1500">
                          <a:latin typeface="Calibri"/>
                        </a:defRPr>
                      </a:pPr>
                      <a:r>
                        <a:t>ISTA</a:t>
                      </a:r>
                    </a:p>
                  </a:txBody>
                  <a:tcPr>
                    <a:solidFill>
                      <a:srgbClr val="FFFFFF"/>
                    </a:solidFill>
                  </a:tcPr>
                </a:tc>
                <a:tc>
                  <a:txBody>
                    <a:bodyPr/>
                    <a:lstStyle/>
                    <a:p>
                      <a:pPr>
                        <a:defRPr sz="1500">
                          <a:latin typeface="Calibri"/>
                        </a:defRPr>
                      </a:pPr>
                      <a:r>
                        <a:t>0</a:t>
                      </a:r>
                    </a:p>
                  </a:txBody>
                  <a:tcPr>
                    <a:solidFill>
                      <a:srgbClr val="FFFFFF"/>
                    </a:solidFill>
                  </a:tcPr>
                </a:tc>
                <a:tc>
                  <a:txBody>
                    <a:bodyPr/>
                    <a:lstStyle/>
                    <a:p>
                      <a:pPr>
                        <a:defRPr sz="1500">
                          <a:latin typeface="Calibri"/>
                        </a:defRPr>
                      </a:pPr>
                      <a:r>
                        <a:t>−5.3 dB</a:t>
                      </a:r>
                    </a:p>
                  </a:txBody>
                  <a:tcPr>
                    <a:solidFill>
                      <a:srgbClr val="FFFFFF"/>
                    </a:solidFill>
                  </a:tcPr>
                </a:tc>
              </a:tr>
              <a:tr h="301752">
                <a:tc>
                  <a:txBody>
                    <a:bodyPr/>
                    <a:lstStyle/>
                    <a:p>
                      <a:pPr>
                        <a:defRPr sz="1500">
                          <a:latin typeface="Calibri"/>
                        </a:defRPr>
                      </a:pPr>
                      <a:r>
                        <a:t>FISTA</a:t>
                      </a:r>
                    </a:p>
                  </a:txBody>
                  <a:tcPr>
                    <a:solidFill>
                      <a:srgbClr val="EEF4FB"/>
                    </a:solidFill>
                  </a:tcPr>
                </a:tc>
                <a:tc>
                  <a:txBody>
                    <a:bodyPr/>
                    <a:lstStyle/>
                    <a:p>
                      <a:pPr>
                        <a:defRPr sz="1500">
                          <a:latin typeface="Calibri"/>
                        </a:defRPr>
                      </a:pPr>
                      <a:r>
                        <a:t>0</a:t>
                      </a:r>
                    </a:p>
                  </a:txBody>
                  <a:tcPr>
                    <a:solidFill>
                      <a:srgbClr val="EEF4FB"/>
                    </a:solidFill>
                  </a:tcPr>
                </a:tc>
                <a:tc>
                  <a:txBody>
                    <a:bodyPr/>
                    <a:lstStyle/>
                    <a:p>
                      <a:pPr>
                        <a:defRPr sz="1500">
                          <a:latin typeface="Calibri"/>
                        </a:defRPr>
                      </a:pPr>
                      <a:r>
                        <a:t>−11.0 dB</a:t>
                      </a:r>
                    </a:p>
                  </a:txBody>
                  <a:tcPr>
                    <a:solidFill>
                      <a:srgbClr val="EEF4FB"/>
                    </a:solidFill>
                  </a:tcPr>
                </a:tc>
              </a:tr>
              <a:tr h="301752">
                <a:tc>
                  <a:txBody>
                    <a:bodyPr/>
                    <a:lstStyle/>
                    <a:p>
                      <a:pPr>
                        <a:defRPr sz="1500">
                          <a:latin typeface="Calibri"/>
                        </a:defRPr>
                      </a:pPr>
                      <a:r>
                        <a:t>LISTA</a:t>
                      </a:r>
                    </a:p>
                  </a:txBody>
                  <a:tcPr>
                    <a:solidFill>
                      <a:srgbClr val="FFFFFF"/>
                    </a:solidFill>
                  </a:tcPr>
                </a:tc>
                <a:tc>
                  <a:txBody>
                    <a:bodyPr/>
                    <a:lstStyle/>
                    <a:p>
                      <a:pPr>
                        <a:defRPr sz="1500">
                          <a:latin typeface="Calibri"/>
                        </a:defRPr>
                      </a:pPr>
                      <a:r>
                        <a:t>6 M</a:t>
                      </a:r>
                    </a:p>
                  </a:txBody>
                  <a:tcPr>
                    <a:solidFill>
                      <a:srgbClr val="FFFFFF"/>
                    </a:solidFill>
                  </a:tcPr>
                </a:tc>
                <a:tc>
                  <a:txBody>
                    <a:bodyPr/>
                    <a:lstStyle/>
                    <a:p>
                      <a:pPr>
                        <a:defRPr sz="1500">
                          <a:latin typeface="Calibri"/>
                        </a:defRPr>
                      </a:pPr>
                      <a:r>
                        <a:t>−20.3 dB</a:t>
                      </a:r>
                    </a:p>
                  </a:txBody>
                  <a:tcPr>
                    <a:solidFill>
                      <a:srgbClr val="FFFFFF"/>
                    </a:solidFill>
                  </a:tcPr>
                </a:tc>
              </a:tr>
              <a:tr h="301752">
                <a:tc>
                  <a:txBody>
                    <a:bodyPr/>
                    <a:lstStyle/>
                    <a:p>
                      <a:pPr>
                        <a:defRPr sz="1500">
                          <a:latin typeface="Calibri"/>
                        </a:defRPr>
                      </a:pPr>
                      <a:r>
                        <a:t>ALISTA</a:t>
                      </a:r>
                    </a:p>
                  </a:txBody>
                  <a:tcPr>
                    <a:solidFill>
                      <a:srgbClr val="EEF4FB"/>
                    </a:solidFill>
                  </a:tcPr>
                </a:tc>
                <a:tc>
                  <a:txBody>
                    <a:bodyPr/>
                    <a:lstStyle/>
                    <a:p>
                      <a:pPr>
                        <a:defRPr sz="1500">
                          <a:latin typeface="Calibri"/>
                        </a:defRPr>
                      </a:pPr>
                      <a:r>
                        <a:t>32</a:t>
                      </a:r>
                    </a:p>
                  </a:txBody>
                  <a:tcPr>
                    <a:solidFill>
                      <a:srgbClr val="EEF4FB"/>
                    </a:solidFill>
                  </a:tcPr>
                </a:tc>
                <a:tc>
                  <a:txBody>
                    <a:bodyPr/>
                    <a:lstStyle/>
                    <a:p>
                      <a:pPr>
                        <a:defRPr sz="1500">
                          <a:latin typeface="Calibri"/>
                        </a:defRPr>
                      </a:pPr>
                      <a:r>
                        <a:t>−29.8 dB</a:t>
                      </a:r>
                    </a:p>
                  </a:txBody>
                  <a:tcPr>
                    <a:solidFill>
                      <a:srgbClr val="EEF4FB"/>
                    </a:solidFill>
                  </a:tcPr>
                </a:tc>
              </a:tr>
              <a:tr h="301752">
                <a:tc>
                  <a:txBody>
                    <a:bodyPr/>
                    <a:lstStyle/>
                    <a:p>
                      <a:pPr>
                        <a:defRPr sz="1500" b="1">
                          <a:solidFill>
                            <a:srgbClr val="003F87"/>
                          </a:solidFill>
                          <a:latin typeface="Calibri"/>
                        </a:defRPr>
                      </a:pPr>
                      <a:r>
                        <a:t>HyperLISTA</a:t>
                      </a:r>
                    </a:p>
                  </a:txBody>
                  <a:tcPr>
                    <a:solidFill>
                      <a:srgbClr val="D4EDFF"/>
                    </a:solidFill>
                  </a:tcPr>
                </a:tc>
                <a:tc>
                  <a:txBody>
                    <a:bodyPr/>
                    <a:lstStyle/>
                    <a:p>
                      <a:pPr>
                        <a:defRPr sz="1500" b="1">
                          <a:solidFill>
                            <a:srgbClr val="003F87"/>
                          </a:solidFill>
                          <a:latin typeface="Calibri"/>
                        </a:defRPr>
                      </a:pPr>
                      <a:r>
                        <a:t>3</a:t>
                      </a:r>
                    </a:p>
                  </a:txBody>
                  <a:tcPr>
                    <a:solidFill>
                      <a:srgbClr val="D4EDFF"/>
                    </a:solidFill>
                  </a:tcPr>
                </a:tc>
                <a:tc>
                  <a:txBody>
                    <a:bodyPr/>
                    <a:lstStyle/>
                    <a:p>
                      <a:pPr>
                        <a:defRPr sz="1500" b="1">
                          <a:solidFill>
                            <a:srgbClr val="003F87"/>
                          </a:solidFill>
                          <a:latin typeface="Calibri"/>
                        </a:defRPr>
                      </a:pPr>
                      <a:r>
                        <a:t>−61.4 dB</a:t>
                      </a:r>
                    </a:p>
                  </a:txBody>
                  <a:tcPr>
                    <a:solidFill>
                      <a:srgbClr val="D4EDFF"/>
                    </a:solidFill>
                  </a:tcPr>
                </a:tc>
              </a:tr>
            </a:tbl>
          </a:graphicData>
        </a:graphic>
      </p:graphicFrame>
      <p:sp>
        <p:nvSpPr>
          <p:cNvPr id="16" name="Rectangle 15"/>
          <p:cNvSpPr/>
          <p:nvPr/>
        </p:nvSpPr>
        <p:spPr>
          <a:xfrm>
            <a:off x="7573975" y="3794760"/>
            <a:ext cx="4114800" cy="1234440"/>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11135" y="3840480"/>
            <a:ext cx="3840480" cy="1143000"/>
          </a:xfrm>
          <a:prstGeom prst="rect">
            <a:avLst/>
          </a:prstGeom>
          <a:noFill/>
        </p:spPr>
        <p:txBody>
          <a:bodyPr wrap="square">
            <a:spAutoFit/>
          </a:bodyPr>
          <a:lstStyle/>
          <a:p>
            <a:r>
              <a:rPr sz="1600" b="1">
                <a:solidFill>
                  <a:srgbClr val="FFFFFF"/>
                </a:solidFill>
                <a:latin typeface="Calibri"/>
              </a:rPr>
              <a:t>More structure → fewer params → better performance</a:t>
            </a:r>
          </a:p>
          <a:p>
            <a:r>
              <a:rPr sz="1400">
                <a:solidFill>
                  <a:srgbClr val="F5A623"/>
                </a:solidFill>
                <a:latin typeface="Calibri"/>
              </a:rPr>
              <a:t>This is the MBDL principle in 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Our Design Space Study: What Should We Learn?</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7 / 16</a:t>
            </a:r>
          </a:p>
        </p:txBody>
      </p:sp>
      <p:sp>
        <p:nvSpPr>
          <p:cNvPr id="7" name="TextBox 6"/>
          <p:cNvSpPr txBox="1"/>
          <p:nvPr/>
        </p:nvSpPr>
        <p:spPr>
          <a:xfrm>
            <a:off x="502920" y="1188720"/>
            <a:ext cx="11185855" cy="347472"/>
          </a:xfrm>
          <a:prstGeom prst="rect">
            <a:avLst/>
          </a:prstGeom>
          <a:noFill/>
        </p:spPr>
        <p:txBody>
          <a:bodyPr wrap="square">
            <a:spAutoFit/>
          </a:bodyPr>
          <a:lstStyle/>
          <a:p>
            <a:pPr algn="l"/>
            <a:r>
              <a:rPr sz="1700" b="0" i="0">
                <a:solidFill>
                  <a:srgbClr val="1A1A2E"/>
                </a:solidFill>
                <a:latin typeface="Calibri"/>
              </a:rPr>
              <a:t>Research question:  LISTA learns 6 M parameters; HyperLISTA uses 3 scalars. What is the minimal useful set of learnable components?</a:t>
            </a:r>
          </a:p>
        </p:txBody>
      </p:sp>
      <p:sp>
        <p:nvSpPr>
          <p:cNvPr id="8" name="TextBox 7"/>
          <p:cNvSpPr txBox="1"/>
          <p:nvPr/>
        </p:nvSpPr>
        <p:spPr>
          <a:xfrm>
            <a:off x="502920" y="1627632"/>
            <a:ext cx="11185855" cy="320040"/>
          </a:xfrm>
          <a:prstGeom prst="rect">
            <a:avLst/>
          </a:prstGeom>
          <a:noFill/>
        </p:spPr>
        <p:txBody>
          <a:bodyPr wrap="square">
            <a:spAutoFit/>
          </a:bodyPr>
          <a:lstStyle/>
          <a:p>
            <a:pPr algn="l"/>
            <a:r>
              <a:rPr sz="1600" b="0" i="0">
                <a:solidFill>
                  <a:srgbClr val="1A1A2E"/>
                </a:solidFill>
                <a:latin typeface="Calibri"/>
              </a:rPr>
              <a:t>The ISTA gradient-correction update has two free scalar sequences:</a:t>
            </a:r>
          </a:p>
        </p:txBody>
      </p:sp>
      <p:pic>
        <p:nvPicPr>
          <p:cNvPr id="9" name="Picture 8" descr="image.png"/>
          <p:cNvPicPr>
            <a:picLocks noChangeAspect="1"/>
          </p:cNvPicPr>
          <p:nvPr/>
        </p:nvPicPr>
        <p:blipFill>
          <a:blip r:embed="rId2"/>
          <a:stretch>
            <a:fillRect/>
          </a:stretch>
        </p:blipFill>
        <p:spPr>
          <a:xfrm>
            <a:off x="1371600" y="2011680"/>
            <a:ext cx="8229600" cy="928468"/>
          </a:xfrm>
          <a:prstGeom prst="rect">
            <a:avLst/>
          </a:prstGeom>
        </p:spPr>
      </p:pic>
      <p:sp>
        <p:nvSpPr>
          <p:cNvPr id="10" name="TextBox 9"/>
          <p:cNvSpPr txBox="1"/>
          <p:nvPr/>
        </p:nvSpPr>
        <p:spPr>
          <a:xfrm>
            <a:off x="502920" y="2788920"/>
            <a:ext cx="11185855" cy="320040"/>
          </a:xfrm>
          <a:prstGeom prst="rect">
            <a:avLst/>
          </a:prstGeom>
          <a:noFill/>
        </p:spPr>
        <p:txBody>
          <a:bodyPr wrap="square">
            <a:spAutoFit/>
          </a:bodyPr>
          <a:lstStyle/>
          <a:p>
            <a:pPr algn="l"/>
            <a:r>
              <a:rPr sz="1600" b="0" i="0">
                <a:solidFill>
                  <a:srgbClr val="1A1A2E"/>
                </a:solidFill>
                <a:latin typeface="Calibri"/>
              </a:rPr>
              <a:t>We designed three models, each learning a different subset:</a:t>
            </a:r>
          </a:p>
        </p:txBody>
      </p:sp>
      <p:sp>
        <p:nvSpPr>
          <p:cNvPr id="11" name="Rectangle 10"/>
          <p:cNvSpPr/>
          <p:nvPr/>
        </p:nvSpPr>
        <p:spPr>
          <a:xfrm>
            <a:off x="502920" y="3200400"/>
            <a:ext cx="3652418" cy="2468880"/>
          </a:xfrm>
          <a:prstGeom prst="rect">
            <a:avLst/>
          </a:prstGeom>
          <a:solidFill>
            <a:srgbClr val="FFFFFF"/>
          </a:solidFill>
          <a:ln w="19050">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91840"/>
            <a:ext cx="3378098" cy="365760"/>
          </a:xfrm>
          <a:prstGeom prst="rect">
            <a:avLst/>
          </a:prstGeom>
          <a:noFill/>
        </p:spPr>
        <p:txBody>
          <a:bodyPr wrap="square">
            <a:spAutoFit/>
          </a:bodyPr>
          <a:lstStyle/>
          <a:p>
            <a:pPr algn="l"/>
            <a:r>
              <a:rPr sz="1700" b="1" i="0">
                <a:solidFill>
                  <a:srgbClr val="003F87"/>
                </a:solidFill>
                <a:latin typeface="Calibri"/>
              </a:rPr>
              <a:t>ThresholdISTA</a:t>
            </a:r>
          </a:p>
        </p:txBody>
      </p:sp>
      <p:sp>
        <p:nvSpPr>
          <p:cNvPr id="13" name="Rectangle 12"/>
          <p:cNvSpPr/>
          <p:nvPr/>
        </p:nvSpPr>
        <p:spPr>
          <a:xfrm>
            <a:off x="640080" y="3703320"/>
            <a:ext cx="1005840" cy="274320"/>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712463"/>
            <a:ext cx="987552" cy="256032"/>
          </a:xfrm>
          <a:prstGeom prst="rect">
            <a:avLst/>
          </a:prstGeom>
          <a:noFill/>
        </p:spPr>
        <p:txBody>
          <a:bodyPr wrap="square">
            <a:spAutoFit/>
          </a:bodyPr>
          <a:lstStyle/>
          <a:p>
            <a:pPr algn="ctr"/>
            <a:r>
              <a:rPr sz="1300" b="1" i="0">
                <a:solidFill>
                  <a:srgbClr val="FFFFFF"/>
                </a:solidFill>
                <a:latin typeface="Calibri"/>
              </a:rPr>
              <a:t>16 params</a:t>
            </a:r>
          </a:p>
        </p:txBody>
      </p:sp>
      <p:sp>
        <p:nvSpPr>
          <p:cNvPr id="15" name="TextBox 14"/>
          <p:cNvSpPr txBox="1"/>
          <p:nvPr/>
        </p:nvSpPr>
        <p:spPr>
          <a:xfrm>
            <a:off x="640080" y="4069080"/>
            <a:ext cx="3378098" cy="329184"/>
          </a:xfrm>
          <a:prstGeom prst="rect">
            <a:avLst/>
          </a:prstGeom>
          <a:noFill/>
        </p:spPr>
        <p:txBody>
          <a:bodyPr wrap="square">
            <a:spAutoFit/>
          </a:bodyPr>
          <a:lstStyle/>
          <a:p>
            <a:pPr algn="l"/>
            <a:r>
              <a:rPr sz="1400" b="0" i="0">
                <a:solidFill>
                  <a:srgbClr val="1A1A2E"/>
                </a:solidFill>
                <a:latin typeface="Calibri"/>
              </a:rPr>
              <a:t>Learns  θ₁, …, θ_K  only</a:t>
            </a:r>
          </a:p>
        </p:txBody>
      </p:sp>
      <p:sp>
        <p:nvSpPr>
          <p:cNvPr id="16" name="TextBox 15"/>
          <p:cNvSpPr txBox="1"/>
          <p:nvPr/>
        </p:nvSpPr>
        <p:spPr>
          <a:xfrm>
            <a:off x="640080" y="4416552"/>
            <a:ext cx="3378098" cy="329184"/>
          </a:xfrm>
          <a:prstGeom prst="rect">
            <a:avLst/>
          </a:prstGeom>
          <a:noFill/>
        </p:spPr>
        <p:txBody>
          <a:bodyPr wrap="square">
            <a:spAutoFit/>
          </a:bodyPr>
          <a:lstStyle/>
          <a:p>
            <a:pPr algn="l"/>
            <a:r>
              <a:rPr sz="1400" b="0" i="0">
                <a:solidFill>
                  <a:srgbClr val="1A1A2E"/>
                </a:solidFill>
                <a:latin typeface="Calibri"/>
              </a:rPr>
              <a:t>Step fixed at  γ = 1/L</a:t>
            </a:r>
          </a:p>
        </p:txBody>
      </p:sp>
      <p:sp>
        <p:nvSpPr>
          <p:cNvPr id="17" name="TextBox 16"/>
          <p:cNvSpPr txBox="1"/>
          <p:nvPr/>
        </p:nvSpPr>
        <p:spPr>
          <a:xfrm>
            <a:off x="640080" y="4764024"/>
            <a:ext cx="3378098" cy="329184"/>
          </a:xfrm>
          <a:prstGeom prst="rect">
            <a:avLst/>
          </a:prstGeom>
          <a:noFill/>
        </p:spPr>
        <p:txBody>
          <a:bodyPr wrap="square">
            <a:spAutoFit/>
          </a:bodyPr>
          <a:lstStyle/>
          <a:p>
            <a:pPr algn="l"/>
            <a:r>
              <a:rPr sz="1400" b="0" i="0">
                <a:solidFill>
                  <a:srgbClr val="1A1A2E"/>
                </a:solidFill>
                <a:latin typeface="Calibri"/>
              </a:rPr>
              <a:t>Init:  θ₀ = λ/L</a:t>
            </a:r>
          </a:p>
        </p:txBody>
      </p:sp>
      <p:sp>
        <p:nvSpPr>
          <p:cNvPr id="18" name="Rectangle 17"/>
          <p:cNvSpPr/>
          <p:nvPr/>
        </p:nvSpPr>
        <p:spPr>
          <a:xfrm>
            <a:off x="4223918" y="3200400"/>
            <a:ext cx="3652418" cy="2468880"/>
          </a:xfrm>
          <a:prstGeom prst="rect">
            <a:avLst/>
          </a:prstGeom>
          <a:solidFill>
            <a:srgbClr val="E8F5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61078" y="3291840"/>
            <a:ext cx="3378098" cy="365760"/>
          </a:xfrm>
          <a:prstGeom prst="rect">
            <a:avLst/>
          </a:prstGeom>
          <a:noFill/>
        </p:spPr>
        <p:txBody>
          <a:bodyPr wrap="square">
            <a:spAutoFit/>
          </a:bodyPr>
          <a:lstStyle/>
          <a:p>
            <a:pPr algn="l"/>
            <a:r>
              <a:rPr sz="1700" b="1" i="0">
                <a:solidFill>
                  <a:srgbClr val="00A3E0"/>
                </a:solidFill>
                <a:latin typeface="Calibri"/>
              </a:rPr>
              <a:t>StepISTA</a:t>
            </a:r>
          </a:p>
        </p:txBody>
      </p:sp>
      <p:sp>
        <p:nvSpPr>
          <p:cNvPr id="20" name="Rectangle 19"/>
          <p:cNvSpPr/>
          <p:nvPr/>
        </p:nvSpPr>
        <p:spPr>
          <a:xfrm>
            <a:off x="4361078" y="3703320"/>
            <a:ext cx="1005840" cy="2743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0222" y="3712463"/>
            <a:ext cx="987552" cy="256032"/>
          </a:xfrm>
          <a:prstGeom prst="rect">
            <a:avLst/>
          </a:prstGeom>
          <a:noFill/>
        </p:spPr>
        <p:txBody>
          <a:bodyPr wrap="square">
            <a:spAutoFit/>
          </a:bodyPr>
          <a:lstStyle/>
          <a:p>
            <a:pPr algn="ctr"/>
            <a:r>
              <a:rPr sz="1300" b="1" i="0">
                <a:solidFill>
                  <a:srgbClr val="FFFFFF"/>
                </a:solidFill>
                <a:latin typeface="Calibri"/>
              </a:rPr>
              <a:t>16 params</a:t>
            </a:r>
          </a:p>
        </p:txBody>
      </p:sp>
      <p:sp>
        <p:nvSpPr>
          <p:cNvPr id="22" name="TextBox 21"/>
          <p:cNvSpPr txBox="1"/>
          <p:nvPr/>
        </p:nvSpPr>
        <p:spPr>
          <a:xfrm>
            <a:off x="4361078" y="4069080"/>
            <a:ext cx="3378098" cy="329184"/>
          </a:xfrm>
          <a:prstGeom prst="rect">
            <a:avLst/>
          </a:prstGeom>
          <a:noFill/>
        </p:spPr>
        <p:txBody>
          <a:bodyPr wrap="square">
            <a:spAutoFit/>
          </a:bodyPr>
          <a:lstStyle/>
          <a:p>
            <a:pPr algn="l"/>
            <a:r>
              <a:rPr sz="1400" b="0" i="0">
                <a:solidFill>
                  <a:srgbClr val="1A1A2E"/>
                </a:solidFill>
                <a:latin typeface="Calibri"/>
              </a:rPr>
              <a:t>Learns  γ₁, …, γ_K  only</a:t>
            </a:r>
          </a:p>
        </p:txBody>
      </p:sp>
      <p:sp>
        <p:nvSpPr>
          <p:cNvPr id="23" name="TextBox 22"/>
          <p:cNvSpPr txBox="1"/>
          <p:nvPr/>
        </p:nvSpPr>
        <p:spPr>
          <a:xfrm>
            <a:off x="4361078" y="4416552"/>
            <a:ext cx="3378098" cy="329184"/>
          </a:xfrm>
          <a:prstGeom prst="rect">
            <a:avLst/>
          </a:prstGeom>
          <a:noFill/>
        </p:spPr>
        <p:txBody>
          <a:bodyPr wrap="square">
            <a:spAutoFit/>
          </a:bodyPr>
          <a:lstStyle/>
          <a:p>
            <a:pPr algn="l"/>
            <a:r>
              <a:rPr sz="1400" b="0" i="0">
                <a:solidFill>
                  <a:srgbClr val="1A1A2E"/>
                </a:solidFill>
                <a:latin typeface="Calibri"/>
              </a:rPr>
              <a:t>Threshold coupled:  θ_k = λγ_k</a:t>
            </a:r>
          </a:p>
        </p:txBody>
      </p:sp>
      <p:sp>
        <p:nvSpPr>
          <p:cNvPr id="24" name="TextBox 23"/>
          <p:cNvSpPr txBox="1"/>
          <p:nvPr/>
        </p:nvSpPr>
        <p:spPr>
          <a:xfrm>
            <a:off x="4361078" y="4764024"/>
            <a:ext cx="3378098" cy="329184"/>
          </a:xfrm>
          <a:prstGeom prst="rect">
            <a:avLst/>
          </a:prstGeom>
          <a:noFill/>
        </p:spPr>
        <p:txBody>
          <a:bodyPr wrap="square">
            <a:spAutoFit/>
          </a:bodyPr>
          <a:lstStyle/>
          <a:p>
            <a:pPr algn="l"/>
            <a:r>
              <a:rPr sz="1400" b="0" i="0">
                <a:solidFill>
                  <a:srgbClr val="1A1A2E"/>
                </a:solidFill>
                <a:latin typeface="Calibri"/>
              </a:rPr>
              <a:t>Init:  γ₀ = 1/L</a:t>
            </a:r>
          </a:p>
        </p:txBody>
      </p:sp>
      <p:sp>
        <p:nvSpPr>
          <p:cNvPr id="25" name="Rectangle 24"/>
          <p:cNvSpPr/>
          <p:nvPr/>
        </p:nvSpPr>
        <p:spPr>
          <a:xfrm>
            <a:off x="7944916" y="3200400"/>
            <a:ext cx="3652418" cy="2468880"/>
          </a:xfrm>
          <a:prstGeom prst="rect">
            <a:avLst/>
          </a:prstGeom>
          <a:solidFill>
            <a:srgbClr val="FFF8E8"/>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82076" y="3291840"/>
            <a:ext cx="3378098" cy="365760"/>
          </a:xfrm>
          <a:prstGeom prst="rect">
            <a:avLst/>
          </a:prstGeom>
          <a:noFill/>
        </p:spPr>
        <p:txBody>
          <a:bodyPr wrap="square">
            <a:spAutoFit/>
          </a:bodyPr>
          <a:lstStyle/>
          <a:p>
            <a:pPr algn="l"/>
            <a:r>
              <a:rPr sz="1700" b="1" i="0">
                <a:solidFill>
                  <a:srgbClr val="F5A623"/>
                </a:solidFill>
                <a:latin typeface="Calibri"/>
              </a:rPr>
              <a:t>StepThresholdISTA</a:t>
            </a:r>
          </a:p>
        </p:txBody>
      </p:sp>
      <p:sp>
        <p:nvSpPr>
          <p:cNvPr id="27" name="Rectangle 26"/>
          <p:cNvSpPr/>
          <p:nvPr/>
        </p:nvSpPr>
        <p:spPr>
          <a:xfrm>
            <a:off x="8082076" y="3703320"/>
            <a:ext cx="1005840" cy="2743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91220" y="3712463"/>
            <a:ext cx="987552" cy="256032"/>
          </a:xfrm>
          <a:prstGeom prst="rect">
            <a:avLst/>
          </a:prstGeom>
          <a:noFill/>
        </p:spPr>
        <p:txBody>
          <a:bodyPr wrap="square">
            <a:spAutoFit/>
          </a:bodyPr>
          <a:lstStyle/>
          <a:p>
            <a:pPr algn="ctr"/>
            <a:r>
              <a:rPr sz="1300" b="1" i="0">
                <a:solidFill>
                  <a:srgbClr val="FFFFFF"/>
                </a:solidFill>
                <a:latin typeface="Calibri"/>
              </a:rPr>
              <a:t>32 params</a:t>
            </a:r>
          </a:p>
        </p:txBody>
      </p:sp>
      <p:sp>
        <p:nvSpPr>
          <p:cNvPr id="29" name="TextBox 28"/>
          <p:cNvSpPr txBox="1"/>
          <p:nvPr/>
        </p:nvSpPr>
        <p:spPr>
          <a:xfrm>
            <a:off x="8082076" y="4069080"/>
            <a:ext cx="3378098" cy="329184"/>
          </a:xfrm>
          <a:prstGeom prst="rect">
            <a:avLst/>
          </a:prstGeom>
          <a:noFill/>
        </p:spPr>
        <p:txBody>
          <a:bodyPr wrap="square">
            <a:spAutoFit/>
          </a:bodyPr>
          <a:lstStyle/>
          <a:p>
            <a:pPr algn="l"/>
            <a:r>
              <a:rPr sz="1400" b="0" i="0">
                <a:solidFill>
                  <a:srgbClr val="1A1A2E"/>
                </a:solidFill>
                <a:latin typeface="Calibri"/>
              </a:rPr>
              <a:t>Learns both  γ_k  and  θ_k</a:t>
            </a:r>
          </a:p>
        </p:txBody>
      </p:sp>
      <p:sp>
        <p:nvSpPr>
          <p:cNvPr id="30" name="TextBox 29"/>
          <p:cNvSpPr txBox="1"/>
          <p:nvPr/>
        </p:nvSpPr>
        <p:spPr>
          <a:xfrm>
            <a:off x="8082076" y="4416552"/>
            <a:ext cx="3378098" cy="329184"/>
          </a:xfrm>
          <a:prstGeom prst="rect">
            <a:avLst/>
          </a:prstGeom>
          <a:noFill/>
        </p:spPr>
        <p:txBody>
          <a:bodyPr wrap="square">
            <a:spAutoFit/>
          </a:bodyPr>
          <a:lstStyle/>
          <a:p>
            <a:pPr algn="l"/>
            <a:r>
              <a:rPr sz="1400" b="0" i="0">
                <a:solidFill>
                  <a:srgbClr val="1A1A2E"/>
                </a:solidFill>
                <a:latin typeface="Calibri"/>
              </a:rPr>
              <a:t>independently per layer</a:t>
            </a:r>
          </a:p>
        </p:txBody>
      </p:sp>
      <p:sp>
        <p:nvSpPr>
          <p:cNvPr id="31" name="TextBox 30"/>
          <p:cNvSpPr txBox="1"/>
          <p:nvPr/>
        </p:nvSpPr>
        <p:spPr>
          <a:xfrm>
            <a:off x="8082076" y="4764024"/>
            <a:ext cx="3378098" cy="329184"/>
          </a:xfrm>
          <a:prstGeom prst="rect">
            <a:avLst/>
          </a:prstGeom>
          <a:noFill/>
        </p:spPr>
        <p:txBody>
          <a:bodyPr wrap="square">
            <a:spAutoFit/>
          </a:bodyPr>
          <a:lstStyle/>
          <a:p>
            <a:pPr algn="l"/>
            <a:r>
              <a:rPr sz="1400" b="0" i="0">
                <a:solidFill>
                  <a:srgbClr val="1A1A2E"/>
                </a:solidFill>
                <a:latin typeface="Calibri"/>
              </a:rPr>
              <a:t>Init:  ISTA values</a:t>
            </a:r>
          </a:p>
        </p:txBody>
      </p:sp>
      <p:sp>
        <p:nvSpPr>
          <p:cNvPr id="32" name="TextBox 31"/>
          <p:cNvSpPr txBox="1"/>
          <p:nvPr/>
        </p:nvSpPr>
        <p:spPr>
          <a:xfrm>
            <a:off x="502920" y="5806440"/>
            <a:ext cx="11185855" cy="274320"/>
          </a:xfrm>
          <a:prstGeom prst="rect">
            <a:avLst/>
          </a:prstGeom>
          <a:noFill/>
        </p:spPr>
        <p:txBody>
          <a:bodyPr wrap="square">
            <a:spAutoFit/>
          </a:bodyPr>
          <a:lstStyle/>
          <a:p>
            <a:pPr algn="l"/>
            <a:r>
              <a:rPr sz="1300" b="0" i="1">
                <a:solidFill>
                  <a:srgbClr val="4A5568"/>
                </a:solidFill>
                <a:latin typeface="Calibri"/>
              </a:rPr>
              <a:t>All parameters softplus-reparameterized (positivity). All initialized to reproduce ISTA exactly before training.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Our Results: Scalar Models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8 / 16</a:t>
            </a:r>
          </a:p>
        </p:txBody>
      </p:sp>
      <p:pic>
        <p:nvPicPr>
          <p:cNvPr id="7" name="Picture 6" descr="scalar_models.png"/>
          <p:cNvPicPr>
            <a:picLocks noChangeAspect="1"/>
          </p:cNvPicPr>
          <p:nvPr/>
        </p:nvPicPr>
        <p:blipFill>
          <a:blip r:embed="rId2"/>
          <a:stretch>
            <a:fillRect/>
          </a:stretch>
        </p:blipFill>
        <p:spPr>
          <a:xfrm>
            <a:off x="320040" y="1097280"/>
            <a:ext cx="6766560" cy="4229100"/>
          </a:xfrm>
          <a:prstGeom prst="rect">
            <a:avLst/>
          </a:prstGeom>
        </p:spPr>
      </p:pic>
      <p:graphicFrame>
        <p:nvGraphicFramePr>
          <p:cNvPr id="8" name="Table 7"/>
          <p:cNvGraphicFramePr>
            <a:graphicFrameLocks noGrp="1"/>
          </p:cNvGraphicFramePr>
          <p:nvPr/>
        </p:nvGraphicFramePr>
        <p:xfrm>
          <a:off x="7269480" y="1097280"/>
          <a:ext cx="4251960" cy="2112264"/>
        </p:xfrm>
        <a:graphic>
          <a:graphicData uri="http://schemas.openxmlformats.org/drawingml/2006/table">
            <a:tbl>
              <a:tblPr firstRow="1" bandRow="1">
                <a:tableStyleId>{5C22544A-7EE6-4342-B048-85BDC9FD1C3A}</a:tableStyleId>
              </a:tblPr>
              <a:tblGrid>
                <a:gridCol w="2148840"/>
                <a:gridCol w="1188720"/>
                <a:gridCol w="914400"/>
              </a:tblGrid>
              <a:tr h="301752">
                <a:tc>
                  <a:txBody>
                    <a:bodyPr/>
                    <a:lstStyle/>
                    <a:p>
                      <a:pPr>
                        <a:defRPr sz="1400" b="1">
                          <a:solidFill>
                            <a:srgbClr val="FFFFFF"/>
                          </a:solidFill>
                          <a:latin typeface="Calibri"/>
                        </a:defRPr>
                      </a:pPr>
                      <a:r>
                        <a:t>Model</a:t>
                      </a:r>
                    </a:p>
                  </a:txBody>
                  <a:tcPr>
                    <a:solidFill>
                      <a:srgbClr val="003F87"/>
                    </a:solidFill>
                  </a:tcPr>
                </a:tc>
                <a:tc>
                  <a:txBody>
                    <a:bodyPr/>
                    <a:lstStyle/>
                    <a:p>
                      <a:pPr>
                        <a:defRPr sz="1400" b="1">
                          <a:solidFill>
                            <a:srgbClr val="FFFFFF"/>
                          </a:solidFill>
                          <a:latin typeface="Calibri"/>
                        </a:defRPr>
                      </a:pPr>
                      <a:r>
                        <a:t>NMSE</a:t>
                      </a:r>
                    </a:p>
                  </a:txBody>
                  <a:tcPr>
                    <a:solidFill>
                      <a:srgbClr val="003F87"/>
                    </a:solidFill>
                  </a:tcPr>
                </a:tc>
                <a:tc>
                  <a:txBody>
                    <a:bodyPr/>
                    <a:lstStyle/>
                    <a:p>
                      <a:pPr>
                        <a:defRPr sz="1400" b="1">
                          <a:solidFill>
                            <a:srgbClr val="FFFFFF"/>
                          </a:solidFill>
                          <a:latin typeface="Calibri"/>
                        </a:defRPr>
                      </a:pPr>
                      <a:r>
                        <a:t>Params</a:t>
                      </a:r>
                    </a:p>
                  </a:txBody>
                  <a:tcPr>
                    <a:solidFill>
                      <a:srgbClr val="003F87"/>
                    </a:solidFill>
                  </a:tcPr>
                </a:tc>
              </a:tr>
              <a:tr h="301752">
                <a:tc>
                  <a:txBody>
                    <a:bodyPr/>
                    <a:lstStyle/>
                    <a:p>
                      <a:pPr>
                        <a:defRPr sz="1400">
                          <a:latin typeface="Calibri"/>
                        </a:defRPr>
                      </a:pPr>
                      <a:r>
                        <a:t>ISTA</a:t>
                      </a:r>
                    </a:p>
                  </a:txBody>
                  <a:tcPr>
                    <a:solidFill>
                      <a:srgbClr val="FFFFFF"/>
                    </a:solidFill>
                  </a:tcPr>
                </a:tc>
                <a:tc>
                  <a:txBody>
                    <a:bodyPr/>
                    <a:lstStyle/>
                    <a:p>
                      <a:pPr>
                        <a:defRPr sz="1400">
                          <a:latin typeface="Calibri"/>
                        </a:defRPr>
                      </a:pPr>
                      <a:r>
                        <a:t>−5.3 dB</a:t>
                      </a:r>
                    </a:p>
                  </a:txBody>
                  <a:tcPr>
                    <a:solidFill>
                      <a:srgbClr val="FFFFFF"/>
                    </a:solidFill>
                  </a:tcPr>
                </a:tc>
                <a:tc>
                  <a:txBody>
                    <a:bodyPr/>
                    <a:lstStyle/>
                    <a:p>
                      <a:pPr>
                        <a:defRPr sz="1400">
                          <a:latin typeface="Calibri"/>
                        </a:defRPr>
                      </a:pPr>
                      <a:r>
                        <a:t>0</a:t>
                      </a:r>
                    </a:p>
                  </a:txBody>
                  <a:tcPr>
                    <a:solidFill>
                      <a:srgbClr val="FFFFFF"/>
                    </a:solidFill>
                  </a:tcPr>
                </a:tc>
              </a:tr>
              <a:tr h="301752">
                <a:tc>
                  <a:txBody>
                    <a:bodyPr/>
                    <a:lstStyle/>
                    <a:p>
                      <a:pPr>
                        <a:defRPr sz="1400">
                          <a:latin typeface="Calibri"/>
                        </a:defRPr>
                      </a:pPr>
                      <a:r>
                        <a:t>FISTA</a:t>
                      </a:r>
                    </a:p>
                  </a:txBody>
                  <a:tcPr>
                    <a:solidFill>
                      <a:srgbClr val="EEF4FB"/>
                    </a:solidFill>
                  </a:tcPr>
                </a:tc>
                <a:tc>
                  <a:txBody>
                    <a:bodyPr/>
                    <a:lstStyle/>
                    <a:p>
                      <a:pPr>
                        <a:defRPr sz="1400">
                          <a:latin typeface="Calibri"/>
                        </a:defRPr>
                      </a:pPr>
                      <a:r>
                        <a:t>−11.0 dB</a:t>
                      </a:r>
                    </a:p>
                  </a:txBody>
                  <a:tcPr>
                    <a:solidFill>
                      <a:srgbClr val="EEF4FB"/>
                    </a:solidFill>
                  </a:tcPr>
                </a:tc>
                <a:tc>
                  <a:txBody>
                    <a:bodyPr/>
                    <a:lstStyle/>
                    <a:p>
                      <a:pPr>
                        <a:defRPr sz="1400">
                          <a:latin typeface="Calibri"/>
                        </a:defRPr>
                      </a:pPr>
                      <a:r>
                        <a:t>0</a:t>
                      </a:r>
                    </a:p>
                  </a:txBody>
                  <a:tcPr>
                    <a:solidFill>
                      <a:srgbClr val="EEF4FB"/>
                    </a:solidFill>
                  </a:tcPr>
                </a:tc>
              </a:tr>
              <a:tr h="301752">
                <a:tc>
                  <a:txBody>
                    <a:bodyPr/>
                    <a:lstStyle/>
                    <a:p>
                      <a:pPr>
                        <a:defRPr sz="1400">
                          <a:latin typeface="Calibri"/>
                        </a:defRPr>
                      </a:pPr>
                      <a:r>
                        <a:t>ThresholdISTA</a:t>
                      </a:r>
                    </a:p>
                  </a:txBody>
                  <a:tcPr>
                    <a:solidFill>
                      <a:srgbClr val="FFFFFF"/>
                    </a:solidFill>
                  </a:tcPr>
                </a:tc>
                <a:tc>
                  <a:txBody>
                    <a:bodyPr/>
                    <a:lstStyle/>
                    <a:p>
                      <a:pPr>
                        <a:defRPr sz="1400">
                          <a:latin typeface="Calibri"/>
                        </a:defRPr>
                      </a:pPr>
                      <a:r>
                        <a:t>−7.1 dB</a:t>
                      </a:r>
                    </a:p>
                  </a:txBody>
                  <a:tcPr>
                    <a:solidFill>
                      <a:srgbClr val="FFFFFF"/>
                    </a:solidFill>
                  </a:tcPr>
                </a:tc>
                <a:tc>
                  <a:txBody>
                    <a:bodyPr/>
                    <a:lstStyle/>
                    <a:p>
                      <a:pPr>
                        <a:defRPr sz="1400">
                          <a:latin typeface="Calibri"/>
                        </a:defRPr>
                      </a:pPr>
                      <a:r>
                        <a:t>16</a:t>
                      </a:r>
                    </a:p>
                  </a:txBody>
                  <a:tcPr>
                    <a:solidFill>
                      <a:srgbClr val="FFFFFF"/>
                    </a:solidFill>
                  </a:tcPr>
                </a:tc>
              </a:tr>
              <a:tr h="301752">
                <a:tc>
                  <a:txBody>
                    <a:bodyPr/>
                    <a:lstStyle/>
                    <a:p>
                      <a:pPr>
                        <a:defRPr sz="1400" b="1">
                          <a:latin typeface="Calibri"/>
                        </a:defRPr>
                      </a:pPr>
                      <a:r>
                        <a:t>StepISTA</a:t>
                      </a:r>
                    </a:p>
                  </a:txBody>
                  <a:tcPr>
                    <a:solidFill>
                      <a:srgbClr val="E8F5FF"/>
                    </a:solidFill>
                  </a:tcPr>
                </a:tc>
                <a:tc>
                  <a:txBody>
                    <a:bodyPr/>
                    <a:lstStyle/>
                    <a:p>
                      <a:pPr>
                        <a:defRPr sz="1400" b="1">
                          <a:latin typeface="Calibri"/>
                        </a:defRPr>
                      </a:pPr>
                      <a:r>
                        <a:t>−20.0 dB</a:t>
                      </a:r>
                    </a:p>
                  </a:txBody>
                  <a:tcPr>
                    <a:solidFill>
                      <a:srgbClr val="E8F5FF"/>
                    </a:solidFill>
                  </a:tcPr>
                </a:tc>
                <a:tc>
                  <a:txBody>
                    <a:bodyPr/>
                    <a:lstStyle/>
                    <a:p>
                      <a:pPr>
                        <a:defRPr sz="1400" b="1">
                          <a:latin typeface="Calibri"/>
                        </a:defRPr>
                      </a:pPr>
                      <a:r>
                        <a:t>16</a:t>
                      </a:r>
                    </a:p>
                  </a:txBody>
                  <a:tcPr>
                    <a:solidFill>
                      <a:srgbClr val="E8F5FF"/>
                    </a:solidFill>
                  </a:tcPr>
                </a:tc>
              </a:tr>
              <a:tr h="301752">
                <a:tc>
                  <a:txBody>
                    <a:bodyPr/>
                    <a:lstStyle/>
                    <a:p>
                      <a:pPr>
                        <a:defRPr sz="1400" b="1">
                          <a:solidFill>
                            <a:srgbClr val="003F87"/>
                          </a:solidFill>
                          <a:latin typeface="Calibri"/>
                        </a:defRPr>
                      </a:pPr>
                      <a:r>
                        <a:t>StepThresholdISTA</a:t>
                      </a:r>
                    </a:p>
                  </a:txBody>
                  <a:tcPr>
                    <a:solidFill>
                      <a:srgbClr val="D4EDFF"/>
                    </a:solidFill>
                  </a:tcPr>
                </a:tc>
                <a:tc>
                  <a:txBody>
                    <a:bodyPr/>
                    <a:lstStyle/>
                    <a:p>
                      <a:pPr>
                        <a:defRPr sz="1400" b="1">
                          <a:solidFill>
                            <a:srgbClr val="003F87"/>
                          </a:solidFill>
                          <a:latin typeface="Calibri"/>
                        </a:defRPr>
                      </a:pPr>
                      <a:r>
                        <a:t>−23.6 dB</a:t>
                      </a:r>
                    </a:p>
                  </a:txBody>
                  <a:tcPr>
                    <a:solidFill>
                      <a:srgbClr val="D4EDFF"/>
                    </a:solidFill>
                  </a:tcPr>
                </a:tc>
                <a:tc>
                  <a:txBody>
                    <a:bodyPr/>
                    <a:lstStyle/>
                    <a:p>
                      <a:pPr>
                        <a:defRPr sz="1400" b="1">
                          <a:solidFill>
                            <a:srgbClr val="003F87"/>
                          </a:solidFill>
                          <a:latin typeface="Calibri"/>
                        </a:defRPr>
                      </a:pPr>
                      <a:r>
                        <a:t>32</a:t>
                      </a:r>
                    </a:p>
                  </a:txBody>
                  <a:tcPr>
                    <a:solidFill>
                      <a:srgbClr val="D4EDFF"/>
                    </a:solidFill>
                  </a:tcPr>
                </a:tc>
              </a:tr>
              <a:tr h="301752">
                <a:tc>
                  <a:txBody>
                    <a:bodyPr/>
                    <a:lstStyle/>
                    <a:p>
                      <a:pPr>
                        <a:defRPr sz="1400">
                          <a:latin typeface="Calibri"/>
                        </a:defRPr>
                      </a:pPr>
                      <a:r>
                        <a:t>LISTA-L1  (ref.)</a:t>
                      </a:r>
                    </a:p>
                  </a:txBody>
                  <a:tcPr>
                    <a:solidFill>
                      <a:srgbClr val="EEF4FB"/>
                    </a:solidFill>
                  </a:tcPr>
                </a:tc>
                <a:tc>
                  <a:txBody>
                    <a:bodyPr/>
                    <a:lstStyle/>
                    <a:p>
                      <a:pPr>
                        <a:defRPr sz="1400">
                          <a:latin typeface="Calibri"/>
                        </a:defRPr>
                      </a:pPr>
                      <a:r>
                        <a:t>−20.3 dB</a:t>
                      </a:r>
                    </a:p>
                  </a:txBody>
                  <a:tcPr>
                    <a:solidFill>
                      <a:srgbClr val="EEF4FB"/>
                    </a:solidFill>
                  </a:tcPr>
                </a:tc>
                <a:tc>
                  <a:txBody>
                    <a:bodyPr/>
                    <a:lstStyle/>
                    <a:p>
                      <a:pPr>
                        <a:defRPr sz="1400">
                          <a:latin typeface="Calibri"/>
                        </a:defRPr>
                      </a:pPr>
                      <a:r>
                        <a:t>6 M</a:t>
                      </a:r>
                    </a:p>
                  </a:txBody>
                  <a:tcPr>
                    <a:solidFill>
                      <a:srgbClr val="EEF4FB"/>
                    </a:solidFill>
                  </a:tcPr>
                </a:tc>
              </a:tr>
            </a:tbl>
          </a:graphicData>
        </a:graphic>
      </p:graphicFrame>
      <p:sp>
        <p:nvSpPr>
          <p:cNvPr id="9" name="Rectangle 8"/>
          <p:cNvSpPr/>
          <p:nvPr/>
        </p:nvSpPr>
        <p:spPr>
          <a:xfrm>
            <a:off x="7269480" y="3886200"/>
            <a:ext cx="4572000" cy="1965960"/>
          </a:xfrm>
          <a:prstGeom prst="rect">
            <a:avLst/>
          </a:prstGeom>
          <a:solidFill>
            <a:srgbClr val="FFF8E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3886200"/>
            <a:ext cx="50292" cy="19659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3995928"/>
            <a:ext cx="4242816" cy="1856232"/>
          </a:xfrm>
          <a:prstGeom prst="rect">
            <a:avLst/>
          </a:prstGeom>
          <a:noFill/>
        </p:spPr>
        <p:txBody>
          <a:bodyPr wrap="square">
            <a:spAutoFit/>
          </a:bodyPr>
          <a:lstStyle/>
          <a:p>
            <a:pPr>
              <a:defRPr b="1" sz="1500">
                <a:solidFill>
                  <a:srgbClr val="7A4F00"/>
                </a:solidFill>
                <a:latin typeface="Calibri"/>
              </a:defRPr>
            </a:pPr>
            <a:r>
              <a:t>Key finding</a:t>
            </a:r>
          </a:p>
          <a:p>
            <a:pPr>
              <a:spcBef>
                <a:spcPts val="200"/>
              </a:spcBef>
              <a:defRPr sz="1300">
                <a:solidFill>
                  <a:srgbClr val="1A1A2E"/>
                </a:solidFill>
                <a:latin typeface="Calibri"/>
              </a:defRPr>
            </a:pPr>
            <a:r>
              <a:t>Learning γ_k alone (16 scalars) already</a:t>
            </a:r>
          </a:p>
          <a:p>
            <a:pPr>
              <a:spcBef>
                <a:spcPts val="200"/>
              </a:spcBef>
              <a:defRPr sz="1300">
                <a:solidFill>
                  <a:srgbClr val="1A1A2E"/>
                </a:solidFill>
                <a:latin typeface="Calibri"/>
              </a:defRPr>
            </a:pPr>
            <a:r>
              <a:t>matches full LISTA (6 M parameters).</a:t>
            </a:r>
          </a:p>
          <a:p>
            <a:pPr>
              <a:spcBef>
                <a:spcPts val="200"/>
              </a:spcBef>
              <a:defRPr sz="1300">
                <a:solidFill>
                  <a:srgbClr val="1A1A2E"/>
                </a:solidFill>
                <a:latin typeface="Calibri"/>
              </a:defRPr>
            </a:pPr>
          </a:p>
          <a:p>
            <a:pPr>
              <a:spcBef>
                <a:spcPts val="200"/>
              </a:spcBef>
              <a:defRPr sz="1300">
                <a:solidFill>
                  <a:srgbClr val="1A1A2E"/>
                </a:solidFill>
                <a:latin typeface="Calibri"/>
              </a:defRPr>
            </a:pPr>
            <a:r>
              <a:t>Decoupling θ_k adds 3 dB at zero extra cost.</a:t>
            </a:r>
          </a:p>
          <a:p>
            <a:pPr>
              <a:spcBef>
                <a:spcPts val="200"/>
              </a:spcBef>
              <a:defRPr sz="1300">
                <a:solidFill>
                  <a:srgbClr val="1A1A2E"/>
                </a:solidFill>
                <a:latin typeface="Calibri"/>
              </a:defRPr>
            </a:pPr>
          </a:p>
          <a:p>
            <a:pPr>
              <a:spcBef>
                <a:spcPts val="200"/>
              </a:spcBef>
              <a:defRPr sz="1300">
                <a:solidFill>
                  <a:srgbClr val="1A1A2E"/>
                </a:solidFill>
                <a:latin typeface="Calibri"/>
              </a:defRPr>
            </a:pPr>
            <a:r>
              <a:t>StepThresholdISTA beats LISTA-L1</a:t>
            </a:r>
          </a:p>
          <a:p>
            <a:pPr>
              <a:spcBef>
                <a:spcPts val="200"/>
              </a:spcBef>
              <a:defRPr sz="1300">
                <a:solidFill>
                  <a:srgbClr val="1A1A2E"/>
                </a:solidFill>
                <a:latin typeface="Calibri"/>
              </a:defRPr>
            </a:pPr>
            <a:r>
              <a:t>with 187,000× fewer parameters.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Training Methods for Unfolded Optimizers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9 / 16</a:t>
            </a:r>
          </a:p>
        </p:txBody>
      </p:sp>
      <p:sp>
        <p:nvSpPr>
          <p:cNvPr id="7" name="TextBox 6"/>
          <p:cNvSpPr txBox="1"/>
          <p:nvPr/>
        </p:nvSpPr>
        <p:spPr>
          <a:xfrm>
            <a:off x="502920" y="1170432"/>
            <a:ext cx="11185855" cy="320040"/>
          </a:xfrm>
          <a:prstGeom prst="rect">
            <a:avLst/>
          </a:prstGeom>
          <a:noFill/>
        </p:spPr>
        <p:txBody>
          <a:bodyPr wrap="square">
            <a:spAutoFit/>
          </a:bodyPr>
          <a:lstStyle/>
          <a:p>
            <a:pPr algn="l"/>
            <a:r>
              <a:rPr sz="1700" b="1" i="0">
                <a:solidFill>
                  <a:srgbClr val="003F87"/>
                </a:solidFill>
                <a:latin typeface="Calibri"/>
              </a:rPr>
              <a:t>Architecture fixed (LISTA). Only the training strategy changes.</a:t>
            </a:r>
          </a:p>
        </p:txBody>
      </p:sp>
      <p:sp>
        <p:nvSpPr>
          <p:cNvPr id="8" name="Rectangle 7"/>
          <p:cNvSpPr/>
          <p:nvPr/>
        </p:nvSpPr>
        <p:spPr>
          <a:xfrm>
            <a:off x="502920" y="1600200"/>
            <a:ext cx="3652418" cy="210312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73352"/>
            <a:ext cx="3378098" cy="347472"/>
          </a:xfrm>
          <a:prstGeom prst="rect">
            <a:avLst/>
          </a:prstGeom>
          <a:noFill/>
        </p:spPr>
        <p:txBody>
          <a:bodyPr wrap="square">
            <a:spAutoFit/>
          </a:bodyPr>
          <a:lstStyle/>
          <a:p>
            <a:pPr algn="l"/>
            <a:r>
              <a:rPr sz="1600" b="1" i="0">
                <a:solidFill>
                  <a:srgbClr val="003F87"/>
                </a:solidFill>
                <a:latin typeface="Calibri"/>
              </a:rPr>
              <a:t>L1 — End-to-end</a:t>
            </a:r>
          </a:p>
        </p:txBody>
      </p:sp>
      <p:pic>
        <p:nvPicPr>
          <p:cNvPr id="10" name="Picture 9" descr="image.png"/>
          <p:cNvPicPr>
            <a:picLocks noChangeAspect="1"/>
          </p:cNvPicPr>
          <p:nvPr/>
        </p:nvPicPr>
        <p:blipFill>
          <a:blip r:embed="rId2"/>
          <a:stretch>
            <a:fillRect/>
          </a:stretch>
        </p:blipFill>
        <p:spPr>
          <a:xfrm>
            <a:off x="594360" y="2103120"/>
            <a:ext cx="2834640" cy="733790"/>
          </a:xfrm>
          <a:prstGeom prst="rect">
            <a:avLst/>
          </a:prstGeom>
        </p:spPr>
      </p:pic>
      <p:sp>
        <p:nvSpPr>
          <p:cNvPr id="11" name="TextBox 10"/>
          <p:cNvSpPr txBox="1"/>
          <p:nvPr/>
        </p:nvSpPr>
        <p:spPr>
          <a:xfrm>
            <a:off x="640080" y="2971800"/>
            <a:ext cx="3378098" cy="640080"/>
          </a:xfrm>
          <a:prstGeom prst="rect">
            <a:avLst/>
          </a:prstGeom>
          <a:noFill/>
        </p:spPr>
        <p:txBody>
          <a:bodyPr wrap="square">
            <a:spAutoFit/>
          </a:bodyPr>
          <a:lstStyle/>
          <a:p>
            <a:pPr algn="l"/>
            <a:r>
              <a:rPr sz="1400" b="0" i="0">
                <a:solidFill>
                  <a:srgbClr val="1A1A2E"/>
                </a:solidFill>
                <a:latin typeface="Calibri"/>
              </a:rPr>
              <a:t>Supervise final output only.
Standard BPTT.</a:t>
            </a:r>
          </a:p>
        </p:txBody>
      </p:sp>
      <p:sp>
        <p:nvSpPr>
          <p:cNvPr id="12" name="Rectangle 11"/>
          <p:cNvSpPr/>
          <p:nvPr/>
        </p:nvSpPr>
        <p:spPr>
          <a:xfrm>
            <a:off x="4223918" y="1600200"/>
            <a:ext cx="3652418" cy="210312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078" y="1673352"/>
            <a:ext cx="3378098" cy="347472"/>
          </a:xfrm>
          <a:prstGeom prst="rect">
            <a:avLst/>
          </a:prstGeom>
          <a:noFill/>
        </p:spPr>
        <p:txBody>
          <a:bodyPr wrap="square">
            <a:spAutoFit/>
          </a:bodyPr>
          <a:lstStyle/>
          <a:p>
            <a:pPr algn="l"/>
            <a:r>
              <a:rPr sz="1600" b="1" i="0">
                <a:solidFill>
                  <a:srgbClr val="003F87"/>
                </a:solidFill>
                <a:latin typeface="Calibri"/>
              </a:rPr>
              <a:t>L2 — Deep Supervision</a:t>
            </a:r>
          </a:p>
        </p:txBody>
      </p:sp>
      <p:pic>
        <p:nvPicPr>
          <p:cNvPr id="14" name="Picture 13" descr="image.png"/>
          <p:cNvPicPr>
            <a:picLocks noChangeAspect="1"/>
          </p:cNvPicPr>
          <p:nvPr/>
        </p:nvPicPr>
        <p:blipFill>
          <a:blip r:embed="rId3"/>
          <a:stretch>
            <a:fillRect/>
          </a:stretch>
        </p:blipFill>
        <p:spPr>
          <a:xfrm>
            <a:off x="4315358" y="2103120"/>
            <a:ext cx="3469538" cy="582099"/>
          </a:xfrm>
          <a:prstGeom prst="rect">
            <a:avLst/>
          </a:prstGeom>
        </p:spPr>
      </p:pic>
      <p:sp>
        <p:nvSpPr>
          <p:cNvPr id="15" name="TextBox 14"/>
          <p:cNvSpPr txBox="1"/>
          <p:nvPr/>
        </p:nvSpPr>
        <p:spPr>
          <a:xfrm>
            <a:off x="4361078" y="2971800"/>
            <a:ext cx="3378098" cy="640080"/>
          </a:xfrm>
          <a:prstGeom prst="rect">
            <a:avLst/>
          </a:prstGeom>
          <a:noFill/>
        </p:spPr>
        <p:txBody>
          <a:bodyPr wrap="square">
            <a:spAutoFit/>
          </a:bodyPr>
          <a:lstStyle/>
          <a:p>
            <a:pPr algn="l"/>
            <a:r>
              <a:rPr sz="1400" b="0" i="0">
                <a:solidFill>
                  <a:srgbClr val="1A1A2E"/>
                </a:solidFill>
                <a:latin typeface="Calibri"/>
              </a:rPr>
              <a:t>Supervise every
intermediate layer.</a:t>
            </a:r>
          </a:p>
        </p:txBody>
      </p:sp>
      <p:sp>
        <p:nvSpPr>
          <p:cNvPr id="16" name="Rectangle 15"/>
          <p:cNvSpPr/>
          <p:nvPr/>
        </p:nvSpPr>
        <p:spPr>
          <a:xfrm>
            <a:off x="7944916" y="1600200"/>
            <a:ext cx="3652418" cy="210312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82076" y="1673352"/>
            <a:ext cx="3378098" cy="347472"/>
          </a:xfrm>
          <a:prstGeom prst="rect">
            <a:avLst/>
          </a:prstGeom>
          <a:noFill/>
        </p:spPr>
        <p:txBody>
          <a:bodyPr wrap="square">
            <a:spAutoFit/>
          </a:bodyPr>
          <a:lstStyle/>
          <a:p>
            <a:pPr algn="l"/>
            <a:r>
              <a:rPr sz="1600" b="1" i="0">
                <a:solidFill>
                  <a:srgbClr val="003F87"/>
                </a:solidFill>
                <a:latin typeface="Calibri"/>
              </a:rPr>
              <a:t>L3 — Greedy Layerwise</a:t>
            </a:r>
          </a:p>
        </p:txBody>
      </p:sp>
      <p:pic>
        <p:nvPicPr>
          <p:cNvPr id="18" name="Picture 17" descr="image.png"/>
          <p:cNvPicPr>
            <a:picLocks noChangeAspect="1"/>
          </p:cNvPicPr>
          <p:nvPr/>
        </p:nvPicPr>
        <p:blipFill>
          <a:blip r:embed="rId4"/>
          <a:stretch>
            <a:fillRect/>
          </a:stretch>
        </p:blipFill>
        <p:spPr>
          <a:xfrm>
            <a:off x="8036356" y="2103120"/>
            <a:ext cx="2286000" cy="762000"/>
          </a:xfrm>
          <a:prstGeom prst="rect">
            <a:avLst/>
          </a:prstGeom>
        </p:spPr>
      </p:pic>
      <p:sp>
        <p:nvSpPr>
          <p:cNvPr id="19" name="TextBox 18"/>
          <p:cNvSpPr txBox="1"/>
          <p:nvPr/>
        </p:nvSpPr>
        <p:spPr>
          <a:xfrm>
            <a:off x="8082076" y="2971800"/>
            <a:ext cx="3378098" cy="640080"/>
          </a:xfrm>
          <a:prstGeom prst="rect">
            <a:avLst/>
          </a:prstGeom>
          <a:noFill/>
        </p:spPr>
        <p:txBody>
          <a:bodyPr wrap="square">
            <a:spAutoFit/>
          </a:bodyPr>
          <a:lstStyle/>
          <a:p>
            <a:pPr algn="l"/>
            <a:r>
              <a:rPr sz="1400" b="0" i="0">
                <a:solidFill>
                  <a:srgbClr val="1A1A2E"/>
                </a:solidFill>
                <a:latin typeface="Calibri"/>
              </a:rPr>
              <a:t>Train layer k while
layers 1…k−1 frozen.</a:t>
            </a:r>
          </a:p>
        </p:txBody>
      </p:sp>
      <p:sp>
        <p:nvSpPr>
          <p:cNvPr id="20" name="TextBox 19"/>
          <p:cNvSpPr txBox="1"/>
          <p:nvPr/>
        </p:nvSpPr>
        <p:spPr>
          <a:xfrm>
            <a:off x="502920" y="3886200"/>
            <a:ext cx="11185855" cy="320040"/>
          </a:xfrm>
          <a:prstGeom prst="rect">
            <a:avLst/>
          </a:prstGeom>
          <a:noFill/>
        </p:spPr>
        <p:txBody>
          <a:bodyPr wrap="square">
            <a:spAutoFit/>
          </a:bodyPr>
          <a:lstStyle/>
          <a:p>
            <a:pPr algn="l"/>
            <a:r>
              <a:rPr sz="1700" b="1" i="0">
                <a:solidFill>
                  <a:srgbClr val="003F87"/>
                </a:solidFill>
                <a:latin typeface="Calibri"/>
              </a:rPr>
              <a:t>Tied vs. Untied weights:</a:t>
            </a:r>
          </a:p>
        </p:txBody>
      </p:sp>
      <p:graphicFrame>
        <p:nvGraphicFramePr>
          <p:cNvPr id="21" name="Table 20"/>
          <p:cNvGraphicFramePr>
            <a:graphicFrameLocks noGrp="1"/>
          </p:cNvGraphicFramePr>
          <p:nvPr/>
        </p:nvGraphicFramePr>
        <p:xfrm>
          <a:off x="502920" y="4251960"/>
          <a:ext cx="7772400" cy="1508760"/>
        </p:xfrm>
        <a:graphic>
          <a:graphicData uri="http://schemas.openxmlformats.org/drawingml/2006/table">
            <a:tbl>
              <a:tblPr firstRow="1" bandRow="1">
                <a:tableStyleId>{5C22544A-7EE6-4342-B048-85BDC9FD1C3A}</a:tableStyleId>
              </a:tblPr>
              <a:tblGrid>
                <a:gridCol w="1188720"/>
                <a:gridCol w="3291840"/>
                <a:gridCol w="3291840"/>
              </a:tblGrid>
              <a:tr h="301752">
                <a:tc>
                  <a:txBody>
                    <a:bodyPr/>
                    <a:lstStyle/>
                    <a:p>
                      <a:pPr>
                        <a:defRPr sz="1400" b="1">
                          <a:solidFill>
                            <a:srgbClr val="FFFFFF"/>
                          </a:solidFill>
                          <a:latin typeface="Calibri"/>
                        </a:defRPr>
                      </a:pPr>
                    </a:p>
                  </a:txBody>
                  <a:tcPr>
                    <a:solidFill>
                      <a:srgbClr val="003F87"/>
                    </a:solidFill>
                  </a:tcPr>
                </a:tc>
                <a:tc>
                  <a:txBody>
                    <a:bodyPr/>
                    <a:lstStyle/>
                    <a:p>
                      <a:pPr>
                        <a:defRPr sz="1400" b="1">
                          <a:solidFill>
                            <a:srgbClr val="FFFFFF"/>
                          </a:solidFill>
                          <a:latin typeface="Calibri"/>
                        </a:defRPr>
                      </a:pPr>
                      <a:r>
                        <a:t>Untied LISTA</a:t>
                      </a:r>
                    </a:p>
                  </a:txBody>
                  <a:tcPr>
                    <a:solidFill>
                      <a:srgbClr val="003F87"/>
                    </a:solidFill>
                  </a:tcPr>
                </a:tc>
                <a:tc>
                  <a:txBody>
                    <a:bodyPr/>
                    <a:lstStyle/>
                    <a:p>
                      <a:pPr>
                        <a:defRPr sz="1400" b="1">
                          <a:solidFill>
                            <a:srgbClr val="FFFFFF"/>
                          </a:solidFill>
                          <a:latin typeface="Calibri"/>
                        </a:defRPr>
                      </a:pPr>
                      <a:r>
                        <a:t>Tied LISTA</a:t>
                      </a:r>
                    </a:p>
                  </a:txBody>
                  <a:tcPr>
                    <a:solidFill>
                      <a:srgbClr val="003F87"/>
                    </a:solidFill>
                  </a:tcPr>
                </a:tc>
              </a:tr>
              <a:tr h="301752">
                <a:tc>
                  <a:txBody>
                    <a:bodyPr/>
                    <a:lstStyle/>
                    <a:p>
                      <a:pPr>
                        <a:defRPr sz="1400">
                          <a:latin typeface="Calibri"/>
                        </a:defRPr>
                      </a:pPr>
                      <a:r>
                        <a:t>Weights</a:t>
                      </a:r>
                    </a:p>
                  </a:txBody>
                  <a:tcPr>
                    <a:solidFill>
                      <a:srgbClr val="FFFFFF"/>
                    </a:solidFill>
                  </a:tcPr>
                </a:tc>
                <a:tc>
                  <a:txBody>
                    <a:bodyPr/>
                    <a:lstStyle/>
                    <a:p>
                      <a:pPr>
                        <a:defRPr sz="1400">
                          <a:latin typeface="Calibri"/>
                        </a:defRPr>
                      </a:pPr>
                      <a:r>
                        <a:t>Independent per layer</a:t>
                      </a:r>
                    </a:p>
                  </a:txBody>
                  <a:tcPr>
                    <a:solidFill>
                      <a:srgbClr val="FFFFFF"/>
                    </a:solidFill>
                  </a:tcPr>
                </a:tc>
                <a:tc>
                  <a:txBody>
                    <a:bodyPr/>
                    <a:lstStyle/>
                    <a:p>
                      <a:pPr>
                        <a:defRPr sz="1400">
                          <a:latin typeface="Calibri"/>
                        </a:defRPr>
                      </a:pPr>
                      <a:r>
                        <a:t>Single shared (Wx, Wy, θ)</a:t>
                      </a:r>
                    </a:p>
                  </a:txBody>
                  <a:tcPr>
                    <a:solidFill>
                      <a:srgbClr val="FFFFFF"/>
                    </a:solidFill>
                  </a:tcPr>
                </a:tc>
              </a:tr>
              <a:tr h="301752">
                <a:tc>
                  <a:txBody>
                    <a:bodyPr/>
                    <a:lstStyle/>
                    <a:p>
                      <a:pPr>
                        <a:defRPr sz="1400">
                          <a:latin typeface="Calibri"/>
                        </a:defRPr>
                      </a:pPr>
                      <a:r>
                        <a:t>Params</a:t>
                      </a:r>
                    </a:p>
                  </a:txBody>
                  <a:tcPr>
                    <a:solidFill>
                      <a:srgbClr val="EEF4FB"/>
                    </a:solidFill>
                  </a:tcPr>
                </a:tc>
                <a:tc>
                  <a:txBody>
                    <a:bodyPr/>
                    <a:lstStyle/>
                    <a:p>
                      <a:pPr>
                        <a:defRPr sz="1400">
                          <a:latin typeface="Calibri"/>
                        </a:defRPr>
                      </a:pPr>
                      <a:r>
                        <a:t>~6 M</a:t>
                      </a:r>
                    </a:p>
                  </a:txBody>
                  <a:tcPr>
                    <a:solidFill>
                      <a:srgbClr val="EEF4FB"/>
                    </a:solidFill>
                  </a:tcPr>
                </a:tc>
                <a:tc>
                  <a:txBody>
                    <a:bodyPr/>
                    <a:lstStyle/>
                    <a:p>
                      <a:pPr>
                        <a:defRPr sz="1400">
                          <a:latin typeface="Calibri"/>
                        </a:defRPr>
                      </a:pPr>
                      <a:r>
                        <a:t>375 K</a:t>
                      </a:r>
                    </a:p>
                  </a:txBody>
                  <a:tcPr>
                    <a:solidFill>
                      <a:srgbClr val="EEF4FB"/>
                    </a:solidFill>
                  </a:tcPr>
                </a:tc>
              </a:tr>
              <a:tr h="301752">
                <a:tc>
                  <a:txBody>
                    <a:bodyPr/>
                    <a:lstStyle/>
                    <a:p>
                      <a:pPr>
                        <a:defRPr sz="1400">
                          <a:latin typeface="Calibri"/>
                        </a:defRPr>
                      </a:pPr>
                      <a:r>
                        <a:t>Style</a:t>
                      </a:r>
                    </a:p>
                  </a:txBody>
                  <a:tcPr>
                    <a:solidFill>
                      <a:srgbClr val="FFFFFF"/>
                    </a:solidFill>
                  </a:tcPr>
                </a:tc>
                <a:tc>
                  <a:txBody>
                    <a:bodyPr/>
                    <a:lstStyle/>
                    <a:p>
                      <a:pPr>
                        <a:defRPr sz="1400">
                          <a:latin typeface="Calibri"/>
                        </a:defRPr>
                      </a:pPr>
                      <a:r>
                        <a:t>Fully flexible</a:t>
                      </a:r>
                    </a:p>
                  </a:txBody>
                  <a:tcPr>
                    <a:solidFill>
                      <a:srgbClr val="FFFFFF"/>
                    </a:solidFill>
                  </a:tcPr>
                </a:tc>
                <a:tc>
                  <a:txBody>
                    <a:bodyPr/>
                    <a:lstStyle/>
                    <a:p>
                      <a:pPr>
                        <a:defRPr sz="1400">
                          <a:latin typeface="Calibri"/>
                        </a:defRPr>
                      </a:pPr>
                      <a:r>
                        <a:t>RNN-like</a:t>
                      </a:r>
                    </a:p>
                  </a:txBody>
                  <a:tcPr>
                    <a:solidFill>
                      <a:srgbClr val="FFFFFF"/>
                    </a:solidFill>
                  </a:tcPr>
                </a:tc>
              </a:tr>
              <a:tr h="301752">
                <a:tc>
                  <a:txBody>
                    <a:bodyPr/>
                    <a:lstStyle/>
                    <a:p>
                      <a:pPr>
                        <a:defRPr sz="1400">
                          <a:latin typeface="Calibri"/>
                        </a:defRPr>
                      </a:pPr>
                      <a:r>
                        <a:t>Effect</a:t>
                      </a:r>
                    </a:p>
                  </a:txBody>
                  <a:tcPr>
                    <a:solidFill>
                      <a:srgbClr val="EEF4FB"/>
                    </a:solidFill>
                  </a:tcPr>
                </a:tc>
                <a:tc>
                  <a:txBody>
                    <a:bodyPr/>
                    <a:lstStyle/>
                    <a:p>
                      <a:pPr>
                        <a:defRPr sz="1400">
                          <a:latin typeface="Calibri"/>
                        </a:defRPr>
                      </a:pPr>
                      <a:r>
                        <a:t>Hard to optimize</a:t>
                      </a:r>
                    </a:p>
                  </a:txBody>
                  <a:tcPr>
                    <a:solidFill>
                      <a:srgbClr val="EEF4FB"/>
                    </a:solidFill>
                  </a:tcPr>
                </a:tc>
                <a:tc>
                  <a:txBody>
                    <a:bodyPr/>
                    <a:lstStyle/>
                    <a:p>
                      <a:pPr>
                        <a:defRPr sz="1400">
                          <a:latin typeface="Calibri"/>
                        </a:defRPr>
                      </a:pPr>
                      <a:r>
                        <a:t>Smoother loss landscape</a:t>
                      </a:r>
                    </a:p>
                  </a:txBody>
                  <a:tcPr>
                    <a:solidFill>
                      <a:srgbClr val="EEF4FB"/>
                    </a:solidFill>
                  </a:tcPr>
                </a:tc>
              </a:tr>
            </a:tbl>
          </a:graphicData>
        </a:graphic>
      </p:graphicFrame>
      <p:sp>
        <p:nvSpPr>
          <p:cNvPr id="22" name="Rectangle 21"/>
          <p:cNvSpPr/>
          <p:nvPr/>
        </p:nvSpPr>
        <p:spPr>
          <a:xfrm>
            <a:off x="8595360" y="4251960"/>
            <a:ext cx="3291840" cy="160020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251960"/>
            <a:ext cx="50292" cy="16002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87384" y="4361688"/>
            <a:ext cx="2962656" cy="1490472"/>
          </a:xfrm>
          <a:prstGeom prst="rect">
            <a:avLst/>
          </a:prstGeom>
          <a:noFill/>
        </p:spPr>
        <p:txBody>
          <a:bodyPr wrap="square">
            <a:spAutoFit/>
          </a:bodyPr>
          <a:lstStyle/>
          <a:p/>
          <a:p>
            <a:pPr>
              <a:spcBef>
                <a:spcPts val="200"/>
              </a:spcBef>
              <a:defRPr sz="1200">
                <a:solidFill>
                  <a:srgbClr val="1A1A2E"/>
                </a:solidFill>
                <a:latin typeface="Calibri"/>
              </a:defRPr>
            </a:pPr>
            <a:r>
              <a:t>Weight tying = implicit regularization.</a:t>
            </a:r>
          </a:p>
          <a:p>
            <a:pPr>
              <a:spcBef>
                <a:spcPts val="200"/>
              </a:spcBef>
              <a:defRPr sz="1200">
                <a:solidFill>
                  <a:srgbClr val="1A1A2E"/>
                </a:solidFill>
                <a:latin typeface="Calibri"/>
              </a:defRPr>
            </a:pPr>
          </a:p>
          <a:p>
            <a:pPr>
              <a:spcBef>
                <a:spcPts val="200"/>
              </a:spcBef>
              <a:defRPr sz="1200">
                <a:solidFill>
                  <a:srgbClr val="1A1A2E"/>
                </a:solidFill>
                <a:latin typeface="Calibri"/>
              </a:defRPr>
            </a:pPr>
            <a:r>
              <a:t>LISTA-Tied-L1:  −19.1 dB @ 375 K</a:t>
            </a:r>
          </a:p>
          <a:p>
            <a:pPr>
              <a:spcBef>
                <a:spcPts val="200"/>
              </a:spcBef>
              <a:defRPr sz="1200">
                <a:solidFill>
                  <a:srgbClr val="1A1A2E"/>
                </a:solidFill>
                <a:latin typeface="Calibri"/>
              </a:defRPr>
            </a:pPr>
            <a:r>
              <a:t>LISTA-L1:  −20.3 dB @ 6 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Synthetic Sparse Recovery Results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10 / 16</a:t>
            </a:r>
          </a:p>
        </p:txBody>
      </p:sp>
      <p:pic>
        <p:nvPicPr>
          <p:cNvPr id="7" name="Picture 6" descr="main_models.png"/>
          <p:cNvPicPr>
            <a:picLocks noChangeAspect="1"/>
          </p:cNvPicPr>
          <p:nvPr/>
        </p:nvPicPr>
        <p:blipFill>
          <a:blip r:embed="rId2"/>
          <a:stretch>
            <a:fillRect/>
          </a:stretch>
        </p:blipFill>
        <p:spPr>
          <a:xfrm>
            <a:off x="320040" y="1097280"/>
            <a:ext cx="6766560" cy="4511040"/>
          </a:xfrm>
          <a:prstGeom prst="rect">
            <a:avLst/>
          </a:prstGeom>
        </p:spPr>
      </p:pic>
      <p:graphicFrame>
        <p:nvGraphicFramePr>
          <p:cNvPr id="8" name="Table 7"/>
          <p:cNvGraphicFramePr>
            <a:graphicFrameLocks noGrp="1"/>
          </p:cNvGraphicFramePr>
          <p:nvPr/>
        </p:nvGraphicFramePr>
        <p:xfrm>
          <a:off x="7269480" y="1097280"/>
          <a:ext cx="4297680" cy="2715768"/>
        </p:xfrm>
        <a:graphic>
          <a:graphicData uri="http://schemas.openxmlformats.org/drawingml/2006/table">
            <a:tbl>
              <a:tblPr firstRow="1" bandRow="1">
                <a:tableStyleId>{5C22544A-7EE6-4342-B048-85BDC9FD1C3A}</a:tableStyleId>
              </a:tblPr>
              <a:tblGrid>
                <a:gridCol w="2103120"/>
                <a:gridCol w="1280160"/>
                <a:gridCol w="914400"/>
              </a:tblGrid>
              <a:tr h="301752">
                <a:tc>
                  <a:txBody>
                    <a:bodyPr/>
                    <a:lstStyle/>
                    <a:p>
                      <a:pPr>
                        <a:defRPr sz="1300" b="1">
                          <a:solidFill>
                            <a:srgbClr val="FFFFFF"/>
                          </a:solidFill>
                          <a:latin typeface="Calibri"/>
                        </a:defRPr>
                      </a:pPr>
                      <a:r>
                        <a:t>Method</a:t>
                      </a:r>
                    </a:p>
                  </a:txBody>
                  <a:tcPr>
                    <a:solidFill>
                      <a:srgbClr val="003F87"/>
                    </a:solidFill>
                  </a:tcPr>
                </a:tc>
                <a:tc>
                  <a:txBody>
                    <a:bodyPr/>
                    <a:lstStyle/>
                    <a:p>
                      <a:pPr>
                        <a:defRPr sz="1300" b="1">
                          <a:solidFill>
                            <a:srgbClr val="FFFFFF"/>
                          </a:solidFill>
                          <a:latin typeface="Calibri"/>
                        </a:defRPr>
                      </a:pPr>
                      <a:r>
                        <a:t>NMSE</a:t>
                      </a:r>
                    </a:p>
                  </a:txBody>
                  <a:tcPr>
                    <a:solidFill>
                      <a:srgbClr val="003F87"/>
                    </a:solidFill>
                  </a:tcPr>
                </a:tc>
                <a:tc>
                  <a:txBody>
                    <a:bodyPr/>
                    <a:lstStyle/>
                    <a:p>
                      <a:pPr>
                        <a:defRPr sz="1300" b="1">
                          <a:solidFill>
                            <a:srgbClr val="FFFFFF"/>
                          </a:solidFill>
                          <a:latin typeface="Calibri"/>
                        </a:defRPr>
                      </a:pPr>
                      <a:r>
                        <a:t>Params</a:t>
                      </a:r>
                    </a:p>
                  </a:txBody>
                  <a:tcPr>
                    <a:solidFill>
                      <a:srgbClr val="003F87"/>
                    </a:solidFill>
                  </a:tcPr>
                </a:tc>
              </a:tr>
              <a:tr h="301752">
                <a:tc>
                  <a:txBody>
                    <a:bodyPr/>
                    <a:lstStyle/>
                    <a:p>
                      <a:pPr>
                        <a:defRPr sz="1300">
                          <a:latin typeface="Calibri"/>
                        </a:defRPr>
                      </a:pPr>
                      <a:r>
                        <a:t>ISTA</a:t>
                      </a:r>
                    </a:p>
                  </a:txBody>
                  <a:tcPr>
                    <a:solidFill>
                      <a:srgbClr val="FFFFFF"/>
                    </a:solidFill>
                  </a:tcPr>
                </a:tc>
                <a:tc>
                  <a:txBody>
                    <a:bodyPr/>
                    <a:lstStyle/>
                    <a:p>
                      <a:pPr>
                        <a:defRPr sz="1300">
                          <a:latin typeface="Calibri"/>
                        </a:defRPr>
                      </a:pPr>
                      <a:r>
                        <a:t>−5.3 dB</a:t>
                      </a:r>
                    </a:p>
                  </a:txBody>
                  <a:tcPr>
                    <a:solidFill>
                      <a:srgbClr val="FFFFFF"/>
                    </a:solidFill>
                  </a:tcPr>
                </a:tc>
                <a:tc>
                  <a:txBody>
                    <a:bodyPr/>
                    <a:lstStyle/>
                    <a:p>
                      <a:pPr>
                        <a:defRPr sz="1300">
                          <a:latin typeface="Calibri"/>
                        </a:defRPr>
                      </a:pPr>
                      <a:r>
                        <a:t>0</a:t>
                      </a:r>
                    </a:p>
                  </a:txBody>
                  <a:tcPr>
                    <a:solidFill>
                      <a:srgbClr val="FFFFFF"/>
                    </a:solidFill>
                  </a:tcPr>
                </a:tc>
              </a:tr>
              <a:tr h="301752">
                <a:tc>
                  <a:txBody>
                    <a:bodyPr/>
                    <a:lstStyle/>
                    <a:p>
                      <a:pPr>
                        <a:defRPr sz="1300">
                          <a:latin typeface="Calibri"/>
                        </a:defRPr>
                      </a:pPr>
                      <a:r>
                        <a:t>FISTA</a:t>
                      </a:r>
                    </a:p>
                  </a:txBody>
                  <a:tcPr>
                    <a:solidFill>
                      <a:srgbClr val="EEF4FB"/>
                    </a:solidFill>
                  </a:tcPr>
                </a:tc>
                <a:tc>
                  <a:txBody>
                    <a:bodyPr/>
                    <a:lstStyle/>
                    <a:p>
                      <a:pPr>
                        <a:defRPr sz="1300">
                          <a:latin typeface="Calibri"/>
                        </a:defRPr>
                      </a:pPr>
                      <a:r>
                        <a:t>−11.0 dB</a:t>
                      </a:r>
                    </a:p>
                  </a:txBody>
                  <a:tcPr>
                    <a:solidFill>
                      <a:srgbClr val="EEF4FB"/>
                    </a:solidFill>
                  </a:tcPr>
                </a:tc>
                <a:tc>
                  <a:txBody>
                    <a:bodyPr/>
                    <a:lstStyle/>
                    <a:p>
                      <a:pPr>
                        <a:defRPr sz="1300">
                          <a:latin typeface="Calibri"/>
                        </a:defRPr>
                      </a:pPr>
                      <a:r>
                        <a:t>0</a:t>
                      </a:r>
                    </a:p>
                  </a:txBody>
                  <a:tcPr>
                    <a:solidFill>
                      <a:srgbClr val="EEF4FB"/>
                    </a:solidFill>
                  </a:tcPr>
                </a:tc>
              </a:tr>
              <a:tr h="301752">
                <a:tc>
                  <a:txBody>
                    <a:bodyPr/>
                    <a:lstStyle/>
                    <a:p>
                      <a:pPr>
                        <a:defRPr sz="1300">
                          <a:latin typeface="Calibri"/>
                        </a:defRPr>
                      </a:pPr>
                      <a:r>
                        <a:t>LISTA-L1</a:t>
                      </a:r>
                    </a:p>
                  </a:txBody>
                  <a:tcPr>
                    <a:solidFill>
                      <a:srgbClr val="FFFFFF"/>
                    </a:solidFill>
                  </a:tcPr>
                </a:tc>
                <a:tc>
                  <a:txBody>
                    <a:bodyPr/>
                    <a:lstStyle/>
                    <a:p>
                      <a:pPr>
                        <a:defRPr sz="1300">
                          <a:latin typeface="Calibri"/>
                        </a:defRPr>
                      </a:pPr>
                      <a:r>
                        <a:t>−20.3 dB</a:t>
                      </a:r>
                    </a:p>
                  </a:txBody>
                  <a:tcPr>
                    <a:solidFill>
                      <a:srgbClr val="FFFFFF"/>
                    </a:solidFill>
                  </a:tcPr>
                </a:tc>
                <a:tc>
                  <a:txBody>
                    <a:bodyPr/>
                    <a:lstStyle/>
                    <a:p>
                      <a:pPr>
                        <a:defRPr sz="1300">
                          <a:latin typeface="Calibri"/>
                        </a:defRPr>
                      </a:pPr>
                      <a:r>
                        <a:t>6 M</a:t>
                      </a:r>
                    </a:p>
                  </a:txBody>
                  <a:tcPr>
                    <a:solidFill>
                      <a:srgbClr val="FFFFFF"/>
                    </a:solidFill>
                  </a:tcPr>
                </a:tc>
              </a:tr>
              <a:tr h="301752">
                <a:tc>
                  <a:txBody>
                    <a:bodyPr/>
                    <a:lstStyle/>
                    <a:p>
                      <a:pPr>
                        <a:defRPr sz="1300">
                          <a:latin typeface="Calibri"/>
                        </a:defRPr>
                      </a:pPr>
                      <a:r>
                        <a:t>LISTA-L2</a:t>
                      </a:r>
                    </a:p>
                  </a:txBody>
                  <a:tcPr>
                    <a:solidFill>
                      <a:srgbClr val="EEF4FB"/>
                    </a:solidFill>
                  </a:tcPr>
                </a:tc>
                <a:tc>
                  <a:txBody>
                    <a:bodyPr/>
                    <a:lstStyle/>
                    <a:p>
                      <a:pPr>
                        <a:defRPr sz="1300">
                          <a:latin typeface="Calibri"/>
                        </a:defRPr>
                      </a:pPr>
                      <a:r>
                        <a:t>−21.9 dB</a:t>
                      </a:r>
                    </a:p>
                  </a:txBody>
                  <a:tcPr>
                    <a:solidFill>
                      <a:srgbClr val="EEF4FB"/>
                    </a:solidFill>
                  </a:tcPr>
                </a:tc>
                <a:tc>
                  <a:txBody>
                    <a:bodyPr/>
                    <a:lstStyle/>
                    <a:p>
                      <a:pPr>
                        <a:defRPr sz="1300">
                          <a:latin typeface="Calibri"/>
                        </a:defRPr>
                      </a:pPr>
                      <a:r>
                        <a:t>6 M</a:t>
                      </a:r>
                    </a:p>
                  </a:txBody>
                  <a:tcPr>
                    <a:solidFill>
                      <a:srgbClr val="EEF4FB"/>
                    </a:solidFill>
                  </a:tcPr>
                </a:tc>
              </a:tr>
              <a:tr h="301752">
                <a:tc>
                  <a:txBody>
                    <a:bodyPr/>
                    <a:lstStyle/>
                    <a:p>
                      <a:pPr>
                        <a:defRPr sz="1300">
                          <a:latin typeface="Calibri"/>
                        </a:defRPr>
                      </a:pPr>
                      <a:r>
                        <a:t>LISTA-L3</a:t>
                      </a:r>
                    </a:p>
                  </a:txBody>
                  <a:tcPr>
                    <a:solidFill>
                      <a:srgbClr val="FFFFFF"/>
                    </a:solidFill>
                  </a:tcPr>
                </a:tc>
                <a:tc>
                  <a:txBody>
                    <a:bodyPr/>
                    <a:lstStyle/>
                    <a:p>
                      <a:pPr>
                        <a:defRPr sz="1300">
                          <a:latin typeface="Calibri"/>
                        </a:defRPr>
                      </a:pPr>
                      <a:r>
                        <a:t>−16.6 dB</a:t>
                      </a:r>
                    </a:p>
                  </a:txBody>
                  <a:tcPr>
                    <a:solidFill>
                      <a:srgbClr val="FFFFFF"/>
                    </a:solidFill>
                  </a:tcPr>
                </a:tc>
                <a:tc>
                  <a:txBody>
                    <a:bodyPr/>
                    <a:lstStyle/>
                    <a:p>
                      <a:pPr>
                        <a:defRPr sz="1300">
                          <a:latin typeface="Calibri"/>
                        </a:defRPr>
                      </a:pPr>
                      <a:r>
                        <a:t>6 M</a:t>
                      </a:r>
                    </a:p>
                  </a:txBody>
                  <a:tcPr>
                    <a:solidFill>
                      <a:srgbClr val="FFFFFF"/>
                    </a:solidFill>
                  </a:tcPr>
                </a:tc>
              </a:tr>
              <a:tr h="301752">
                <a:tc>
                  <a:txBody>
                    <a:bodyPr/>
                    <a:lstStyle/>
                    <a:p>
                      <a:pPr>
                        <a:defRPr sz="1300">
                          <a:latin typeface="Calibri"/>
                        </a:defRPr>
                      </a:pPr>
                      <a:r>
                        <a:t>LISTA-Tied-L1</a:t>
                      </a:r>
                    </a:p>
                  </a:txBody>
                  <a:tcPr>
                    <a:solidFill>
                      <a:srgbClr val="EEF4FB"/>
                    </a:solidFill>
                  </a:tcPr>
                </a:tc>
                <a:tc>
                  <a:txBody>
                    <a:bodyPr/>
                    <a:lstStyle/>
                    <a:p>
                      <a:pPr>
                        <a:defRPr sz="1300">
                          <a:latin typeface="Calibri"/>
                        </a:defRPr>
                      </a:pPr>
                      <a:r>
                        <a:t>−19.1 dB</a:t>
                      </a:r>
                    </a:p>
                  </a:txBody>
                  <a:tcPr>
                    <a:solidFill>
                      <a:srgbClr val="EEF4FB"/>
                    </a:solidFill>
                  </a:tcPr>
                </a:tc>
                <a:tc>
                  <a:txBody>
                    <a:bodyPr/>
                    <a:lstStyle/>
                    <a:p>
                      <a:pPr>
                        <a:defRPr sz="1300">
                          <a:latin typeface="Calibri"/>
                        </a:defRPr>
                      </a:pPr>
                      <a:r>
                        <a:t>375 K</a:t>
                      </a:r>
                    </a:p>
                  </a:txBody>
                  <a:tcPr>
                    <a:solidFill>
                      <a:srgbClr val="EEF4FB"/>
                    </a:solidFill>
                  </a:tcPr>
                </a:tc>
              </a:tr>
              <a:tr h="301752">
                <a:tc>
                  <a:txBody>
                    <a:bodyPr/>
                    <a:lstStyle/>
                    <a:p>
                      <a:pPr>
                        <a:defRPr sz="1300" b="1">
                          <a:latin typeface="Calibri"/>
                        </a:defRPr>
                      </a:pPr>
                      <a:r>
                        <a:t>ALISTA</a:t>
                      </a:r>
                    </a:p>
                  </a:txBody>
                  <a:tcPr>
                    <a:solidFill>
                      <a:srgbClr val="E8F5FF"/>
                    </a:solidFill>
                  </a:tcPr>
                </a:tc>
                <a:tc>
                  <a:txBody>
                    <a:bodyPr/>
                    <a:lstStyle/>
                    <a:p>
                      <a:pPr>
                        <a:defRPr sz="1300" b="1">
                          <a:latin typeface="Calibri"/>
                        </a:defRPr>
                      </a:pPr>
                      <a:r>
                        <a:t>−29.8 dB</a:t>
                      </a:r>
                    </a:p>
                  </a:txBody>
                  <a:tcPr>
                    <a:solidFill>
                      <a:srgbClr val="E8F5FF"/>
                    </a:solidFill>
                  </a:tcPr>
                </a:tc>
                <a:tc>
                  <a:txBody>
                    <a:bodyPr/>
                    <a:lstStyle/>
                    <a:p>
                      <a:pPr>
                        <a:defRPr sz="1300" b="1">
                          <a:latin typeface="Calibri"/>
                        </a:defRPr>
                      </a:pPr>
                      <a:r>
                        <a:t>32</a:t>
                      </a:r>
                    </a:p>
                  </a:txBody>
                  <a:tcPr>
                    <a:solidFill>
                      <a:srgbClr val="E8F5FF"/>
                    </a:solidFill>
                  </a:tcPr>
                </a:tc>
              </a:tr>
              <a:tr h="301752">
                <a:tc>
                  <a:txBody>
                    <a:bodyPr/>
                    <a:lstStyle/>
                    <a:p>
                      <a:pPr>
                        <a:defRPr sz="1300" b="1">
                          <a:solidFill>
                            <a:srgbClr val="003F87"/>
                          </a:solidFill>
                          <a:latin typeface="Calibri"/>
                        </a:defRPr>
                      </a:pPr>
                      <a:r>
                        <a:t>HyperLISTA</a:t>
                      </a:r>
                    </a:p>
                  </a:txBody>
                  <a:tcPr>
                    <a:solidFill>
                      <a:srgbClr val="D4EDFF"/>
                    </a:solidFill>
                  </a:tcPr>
                </a:tc>
                <a:tc>
                  <a:txBody>
                    <a:bodyPr/>
                    <a:lstStyle/>
                    <a:p>
                      <a:pPr>
                        <a:defRPr sz="1300" b="1">
                          <a:solidFill>
                            <a:srgbClr val="003F87"/>
                          </a:solidFill>
                          <a:latin typeface="Calibri"/>
                        </a:defRPr>
                      </a:pPr>
                      <a:r>
                        <a:t>−61.4 dB</a:t>
                      </a:r>
                    </a:p>
                  </a:txBody>
                  <a:tcPr>
                    <a:solidFill>
                      <a:srgbClr val="D4EDFF"/>
                    </a:solidFill>
                  </a:tcPr>
                </a:tc>
                <a:tc>
                  <a:txBody>
                    <a:bodyPr/>
                    <a:lstStyle/>
                    <a:p>
                      <a:pPr>
                        <a:defRPr sz="1300" b="1">
                          <a:solidFill>
                            <a:srgbClr val="003F87"/>
                          </a:solidFill>
                          <a:latin typeface="Calibri"/>
                        </a:defRPr>
                      </a:pPr>
                      <a:r>
                        <a:t>3</a:t>
                      </a:r>
                    </a:p>
                  </a:txBody>
                  <a:tcPr>
                    <a:solidFill>
                      <a:srgbClr val="D4EDFF"/>
                    </a:solidFill>
                  </a:tcPr>
                </a:tc>
              </a:tr>
            </a:tbl>
          </a:graphicData>
        </a:graphic>
      </p:graphicFrame>
      <p:sp>
        <p:nvSpPr>
          <p:cNvPr id="9" name="Rectangle 8"/>
          <p:cNvSpPr/>
          <p:nvPr/>
        </p:nvSpPr>
        <p:spPr>
          <a:xfrm>
            <a:off x="7269480" y="4251960"/>
            <a:ext cx="4572000" cy="164592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69480" y="4251960"/>
            <a:ext cx="50292" cy="16459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1504" y="4361688"/>
            <a:ext cx="4242816" cy="1536192"/>
          </a:xfrm>
          <a:prstGeom prst="rect">
            <a:avLst/>
          </a:prstGeom>
          <a:noFill/>
        </p:spPr>
        <p:txBody>
          <a:bodyPr wrap="square">
            <a:spAutoFit/>
          </a:bodyPr>
          <a:lstStyle/>
          <a:p/>
          <a:p>
            <a:pPr>
              <a:spcBef>
                <a:spcPts val="200"/>
              </a:spcBef>
              <a:defRPr sz="1300">
                <a:solidFill>
                  <a:srgbClr val="1A1A2E"/>
                </a:solidFill>
                <a:latin typeface="Calibri"/>
              </a:defRPr>
            </a:pPr>
            <a:r>
              <a:t>L3 plateau:  NMSE flattens ~layer 8.</a:t>
            </a:r>
          </a:p>
          <a:p>
            <a:pPr>
              <a:spcBef>
                <a:spcPts val="200"/>
              </a:spcBef>
              <a:defRPr sz="1300">
                <a:solidFill>
                  <a:srgbClr val="1A1A2E"/>
                </a:solidFill>
                <a:latin typeface="Calibri"/>
              </a:defRPr>
            </a:pPr>
            <a:r>
              <a:t>Greedy training gives no incentive to improve</a:t>
            </a:r>
          </a:p>
          <a:p>
            <a:pPr>
              <a:spcBef>
                <a:spcPts val="200"/>
              </a:spcBef>
              <a:defRPr sz="1300">
                <a:solidFill>
                  <a:srgbClr val="1A1A2E"/>
                </a:solidFill>
                <a:latin typeface="Calibri"/>
              </a:defRPr>
            </a:pPr>
            <a:r>
              <a:t>beyond what prior layers solved.</a:t>
            </a:r>
          </a:p>
          <a:p>
            <a:pPr>
              <a:spcBef>
                <a:spcPts val="200"/>
              </a:spcBef>
              <a:defRPr sz="1300">
                <a:solidFill>
                  <a:srgbClr val="1A1A2E"/>
                </a:solidFill>
                <a:latin typeface="Calibri"/>
              </a:defRPr>
            </a:pPr>
          </a:p>
          <a:p>
            <a:pPr>
              <a:spcBef>
                <a:spcPts val="200"/>
              </a:spcBef>
              <a:defRPr sz="1300">
                <a:solidFill>
                  <a:srgbClr val="1A1A2E"/>
                </a:solidFill>
                <a:latin typeface="Calibri"/>
              </a:defRPr>
            </a:pPr>
            <a:r>
              <a:t>LISTA-Tied &gt; LISTA-Untied despite 16× fewer params.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Design-Space Map</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11 / 16</a:t>
            </a:r>
          </a:p>
        </p:txBody>
      </p:sp>
      <p:pic>
        <p:nvPicPr>
          <p:cNvPr id="7" name="Picture 6" descr="param_tradeoff_full.png"/>
          <p:cNvPicPr>
            <a:picLocks noChangeAspect="1"/>
          </p:cNvPicPr>
          <p:nvPr/>
        </p:nvPicPr>
        <p:blipFill>
          <a:blip r:embed="rId2"/>
          <a:stretch>
            <a:fillRect/>
          </a:stretch>
        </p:blipFill>
        <p:spPr>
          <a:xfrm>
            <a:off x="320040" y="1097280"/>
            <a:ext cx="6400800" cy="4267200"/>
          </a:xfrm>
          <a:prstGeom prst="rect">
            <a:avLst/>
          </a:prstGeom>
        </p:spPr>
      </p:pic>
      <p:graphicFrame>
        <p:nvGraphicFramePr>
          <p:cNvPr id="8" name="Table 7"/>
          <p:cNvGraphicFramePr>
            <a:graphicFrameLocks noGrp="1"/>
          </p:cNvGraphicFramePr>
          <p:nvPr/>
        </p:nvGraphicFramePr>
        <p:xfrm>
          <a:off x="6903720" y="1097280"/>
          <a:ext cx="5440680" cy="2112264"/>
        </p:xfrm>
        <a:graphic>
          <a:graphicData uri="http://schemas.openxmlformats.org/drawingml/2006/table">
            <a:tbl>
              <a:tblPr firstRow="1" bandRow="1">
                <a:tableStyleId>{5C22544A-7EE6-4342-B048-85BDC9FD1C3A}</a:tableStyleId>
              </a:tblPr>
              <a:tblGrid>
                <a:gridCol w="2148840"/>
                <a:gridCol w="731520"/>
                <a:gridCol w="1005840"/>
                <a:gridCol w="1554480"/>
              </a:tblGrid>
              <a:tr h="301752">
                <a:tc>
                  <a:txBody>
                    <a:bodyPr/>
                    <a:lstStyle/>
                    <a:p>
                      <a:pPr>
                        <a:defRPr sz="1300" b="1">
                          <a:solidFill>
                            <a:srgbClr val="FFFFFF"/>
                          </a:solidFill>
                          <a:latin typeface="Calibri"/>
                        </a:defRPr>
                      </a:pPr>
                      <a:r>
                        <a:t>Model</a:t>
                      </a:r>
                    </a:p>
                  </a:txBody>
                  <a:tcPr>
                    <a:solidFill>
                      <a:srgbClr val="003F87"/>
                    </a:solidFill>
                  </a:tcPr>
                </a:tc>
                <a:tc>
                  <a:txBody>
                    <a:bodyPr/>
                    <a:lstStyle/>
                    <a:p>
                      <a:pPr>
                        <a:defRPr sz="1300" b="1">
                          <a:solidFill>
                            <a:srgbClr val="FFFFFF"/>
                          </a:solidFill>
                          <a:latin typeface="Calibri"/>
                        </a:defRPr>
                      </a:pPr>
                      <a:r>
                        <a:t>Params</a:t>
                      </a:r>
                    </a:p>
                  </a:txBody>
                  <a:tcPr>
                    <a:solidFill>
                      <a:srgbClr val="003F87"/>
                    </a:solidFill>
                  </a:tcPr>
                </a:tc>
                <a:tc>
                  <a:txBody>
                    <a:bodyPr/>
                    <a:lstStyle/>
                    <a:p>
                      <a:pPr>
                        <a:defRPr sz="1300" b="1">
                          <a:solidFill>
                            <a:srgbClr val="FFFFFF"/>
                          </a:solidFill>
                          <a:latin typeface="Calibri"/>
                        </a:defRPr>
                      </a:pPr>
                      <a:r>
                        <a:t>NMSE</a:t>
                      </a:r>
                    </a:p>
                  </a:txBody>
                  <a:tcPr>
                    <a:solidFill>
                      <a:srgbClr val="003F87"/>
                    </a:solidFill>
                  </a:tcPr>
                </a:tc>
                <a:tc>
                  <a:txBody>
                    <a:bodyPr/>
                    <a:lstStyle/>
                    <a:p>
                      <a:pPr>
                        <a:defRPr sz="1300" b="1">
                          <a:solidFill>
                            <a:srgbClr val="FFFFFF"/>
                          </a:solidFill>
                          <a:latin typeface="Calibri"/>
                        </a:defRPr>
                      </a:pPr>
                      <a:r>
                        <a:t>What drives it</a:t>
                      </a:r>
                    </a:p>
                  </a:txBody>
                  <a:tcPr>
                    <a:solidFill>
                      <a:srgbClr val="003F87"/>
                    </a:solidFill>
                  </a:tcPr>
                </a:tc>
              </a:tr>
              <a:tr h="301752">
                <a:tc>
                  <a:txBody>
                    <a:bodyPr/>
                    <a:lstStyle/>
                    <a:p>
                      <a:pPr>
                        <a:defRPr sz="1300">
                          <a:latin typeface="Calibri"/>
                        </a:defRPr>
                      </a:pPr>
                      <a:r>
                        <a:t>ThresholdISTA</a:t>
                      </a:r>
                    </a:p>
                  </a:txBody>
                  <a:tcPr>
                    <a:solidFill>
                      <a:srgbClr val="FFFFFF"/>
                    </a:solidFill>
                  </a:tcPr>
                </a:tc>
                <a:tc>
                  <a:txBody>
                    <a:bodyPr/>
                    <a:lstStyle/>
                    <a:p>
                      <a:pPr>
                        <a:defRPr sz="1300">
                          <a:latin typeface="Calibri"/>
                        </a:defRPr>
                      </a:pPr>
                      <a:r>
                        <a:t>16</a:t>
                      </a:r>
                    </a:p>
                  </a:txBody>
                  <a:tcPr>
                    <a:solidFill>
                      <a:srgbClr val="FFFFFF"/>
                    </a:solidFill>
                  </a:tcPr>
                </a:tc>
                <a:tc>
                  <a:txBody>
                    <a:bodyPr/>
                    <a:lstStyle/>
                    <a:p>
                      <a:pPr>
                        <a:defRPr sz="1300">
                          <a:latin typeface="Calibri"/>
                        </a:defRPr>
                      </a:pPr>
                      <a:r>
                        <a:t>−7.1 dB</a:t>
                      </a:r>
                    </a:p>
                  </a:txBody>
                  <a:tcPr>
                    <a:solidFill>
                      <a:srgbClr val="FFFFFF"/>
                    </a:solidFill>
                  </a:tcPr>
                </a:tc>
                <a:tc>
                  <a:txBody>
                    <a:bodyPr/>
                    <a:lstStyle/>
                    <a:p>
                      <a:pPr>
                        <a:defRPr sz="1300">
                          <a:latin typeface="Calibri"/>
                        </a:defRPr>
                      </a:pPr>
                      <a:r>
                        <a:t>learned θ_k</a:t>
                      </a:r>
                    </a:p>
                  </a:txBody>
                  <a:tcPr>
                    <a:solidFill>
                      <a:srgbClr val="FFFFFF"/>
                    </a:solidFill>
                  </a:tcPr>
                </a:tc>
              </a:tr>
              <a:tr h="301752">
                <a:tc>
                  <a:txBody>
                    <a:bodyPr/>
                    <a:lstStyle/>
                    <a:p>
                      <a:pPr>
                        <a:defRPr sz="1300">
                          <a:latin typeface="Calibri"/>
                        </a:defRPr>
                      </a:pPr>
                      <a:r>
                        <a:t>StepISTA</a:t>
                      </a:r>
                    </a:p>
                  </a:txBody>
                  <a:tcPr>
                    <a:solidFill>
                      <a:srgbClr val="EEF4FB"/>
                    </a:solidFill>
                  </a:tcPr>
                </a:tc>
                <a:tc>
                  <a:txBody>
                    <a:bodyPr/>
                    <a:lstStyle/>
                    <a:p>
                      <a:pPr>
                        <a:defRPr sz="1300">
                          <a:latin typeface="Calibri"/>
                        </a:defRPr>
                      </a:pPr>
                      <a:r>
                        <a:t>16</a:t>
                      </a:r>
                    </a:p>
                  </a:txBody>
                  <a:tcPr>
                    <a:solidFill>
                      <a:srgbClr val="EEF4FB"/>
                    </a:solidFill>
                  </a:tcPr>
                </a:tc>
                <a:tc>
                  <a:txBody>
                    <a:bodyPr/>
                    <a:lstStyle/>
                    <a:p>
                      <a:pPr>
                        <a:defRPr sz="1300">
                          <a:latin typeface="Calibri"/>
                        </a:defRPr>
                      </a:pPr>
                      <a:r>
                        <a:t>−20.0 dB</a:t>
                      </a:r>
                    </a:p>
                  </a:txBody>
                  <a:tcPr>
                    <a:solidFill>
                      <a:srgbClr val="EEF4FB"/>
                    </a:solidFill>
                  </a:tcPr>
                </a:tc>
                <a:tc>
                  <a:txBody>
                    <a:bodyPr/>
                    <a:lstStyle/>
                    <a:p>
                      <a:pPr>
                        <a:defRPr sz="1300">
                          <a:latin typeface="Calibri"/>
                        </a:defRPr>
                      </a:pPr>
                      <a:r>
                        <a:t>learned γ_k</a:t>
                      </a:r>
                    </a:p>
                  </a:txBody>
                  <a:tcPr>
                    <a:solidFill>
                      <a:srgbClr val="EEF4FB"/>
                    </a:solidFill>
                  </a:tcPr>
                </a:tc>
              </a:tr>
              <a:tr h="301752">
                <a:tc>
                  <a:txBody>
                    <a:bodyPr/>
                    <a:lstStyle/>
                    <a:p>
                      <a:pPr>
                        <a:defRPr sz="1300" b="1">
                          <a:solidFill>
                            <a:srgbClr val="003F87"/>
                          </a:solidFill>
                          <a:latin typeface="Calibri"/>
                        </a:defRPr>
                      </a:pPr>
                      <a:r>
                        <a:t>StepThresholdISTA</a:t>
                      </a:r>
                    </a:p>
                  </a:txBody>
                  <a:tcPr>
                    <a:solidFill>
                      <a:srgbClr val="D4EDFF"/>
                    </a:solidFill>
                  </a:tcPr>
                </a:tc>
                <a:tc>
                  <a:txBody>
                    <a:bodyPr/>
                    <a:lstStyle/>
                    <a:p>
                      <a:pPr>
                        <a:defRPr sz="1300" b="1">
                          <a:solidFill>
                            <a:srgbClr val="003F87"/>
                          </a:solidFill>
                          <a:latin typeface="Calibri"/>
                        </a:defRPr>
                      </a:pPr>
                      <a:r>
                        <a:t>32</a:t>
                      </a:r>
                    </a:p>
                  </a:txBody>
                  <a:tcPr>
                    <a:solidFill>
                      <a:srgbClr val="D4EDFF"/>
                    </a:solidFill>
                  </a:tcPr>
                </a:tc>
                <a:tc>
                  <a:txBody>
                    <a:bodyPr/>
                    <a:lstStyle/>
                    <a:p>
                      <a:pPr>
                        <a:defRPr sz="1300" b="1">
                          <a:solidFill>
                            <a:srgbClr val="003F87"/>
                          </a:solidFill>
                          <a:latin typeface="Calibri"/>
                        </a:defRPr>
                      </a:pPr>
                      <a:r>
                        <a:t>−23.6 dB</a:t>
                      </a:r>
                    </a:p>
                  </a:txBody>
                  <a:tcPr>
                    <a:solidFill>
                      <a:srgbClr val="D4EDFF"/>
                    </a:solidFill>
                  </a:tcPr>
                </a:tc>
                <a:tc>
                  <a:txBody>
                    <a:bodyPr/>
                    <a:lstStyle/>
                    <a:p>
                      <a:pPr>
                        <a:defRPr sz="1300" b="1">
                          <a:solidFill>
                            <a:srgbClr val="003F87"/>
                          </a:solidFill>
                          <a:latin typeface="Calibri"/>
                        </a:defRPr>
                      </a:pPr>
                      <a:r>
                        <a:t>γ_k + θ_k</a:t>
                      </a:r>
                    </a:p>
                  </a:txBody>
                  <a:tcPr>
                    <a:solidFill>
                      <a:srgbClr val="D4EDFF"/>
                    </a:solidFill>
                  </a:tcPr>
                </a:tc>
              </a:tr>
              <a:tr h="301752">
                <a:tc>
                  <a:txBody>
                    <a:bodyPr/>
                    <a:lstStyle/>
                    <a:p>
                      <a:pPr>
                        <a:defRPr sz="1300">
                          <a:latin typeface="Calibri"/>
                        </a:defRPr>
                      </a:pPr>
                      <a:r>
                        <a:t>LISTA-L1</a:t>
                      </a:r>
                    </a:p>
                  </a:txBody>
                  <a:tcPr>
                    <a:solidFill>
                      <a:srgbClr val="EEF4FB"/>
                    </a:solidFill>
                  </a:tcPr>
                </a:tc>
                <a:tc>
                  <a:txBody>
                    <a:bodyPr/>
                    <a:lstStyle/>
                    <a:p>
                      <a:pPr>
                        <a:defRPr sz="1300">
                          <a:latin typeface="Calibri"/>
                        </a:defRPr>
                      </a:pPr>
                      <a:r>
                        <a:t>6 M</a:t>
                      </a:r>
                    </a:p>
                  </a:txBody>
                  <a:tcPr>
                    <a:solidFill>
                      <a:srgbClr val="EEF4FB"/>
                    </a:solidFill>
                  </a:tcPr>
                </a:tc>
                <a:tc>
                  <a:txBody>
                    <a:bodyPr/>
                    <a:lstStyle/>
                    <a:p>
                      <a:pPr>
                        <a:defRPr sz="1300">
                          <a:latin typeface="Calibri"/>
                        </a:defRPr>
                      </a:pPr>
                      <a:r>
                        <a:t>−20.3 dB</a:t>
                      </a:r>
                    </a:p>
                  </a:txBody>
                  <a:tcPr>
                    <a:solidFill>
                      <a:srgbClr val="EEF4FB"/>
                    </a:solidFill>
                  </a:tcPr>
                </a:tc>
                <a:tc>
                  <a:txBody>
                    <a:bodyPr/>
                    <a:lstStyle/>
                    <a:p>
                      <a:pPr>
                        <a:defRPr sz="1300">
                          <a:latin typeface="Calibri"/>
                        </a:defRPr>
                      </a:pPr>
                      <a:r>
                        <a:t>full matrices</a:t>
                      </a:r>
                    </a:p>
                  </a:txBody>
                  <a:tcPr>
                    <a:solidFill>
                      <a:srgbClr val="EEF4FB"/>
                    </a:solidFill>
                  </a:tcPr>
                </a:tc>
              </a:tr>
              <a:tr h="301752">
                <a:tc>
                  <a:txBody>
                    <a:bodyPr/>
                    <a:lstStyle/>
                    <a:p>
                      <a:pPr>
                        <a:defRPr sz="1300">
                          <a:latin typeface="Calibri"/>
                        </a:defRPr>
                      </a:pPr>
                      <a:r>
                        <a:t>ALISTA</a:t>
                      </a:r>
                    </a:p>
                  </a:txBody>
                  <a:tcPr>
                    <a:solidFill>
                      <a:srgbClr val="FFFFFF"/>
                    </a:solidFill>
                  </a:tcPr>
                </a:tc>
                <a:tc>
                  <a:txBody>
                    <a:bodyPr/>
                    <a:lstStyle/>
                    <a:p>
                      <a:pPr>
                        <a:defRPr sz="1300">
                          <a:latin typeface="Calibri"/>
                        </a:defRPr>
                      </a:pPr>
                      <a:r>
                        <a:t>32</a:t>
                      </a:r>
                    </a:p>
                  </a:txBody>
                  <a:tcPr>
                    <a:solidFill>
                      <a:srgbClr val="FFFFFF"/>
                    </a:solidFill>
                  </a:tcPr>
                </a:tc>
                <a:tc>
                  <a:txBody>
                    <a:bodyPr/>
                    <a:lstStyle/>
                    <a:p>
                      <a:pPr>
                        <a:defRPr sz="1300">
                          <a:latin typeface="Calibri"/>
                        </a:defRPr>
                      </a:pPr>
                      <a:r>
                        <a:t>−29.8 dB</a:t>
                      </a:r>
                    </a:p>
                  </a:txBody>
                  <a:tcPr>
                    <a:solidFill>
                      <a:srgbClr val="FFFFFF"/>
                    </a:solidFill>
                  </a:tcPr>
                </a:tc>
                <a:tc>
                  <a:txBody>
                    <a:bodyPr/>
                    <a:lstStyle/>
                    <a:p>
                      <a:pPr>
                        <a:defRPr sz="1300">
                          <a:latin typeface="Calibri"/>
                        </a:defRPr>
                      </a:pPr>
                      <a:r>
                        <a:t>analytic W</a:t>
                      </a:r>
                    </a:p>
                  </a:txBody>
                  <a:tcPr>
                    <a:solidFill>
                      <a:srgbClr val="FFFFFF"/>
                    </a:solidFill>
                  </a:tcPr>
                </a:tc>
              </a:tr>
              <a:tr h="301752">
                <a:tc>
                  <a:txBody>
                    <a:bodyPr/>
                    <a:lstStyle/>
                    <a:p>
                      <a:pPr>
                        <a:defRPr sz="1300" b="1">
                          <a:solidFill>
                            <a:srgbClr val="003F87"/>
                          </a:solidFill>
                          <a:latin typeface="Calibri"/>
                        </a:defRPr>
                      </a:pPr>
                      <a:r>
                        <a:t>HyperLISTA</a:t>
                      </a:r>
                    </a:p>
                  </a:txBody>
                  <a:tcPr>
                    <a:solidFill>
                      <a:srgbClr val="D4EDFF"/>
                    </a:solidFill>
                  </a:tcPr>
                </a:tc>
                <a:tc>
                  <a:txBody>
                    <a:bodyPr/>
                    <a:lstStyle/>
                    <a:p>
                      <a:pPr>
                        <a:defRPr sz="1300" b="1">
                          <a:solidFill>
                            <a:srgbClr val="003F87"/>
                          </a:solidFill>
                          <a:latin typeface="Calibri"/>
                        </a:defRPr>
                      </a:pPr>
                      <a:r>
                        <a:t>3</a:t>
                      </a:r>
                    </a:p>
                  </a:txBody>
                  <a:tcPr>
                    <a:solidFill>
                      <a:srgbClr val="D4EDFF"/>
                    </a:solidFill>
                  </a:tcPr>
                </a:tc>
                <a:tc>
                  <a:txBody>
                    <a:bodyPr/>
                    <a:lstStyle/>
                    <a:p>
                      <a:pPr>
                        <a:defRPr sz="1300" b="1">
                          <a:solidFill>
                            <a:srgbClr val="003F87"/>
                          </a:solidFill>
                          <a:latin typeface="Calibri"/>
                        </a:defRPr>
                      </a:pPr>
                      <a:r>
                        <a:t>−61.4 dB</a:t>
                      </a:r>
                    </a:p>
                  </a:txBody>
                  <a:tcPr>
                    <a:solidFill>
                      <a:srgbClr val="D4EDFF"/>
                    </a:solidFill>
                  </a:tcPr>
                </a:tc>
                <a:tc>
                  <a:txBody>
                    <a:bodyPr/>
                    <a:lstStyle/>
                    <a:p>
                      <a:pPr>
                        <a:defRPr sz="1300" b="1">
                          <a:solidFill>
                            <a:srgbClr val="003F87"/>
                          </a:solidFill>
                          <a:latin typeface="Calibri"/>
                        </a:defRPr>
                      </a:pPr>
                      <a:r>
                        <a:t>adaptive residuals</a:t>
                      </a:r>
                    </a:p>
                  </a:txBody>
                  <a:tcPr>
                    <a:solidFill>
                      <a:srgbClr val="D4EDFF"/>
                    </a:solidFill>
                  </a:tcPr>
                </a:tc>
              </a:tr>
            </a:tbl>
          </a:graphicData>
        </a:graphic>
      </p:graphicFrame>
      <p:sp>
        <p:nvSpPr>
          <p:cNvPr id="9" name="Rectangle 8"/>
          <p:cNvSpPr/>
          <p:nvPr/>
        </p:nvSpPr>
        <p:spPr>
          <a:xfrm>
            <a:off x="6903720" y="4343400"/>
            <a:ext cx="4937760" cy="1325880"/>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86600" y="4407408"/>
            <a:ext cx="4572000" cy="1188720"/>
          </a:xfrm>
          <a:prstGeom prst="rect">
            <a:avLst/>
          </a:prstGeom>
          <a:noFill/>
        </p:spPr>
        <p:txBody>
          <a:bodyPr wrap="square">
            <a:spAutoFit/>
          </a:bodyPr>
          <a:lstStyle/>
          <a:p>
            <a:r>
              <a:rPr sz="1600" b="1">
                <a:solidFill>
                  <a:srgbClr val="F5A623"/>
                </a:solidFill>
                <a:latin typeface="Calibri"/>
              </a:rPr>
              <a:t>StepThresholdISTA  (32 scalars)</a:t>
            </a:r>
          </a:p>
          <a:p>
            <a:r>
              <a:rPr sz="1600" b="1">
                <a:solidFill>
                  <a:srgbClr val="FFFFFF"/>
                </a:solidFill>
                <a:latin typeface="Calibri"/>
              </a:rPr>
              <a:t>beats LISTA-L1  (6 million matrices).</a:t>
            </a:r>
          </a:p>
          <a:p>
            <a:r>
              <a:rPr sz="1400">
                <a:solidFill>
                  <a:srgbClr val="AACCFF"/>
                </a:solidFill>
                <a:latin typeface="Calibri"/>
              </a:rPr>
              <a:t>The step-size schedule γ_k is the bottleneck.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Real Image CS: FashionMNIST Pixel Domain</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12 / 16</a:t>
            </a:r>
          </a:p>
        </p:txBody>
      </p:sp>
      <p:sp>
        <p:nvSpPr>
          <p:cNvPr id="7" name="TextBox 6"/>
          <p:cNvSpPr txBox="1"/>
          <p:nvPr/>
        </p:nvSpPr>
        <p:spPr>
          <a:xfrm>
            <a:off x="502920" y="1188720"/>
            <a:ext cx="11185855" cy="347472"/>
          </a:xfrm>
          <a:prstGeom prst="rect">
            <a:avLst/>
          </a:prstGeom>
          <a:noFill/>
        </p:spPr>
        <p:txBody>
          <a:bodyPr wrap="square">
            <a:spAutoFit/>
          </a:bodyPr>
          <a:lstStyle/>
          <a:p>
            <a:pPr algn="l"/>
            <a:r>
              <a:rPr sz="1600" b="0" i="0">
                <a:solidFill>
                  <a:srgbClr val="1A1A2E"/>
                </a:solidFill>
                <a:latin typeface="Calibri"/>
              </a:rPr>
              <a:t>Setup:  flatten 28×28 image to x ∈ [0,1]^{784},  measure  b = Ax,  ratio m/784 ∈ {0.25, 0.5}.  FashionMNIST: ~51.5% of pixels exactly zero.</a:t>
            </a:r>
          </a:p>
        </p:txBody>
      </p:sp>
      <p:graphicFrame>
        <p:nvGraphicFramePr>
          <p:cNvPr id="8" name="Table 7"/>
          <p:cNvGraphicFramePr>
            <a:graphicFrameLocks noGrp="1"/>
          </p:cNvGraphicFramePr>
          <p:nvPr/>
        </p:nvGraphicFramePr>
        <p:xfrm>
          <a:off x="502920" y="1691640"/>
          <a:ext cx="6126480" cy="2112264"/>
        </p:xfrm>
        <a:graphic>
          <a:graphicData uri="http://schemas.openxmlformats.org/drawingml/2006/table">
            <a:tbl>
              <a:tblPr firstRow="1" bandRow="1">
                <a:tableStyleId>{5C22544A-7EE6-4342-B048-85BDC9FD1C3A}</a:tableStyleId>
              </a:tblPr>
              <a:tblGrid>
                <a:gridCol w="2286000"/>
                <a:gridCol w="1188720"/>
                <a:gridCol w="822960"/>
                <a:gridCol w="822960"/>
                <a:gridCol w="1005840"/>
              </a:tblGrid>
              <a:tr h="301752">
                <a:tc>
                  <a:txBody>
                    <a:bodyPr/>
                    <a:lstStyle/>
                    <a:p>
                      <a:pPr>
                        <a:defRPr sz="1400" b="1">
                          <a:solidFill>
                            <a:srgbClr val="FFFFFF"/>
                          </a:solidFill>
                          <a:latin typeface="Calibri"/>
                        </a:defRPr>
                      </a:pPr>
                      <a:r>
                        <a:t>Method</a:t>
                      </a:r>
                    </a:p>
                  </a:txBody>
                  <a:tcPr>
                    <a:solidFill>
                      <a:srgbClr val="003F87"/>
                    </a:solidFill>
                  </a:tcPr>
                </a:tc>
                <a:tc>
                  <a:txBody>
                    <a:bodyPr/>
                    <a:lstStyle/>
                    <a:p>
                      <a:pPr>
                        <a:defRPr sz="1400" b="1">
                          <a:solidFill>
                            <a:srgbClr val="FFFFFF"/>
                          </a:solidFill>
                          <a:latin typeface="Calibri"/>
                        </a:defRPr>
                      </a:pPr>
                      <a:r>
                        <a:t>NMSE</a:t>
                      </a:r>
                    </a:p>
                  </a:txBody>
                  <a:tcPr>
                    <a:solidFill>
                      <a:srgbClr val="003F87"/>
                    </a:solidFill>
                  </a:tcPr>
                </a:tc>
                <a:tc>
                  <a:txBody>
                    <a:bodyPr/>
                    <a:lstStyle/>
                    <a:p>
                      <a:pPr>
                        <a:defRPr sz="1400" b="1">
                          <a:solidFill>
                            <a:srgbClr val="FFFFFF"/>
                          </a:solidFill>
                          <a:latin typeface="Calibri"/>
                        </a:defRPr>
                      </a:pPr>
                      <a:r>
                        <a:t>PSNR</a:t>
                      </a:r>
                    </a:p>
                  </a:txBody>
                  <a:tcPr>
                    <a:solidFill>
                      <a:srgbClr val="003F87"/>
                    </a:solidFill>
                  </a:tcPr>
                </a:tc>
                <a:tc>
                  <a:txBody>
                    <a:bodyPr/>
                    <a:lstStyle/>
                    <a:p>
                      <a:pPr>
                        <a:defRPr sz="1400" b="1">
                          <a:solidFill>
                            <a:srgbClr val="FFFFFF"/>
                          </a:solidFill>
                          <a:latin typeface="Calibri"/>
                        </a:defRPr>
                      </a:pPr>
                      <a:r>
                        <a:t>SSIM</a:t>
                      </a:r>
                    </a:p>
                  </a:txBody>
                  <a:tcPr>
                    <a:solidFill>
                      <a:srgbClr val="003F87"/>
                    </a:solidFill>
                  </a:tcPr>
                </a:tc>
                <a:tc>
                  <a:txBody>
                    <a:bodyPr/>
                    <a:lstStyle/>
                    <a:p>
                      <a:pPr>
                        <a:defRPr sz="1400" b="1">
                          <a:solidFill>
                            <a:srgbClr val="FFFFFF"/>
                          </a:solidFill>
                          <a:latin typeface="Calibri"/>
                        </a:defRPr>
                      </a:pPr>
                      <a:r>
                        <a:t>Params</a:t>
                      </a:r>
                    </a:p>
                  </a:txBody>
                  <a:tcPr>
                    <a:solidFill>
                      <a:srgbClr val="003F87"/>
                    </a:solidFill>
                  </a:tcPr>
                </a:tc>
              </a:tr>
              <a:tr h="301752">
                <a:tc>
                  <a:txBody>
                    <a:bodyPr/>
                    <a:lstStyle/>
                    <a:p>
                      <a:pPr>
                        <a:defRPr sz="1400">
                          <a:latin typeface="Calibri"/>
                        </a:defRPr>
                      </a:pPr>
                      <a:r>
                        <a:t>ISTA</a:t>
                      </a:r>
                    </a:p>
                  </a:txBody>
                  <a:tcPr>
                    <a:solidFill>
                      <a:srgbClr val="FFFFFF"/>
                    </a:solidFill>
                  </a:tcPr>
                </a:tc>
                <a:tc>
                  <a:txBody>
                    <a:bodyPr/>
                    <a:lstStyle/>
                    <a:p>
                      <a:pPr>
                        <a:defRPr sz="1400">
                          <a:latin typeface="Calibri"/>
                        </a:defRPr>
                      </a:pPr>
                      <a:r>
                        <a:t>−1.2 dB</a:t>
                      </a:r>
                    </a:p>
                  </a:txBody>
                  <a:tcPr>
                    <a:solidFill>
                      <a:srgbClr val="FFFFFF"/>
                    </a:solidFill>
                  </a:tcPr>
                </a:tc>
                <a:tc>
                  <a:txBody>
                    <a:bodyPr/>
                    <a:lstStyle/>
                    <a:p>
                      <a:pPr>
                        <a:defRPr sz="1400">
                          <a:latin typeface="Calibri"/>
                        </a:defRPr>
                      </a:pPr>
                      <a:r>
                        <a:t>8.9</a:t>
                      </a:r>
                    </a:p>
                  </a:txBody>
                  <a:tcPr>
                    <a:solidFill>
                      <a:srgbClr val="FFFFFF"/>
                    </a:solidFill>
                  </a:tcPr>
                </a:tc>
                <a:tc>
                  <a:txBody>
                    <a:bodyPr/>
                    <a:lstStyle/>
                    <a:p>
                      <a:pPr>
                        <a:defRPr sz="1400">
                          <a:latin typeface="Calibri"/>
                        </a:defRPr>
                      </a:pPr>
                      <a:r>
                        <a:t>0.13</a:t>
                      </a:r>
                    </a:p>
                  </a:txBody>
                  <a:tcPr>
                    <a:solidFill>
                      <a:srgbClr val="FFFFFF"/>
                    </a:solidFill>
                  </a:tcPr>
                </a:tc>
                <a:tc>
                  <a:txBody>
                    <a:bodyPr/>
                    <a:lstStyle/>
                    <a:p>
                      <a:pPr>
                        <a:defRPr sz="1400">
                          <a:latin typeface="Calibri"/>
                        </a:defRPr>
                      </a:pPr>
                      <a:r>
                        <a:t>0</a:t>
                      </a:r>
                    </a:p>
                  </a:txBody>
                  <a:tcPr>
                    <a:solidFill>
                      <a:srgbClr val="FFFFFF"/>
                    </a:solidFill>
                  </a:tcPr>
                </a:tc>
              </a:tr>
              <a:tr h="301752">
                <a:tc>
                  <a:txBody>
                    <a:bodyPr/>
                    <a:lstStyle/>
                    <a:p>
                      <a:pPr>
                        <a:defRPr sz="1400">
                          <a:latin typeface="Calibri"/>
                        </a:defRPr>
                      </a:pPr>
                      <a:r>
                        <a:t>FISTA</a:t>
                      </a:r>
                    </a:p>
                  </a:txBody>
                  <a:tcPr>
                    <a:solidFill>
                      <a:srgbClr val="EEF4FB"/>
                    </a:solidFill>
                  </a:tcPr>
                </a:tc>
                <a:tc>
                  <a:txBody>
                    <a:bodyPr/>
                    <a:lstStyle/>
                    <a:p>
                      <a:pPr>
                        <a:defRPr sz="1400">
                          <a:latin typeface="Calibri"/>
                        </a:defRPr>
                      </a:pPr>
                      <a:r>
                        <a:t>−1.2 dB</a:t>
                      </a:r>
                    </a:p>
                  </a:txBody>
                  <a:tcPr>
                    <a:solidFill>
                      <a:srgbClr val="EEF4FB"/>
                    </a:solidFill>
                  </a:tcPr>
                </a:tc>
                <a:tc>
                  <a:txBody>
                    <a:bodyPr/>
                    <a:lstStyle/>
                    <a:p>
                      <a:pPr>
                        <a:defRPr sz="1400">
                          <a:latin typeface="Calibri"/>
                        </a:defRPr>
                      </a:pPr>
                      <a:r>
                        <a:t>8.9</a:t>
                      </a:r>
                    </a:p>
                  </a:txBody>
                  <a:tcPr>
                    <a:solidFill>
                      <a:srgbClr val="EEF4FB"/>
                    </a:solidFill>
                  </a:tcPr>
                </a:tc>
                <a:tc>
                  <a:txBody>
                    <a:bodyPr/>
                    <a:lstStyle/>
                    <a:p>
                      <a:pPr>
                        <a:defRPr sz="1400">
                          <a:latin typeface="Calibri"/>
                        </a:defRPr>
                      </a:pPr>
                      <a:r>
                        <a:t>0.14</a:t>
                      </a:r>
                    </a:p>
                  </a:txBody>
                  <a:tcPr>
                    <a:solidFill>
                      <a:srgbClr val="EEF4FB"/>
                    </a:solidFill>
                  </a:tcPr>
                </a:tc>
                <a:tc>
                  <a:txBody>
                    <a:bodyPr/>
                    <a:lstStyle/>
                    <a:p>
                      <a:pPr>
                        <a:defRPr sz="1400">
                          <a:latin typeface="Calibri"/>
                        </a:defRPr>
                      </a:pPr>
                      <a:r>
                        <a:t>0</a:t>
                      </a:r>
                    </a:p>
                  </a:txBody>
                  <a:tcPr>
                    <a:solidFill>
                      <a:srgbClr val="EEF4FB"/>
                    </a:solidFill>
                  </a:tcPr>
                </a:tc>
              </a:tr>
              <a:tr h="301752">
                <a:tc>
                  <a:txBody>
                    <a:bodyPr/>
                    <a:lstStyle/>
                    <a:p>
                      <a:pPr>
                        <a:defRPr sz="1400">
                          <a:latin typeface="Calibri"/>
                        </a:defRPr>
                      </a:pPr>
                      <a:r>
                        <a:t>StepThresholdISTA</a:t>
                      </a:r>
                    </a:p>
                  </a:txBody>
                  <a:tcPr>
                    <a:solidFill>
                      <a:srgbClr val="FFFFFF"/>
                    </a:solidFill>
                  </a:tcPr>
                </a:tc>
                <a:tc>
                  <a:txBody>
                    <a:bodyPr/>
                    <a:lstStyle/>
                    <a:p>
                      <a:pPr>
                        <a:defRPr sz="1400">
                          <a:latin typeface="Calibri"/>
                        </a:defRPr>
                      </a:pPr>
                      <a:r>
                        <a:t>−1.2 dB</a:t>
                      </a:r>
                    </a:p>
                  </a:txBody>
                  <a:tcPr>
                    <a:solidFill>
                      <a:srgbClr val="FFFFFF"/>
                    </a:solidFill>
                  </a:tcPr>
                </a:tc>
                <a:tc>
                  <a:txBody>
                    <a:bodyPr/>
                    <a:lstStyle/>
                    <a:p>
                      <a:pPr>
                        <a:defRPr sz="1400">
                          <a:latin typeface="Calibri"/>
                        </a:defRPr>
                      </a:pPr>
                      <a:r>
                        <a:t>8.9</a:t>
                      </a:r>
                    </a:p>
                  </a:txBody>
                  <a:tcPr>
                    <a:solidFill>
                      <a:srgbClr val="FFFFFF"/>
                    </a:solidFill>
                  </a:tcPr>
                </a:tc>
                <a:tc>
                  <a:txBody>
                    <a:bodyPr/>
                    <a:lstStyle/>
                    <a:p>
                      <a:pPr>
                        <a:defRPr sz="1400">
                          <a:latin typeface="Calibri"/>
                        </a:defRPr>
                      </a:pPr>
                      <a:r>
                        <a:t>0.13</a:t>
                      </a:r>
                    </a:p>
                  </a:txBody>
                  <a:tcPr>
                    <a:solidFill>
                      <a:srgbClr val="FFFFFF"/>
                    </a:solidFill>
                  </a:tcPr>
                </a:tc>
                <a:tc>
                  <a:txBody>
                    <a:bodyPr/>
                    <a:lstStyle/>
                    <a:p>
                      <a:pPr>
                        <a:defRPr sz="1400">
                          <a:latin typeface="Calibri"/>
                        </a:defRPr>
                      </a:pPr>
                      <a:r>
                        <a:t>32</a:t>
                      </a:r>
                    </a:p>
                  </a:txBody>
                  <a:tcPr>
                    <a:solidFill>
                      <a:srgbClr val="FFFFFF"/>
                    </a:solidFill>
                  </a:tcPr>
                </a:tc>
              </a:tr>
              <a:tr h="301752">
                <a:tc>
                  <a:txBody>
                    <a:bodyPr/>
                    <a:lstStyle/>
                    <a:p>
                      <a:pPr>
                        <a:defRPr sz="1400">
                          <a:latin typeface="Calibri"/>
                        </a:defRPr>
                      </a:pPr>
                      <a:r>
                        <a:t>ALISTA</a:t>
                      </a:r>
                    </a:p>
                  </a:txBody>
                  <a:tcPr>
                    <a:solidFill>
                      <a:srgbClr val="EEF4FB"/>
                    </a:solidFill>
                  </a:tcPr>
                </a:tc>
                <a:tc>
                  <a:txBody>
                    <a:bodyPr/>
                    <a:lstStyle/>
                    <a:p>
                      <a:pPr>
                        <a:defRPr sz="1400">
                          <a:latin typeface="Calibri"/>
                        </a:defRPr>
                      </a:pPr>
                      <a:r>
                        <a:t>−0.9 dB</a:t>
                      </a:r>
                    </a:p>
                  </a:txBody>
                  <a:tcPr>
                    <a:solidFill>
                      <a:srgbClr val="EEF4FB"/>
                    </a:solidFill>
                  </a:tcPr>
                </a:tc>
                <a:tc>
                  <a:txBody>
                    <a:bodyPr/>
                    <a:lstStyle/>
                    <a:p>
                      <a:pPr>
                        <a:defRPr sz="1400">
                          <a:latin typeface="Calibri"/>
                        </a:defRPr>
                      </a:pPr>
                      <a:r>
                        <a:t>8.4</a:t>
                      </a:r>
                    </a:p>
                  </a:txBody>
                  <a:tcPr>
                    <a:solidFill>
                      <a:srgbClr val="EEF4FB"/>
                    </a:solidFill>
                  </a:tcPr>
                </a:tc>
                <a:tc>
                  <a:txBody>
                    <a:bodyPr/>
                    <a:lstStyle/>
                    <a:p>
                      <a:pPr>
                        <a:defRPr sz="1400">
                          <a:latin typeface="Calibri"/>
                        </a:defRPr>
                      </a:pPr>
                      <a:r>
                        <a:t>0.12</a:t>
                      </a:r>
                    </a:p>
                  </a:txBody>
                  <a:tcPr>
                    <a:solidFill>
                      <a:srgbClr val="EEF4FB"/>
                    </a:solidFill>
                  </a:tcPr>
                </a:tc>
                <a:tc>
                  <a:txBody>
                    <a:bodyPr/>
                    <a:lstStyle/>
                    <a:p>
                      <a:pPr>
                        <a:defRPr sz="1400">
                          <a:latin typeface="Calibri"/>
                        </a:defRPr>
                      </a:pPr>
                      <a:r>
                        <a:t>32</a:t>
                      </a:r>
                    </a:p>
                  </a:txBody>
                  <a:tcPr>
                    <a:solidFill>
                      <a:srgbClr val="EEF4FB"/>
                    </a:solidFill>
                  </a:tcPr>
                </a:tc>
              </a:tr>
              <a:tr h="301752">
                <a:tc>
                  <a:txBody>
                    <a:bodyPr/>
                    <a:lstStyle/>
                    <a:p>
                      <a:pPr>
                        <a:defRPr sz="1400">
                          <a:latin typeface="Calibri"/>
                        </a:defRPr>
                      </a:pPr>
                      <a:r>
                        <a:t>HyperLISTA</a:t>
                      </a:r>
                    </a:p>
                  </a:txBody>
                  <a:tcPr>
                    <a:solidFill>
                      <a:srgbClr val="FFFFFF"/>
                    </a:solidFill>
                  </a:tcPr>
                </a:tc>
                <a:tc>
                  <a:txBody>
                    <a:bodyPr/>
                    <a:lstStyle/>
                    <a:p>
                      <a:pPr>
                        <a:defRPr sz="1400">
                          <a:latin typeface="Calibri"/>
                        </a:defRPr>
                      </a:pPr>
                      <a:r>
                        <a:t>−0.3 dB</a:t>
                      </a:r>
                    </a:p>
                  </a:txBody>
                  <a:tcPr>
                    <a:solidFill>
                      <a:srgbClr val="FFFFFF"/>
                    </a:solidFill>
                  </a:tcPr>
                </a:tc>
                <a:tc>
                  <a:txBody>
                    <a:bodyPr/>
                    <a:lstStyle/>
                    <a:p>
                      <a:pPr>
                        <a:defRPr sz="1400">
                          <a:latin typeface="Calibri"/>
                        </a:defRPr>
                      </a:pPr>
                      <a:r>
                        <a:t>7.7</a:t>
                      </a:r>
                    </a:p>
                  </a:txBody>
                  <a:tcPr>
                    <a:solidFill>
                      <a:srgbClr val="FFFFFF"/>
                    </a:solidFill>
                  </a:tcPr>
                </a:tc>
                <a:tc>
                  <a:txBody>
                    <a:bodyPr/>
                    <a:lstStyle/>
                    <a:p>
                      <a:pPr>
                        <a:defRPr sz="1400">
                          <a:latin typeface="Calibri"/>
                        </a:defRPr>
                      </a:pPr>
                      <a:r>
                        <a:t>0.09</a:t>
                      </a:r>
                    </a:p>
                  </a:txBody>
                  <a:tcPr>
                    <a:solidFill>
                      <a:srgbClr val="FFFFFF"/>
                    </a:solidFill>
                  </a:tcPr>
                </a:tc>
                <a:tc>
                  <a:txBody>
                    <a:bodyPr/>
                    <a:lstStyle/>
                    <a:p>
                      <a:pPr>
                        <a:defRPr sz="1400">
                          <a:latin typeface="Calibri"/>
                        </a:defRPr>
                      </a:pPr>
                      <a:r>
                        <a:t>3</a:t>
                      </a:r>
                    </a:p>
                  </a:txBody>
                  <a:tcPr>
                    <a:solidFill>
                      <a:srgbClr val="FFFFFF"/>
                    </a:solidFill>
                  </a:tcPr>
                </a:tc>
              </a:tr>
              <a:tr h="301752">
                <a:tc>
                  <a:txBody>
                    <a:bodyPr/>
                    <a:lstStyle/>
                    <a:p>
                      <a:pPr>
                        <a:defRPr sz="1400" b="1">
                          <a:solidFill>
                            <a:srgbClr val="003F87"/>
                          </a:solidFill>
                          <a:latin typeface="Calibri"/>
                        </a:defRPr>
                      </a:pPr>
                      <a:r>
                        <a:t>LISTA-L2</a:t>
                      </a:r>
                    </a:p>
                  </a:txBody>
                  <a:tcPr>
                    <a:solidFill>
                      <a:srgbClr val="D4EDFF"/>
                    </a:solidFill>
                  </a:tcPr>
                </a:tc>
                <a:tc>
                  <a:txBody>
                    <a:bodyPr/>
                    <a:lstStyle/>
                    <a:p>
                      <a:pPr>
                        <a:defRPr sz="1400" b="1">
                          <a:solidFill>
                            <a:srgbClr val="003F87"/>
                          </a:solidFill>
                          <a:latin typeface="Calibri"/>
                        </a:defRPr>
                      </a:pPr>
                      <a:r>
                        <a:t>−13.7 dB</a:t>
                      </a:r>
                    </a:p>
                  </a:txBody>
                  <a:tcPr>
                    <a:solidFill>
                      <a:srgbClr val="D4EDFF"/>
                    </a:solidFill>
                  </a:tcPr>
                </a:tc>
                <a:tc>
                  <a:txBody>
                    <a:bodyPr/>
                    <a:lstStyle/>
                    <a:p>
                      <a:pPr>
                        <a:defRPr sz="1400" b="1">
                          <a:solidFill>
                            <a:srgbClr val="003F87"/>
                          </a:solidFill>
                          <a:latin typeface="Calibri"/>
                        </a:defRPr>
                      </a:pPr>
                      <a:r>
                        <a:t>22.3</a:t>
                      </a:r>
                    </a:p>
                  </a:txBody>
                  <a:tcPr>
                    <a:solidFill>
                      <a:srgbClr val="D4EDFF"/>
                    </a:solidFill>
                  </a:tcPr>
                </a:tc>
                <a:tc>
                  <a:txBody>
                    <a:bodyPr/>
                    <a:lstStyle/>
                    <a:p>
                      <a:pPr>
                        <a:defRPr sz="1400" b="1">
                          <a:solidFill>
                            <a:srgbClr val="003F87"/>
                          </a:solidFill>
                          <a:latin typeface="Calibri"/>
                        </a:defRPr>
                      </a:pPr>
                      <a:r>
                        <a:t>0.82</a:t>
                      </a:r>
                    </a:p>
                  </a:txBody>
                  <a:tcPr>
                    <a:solidFill>
                      <a:srgbClr val="D4EDFF"/>
                    </a:solidFill>
                  </a:tcPr>
                </a:tc>
                <a:tc>
                  <a:txBody>
                    <a:bodyPr/>
                    <a:lstStyle/>
                    <a:p>
                      <a:pPr>
                        <a:defRPr sz="1400" b="1">
                          <a:solidFill>
                            <a:srgbClr val="003F87"/>
                          </a:solidFill>
                          <a:latin typeface="Calibri"/>
                        </a:defRPr>
                      </a:pPr>
                      <a:r>
                        <a:t>12 M</a:t>
                      </a:r>
                    </a:p>
                  </a:txBody>
                  <a:tcPr>
                    <a:solidFill>
                      <a:srgbClr val="D4EDFF"/>
                    </a:solidFill>
                  </a:tcPr>
                </a:tc>
              </a:tr>
            </a:tbl>
          </a:graphicData>
        </a:graphic>
      </p:graphicFrame>
      <p:sp>
        <p:nvSpPr>
          <p:cNvPr id="9" name="TextBox 8"/>
          <p:cNvSpPr txBox="1"/>
          <p:nvPr/>
        </p:nvSpPr>
        <p:spPr>
          <a:xfrm>
            <a:off x="502920" y="4572000"/>
            <a:ext cx="6400800" cy="274320"/>
          </a:xfrm>
          <a:prstGeom prst="rect">
            <a:avLst/>
          </a:prstGeom>
          <a:noFill/>
        </p:spPr>
        <p:txBody>
          <a:bodyPr wrap="square">
            <a:spAutoFit/>
          </a:bodyPr>
          <a:lstStyle/>
          <a:p>
            <a:pPr algn="l"/>
            <a:r>
              <a:rPr sz="1300" b="0" i="1">
                <a:solidFill>
                  <a:srgbClr val="4A5568"/>
                </a:solidFill>
                <a:latin typeface="Calibri"/>
              </a:rPr>
              <a:t>ratio = 0.25</a:t>
            </a:r>
          </a:p>
        </p:txBody>
      </p:sp>
      <p:sp>
        <p:nvSpPr>
          <p:cNvPr id="10" name="Rectangle 9"/>
          <p:cNvSpPr/>
          <p:nvPr/>
        </p:nvSpPr>
        <p:spPr>
          <a:xfrm>
            <a:off x="7086600" y="1691640"/>
            <a:ext cx="4754880" cy="1600200"/>
          </a:xfrm>
          <a:prstGeom prst="rect">
            <a:avLst/>
          </a:prstGeom>
          <a:solidFill>
            <a:srgbClr val="FFF8E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86600" y="1691640"/>
            <a:ext cx="50292" cy="1600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78624" y="1801368"/>
            <a:ext cx="4425696" cy="1490472"/>
          </a:xfrm>
          <a:prstGeom prst="rect">
            <a:avLst/>
          </a:prstGeom>
          <a:noFill/>
        </p:spPr>
        <p:txBody>
          <a:bodyPr wrap="square">
            <a:spAutoFit/>
          </a:bodyPr>
          <a:lstStyle/>
          <a:p>
            <a:pPr>
              <a:defRPr b="1" sz="1500">
                <a:solidFill>
                  <a:srgbClr val="7A4F00"/>
                </a:solidFill>
                <a:latin typeface="Calibri"/>
              </a:defRPr>
            </a:pPr>
            <a:r>
              <a:t>Signal model mismatch</a:t>
            </a:r>
          </a:p>
          <a:p>
            <a:pPr>
              <a:spcBef>
                <a:spcPts val="200"/>
              </a:spcBef>
              <a:defRPr sz="1300">
                <a:solidFill>
                  <a:srgbClr val="1A1A2E"/>
                </a:solidFill>
                <a:latin typeface="Calibri"/>
              </a:defRPr>
            </a:pPr>
            <a:r>
              <a:t>All structured methods assume i.i.d.</a:t>
            </a:r>
          </a:p>
          <a:p>
            <a:pPr>
              <a:spcBef>
                <a:spcPts val="200"/>
              </a:spcBef>
              <a:defRPr sz="1300">
                <a:solidFill>
                  <a:srgbClr val="1A1A2E"/>
                </a:solidFill>
                <a:latin typeface="Calibri"/>
              </a:defRPr>
            </a:pPr>
            <a:r>
              <a:t>Gaussian sparse signals.</a:t>
            </a:r>
          </a:p>
          <a:p>
            <a:pPr>
              <a:spcBef>
                <a:spcPts val="200"/>
              </a:spcBef>
              <a:defRPr sz="1300">
                <a:solidFill>
                  <a:srgbClr val="1A1A2E"/>
                </a:solidFill>
                <a:latin typeface="Calibri"/>
              </a:defRPr>
            </a:pPr>
            <a:r>
              <a:t>FashionMNIST pixels are bounded [0,1],</a:t>
            </a:r>
          </a:p>
          <a:p>
            <a:pPr>
              <a:spcBef>
                <a:spcPts val="200"/>
              </a:spcBef>
              <a:defRPr sz="1300">
                <a:solidFill>
                  <a:srgbClr val="1A1A2E"/>
                </a:solidFill>
                <a:latin typeface="Calibri"/>
              </a:defRPr>
            </a:pPr>
            <a:r>
              <a:t>spatially correlated, and only soft-sparse.</a:t>
            </a:r>
          </a:p>
        </p:txBody>
      </p:sp>
      <p:sp>
        <p:nvSpPr>
          <p:cNvPr id="13" name="Rectangle 12"/>
          <p:cNvSpPr/>
          <p:nvPr/>
        </p:nvSpPr>
        <p:spPr>
          <a:xfrm>
            <a:off x="7086600" y="3429000"/>
            <a:ext cx="4754880" cy="160020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86600" y="3429000"/>
            <a:ext cx="50292" cy="16002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8624" y="3538728"/>
            <a:ext cx="4425696" cy="1490472"/>
          </a:xfrm>
          <a:prstGeom prst="rect">
            <a:avLst/>
          </a:prstGeom>
          <a:noFill/>
        </p:spPr>
        <p:txBody>
          <a:bodyPr wrap="square">
            <a:spAutoFit/>
          </a:bodyPr>
          <a:lstStyle/>
          <a:p>
            <a:pPr>
              <a:defRPr b="1" sz="1500">
                <a:solidFill>
                  <a:srgbClr val="003F87"/>
                </a:solidFill>
                <a:latin typeface="Calibri"/>
              </a:defRPr>
            </a:pPr>
            <a:r>
              <a:t>Why LISTA wins</a:t>
            </a:r>
          </a:p>
          <a:p>
            <a:pPr>
              <a:spcBef>
                <a:spcPts val="200"/>
              </a:spcBef>
              <a:defRPr sz="1300">
                <a:solidFill>
                  <a:srgbClr val="1A1A2E"/>
                </a:solidFill>
                <a:latin typeface="Calibri"/>
              </a:defRPr>
            </a:pPr>
            <a:r>
              <a:t>LISTA-L2 is assumption-free —</a:t>
            </a:r>
          </a:p>
          <a:p>
            <a:pPr>
              <a:spcBef>
                <a:spcPts val="200"/>
              </a:spcBef>
              <a:defRPr sz="1300">
                <a:solidFill>
                  <a:srgbClr val="1A1A2E"/>
                </a:solidFill>
                <a:latin typeface="Calibri"/>
              </a:defRPr>
            </a:pPr>
            <a:r>
              <a:t>it learns the actual image distribution</a:t>
            </a:r>
          </a:p>
          <a:p>
            <a:pPr>
              <a:spcBef>
                <a:spcPts val="200"/>
              </a:spcBef>
              <a:defRPr sz="1300">
                <a:solidFill>
                  <a:srgbClr val="1A1A2E"/>
                </a:solidFill>
                <a:latin typeface="Calibri"/>
              </a:defRPr>
            </a:pPr>
            <a:r>
              <a:t>from 51 K training images.</a:t>
            </a:r>
          </a:p>
          <a:p>
            <a:pPr>
              <a:spcBef>
                <a:spcPts val="200"/>
              </a:spcBef>
              <a:defRPr sz="1300">
                <a:solidFill>
                  <a:srgbClr val="1A1A2E"/>
                </a:solidFill>
                <a:latin typeface="Calibri"/>
              </a:defRPr>
            </a:pPr>
          </a:p>
          <a:p>
            <a:pPr>
              <a:spcBef>
                <a:spcPts val="200"/>
              </a:spcBef>
              <a:defRPr sz="1300">
                <a:solidFill>
                  <a:srgbClr val="1A1A2E"/>
                </a:solidFill>
                <a:latin typeface="Calibri"/>
              </a:defRPr>
            </a:pPr>
            <a:r>
              <a:t>Wrong prior is worse than no prior.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Robustness Across Datasets and Measurement Ratios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13 / 16</a:t>
            </a:r>
          </a:p>
        </p:txBody>
      </p:sp>
      <p:sp>
        <p:nvSpPr>
          <p:cNvPr id="7" name="TextBox 6"/>
          <p:cNvSpPr txBox="1"/>
          <p:nvPr/>
        </p:nvSpPr>
        <p:spPr>
          <a:xfrm>
            <a:off x="502920" y="1143000"/>
            <a:ext cx="11185855" cy="347472"/>
          </a:xfrm>
          <a:prstGeom prst="rect">
            <a:avLst/>
          </a:prstGeom>
          <a:noFill/>
        </p:spPr>
        <p:txBody>
          <a:bodyPr wrap="square">
            <a:spAutoFit/>
          </a:bodyPr>
          <a:lstStyle/>
          <a:p>
            <a:pPr algn="l"/>
            <a:r>
              <a:rPr sz="1600" b="0" i="0">
                <a:solidFill>
                  <a:srgbClr val="1A1A2E"/>
                </a:solidFill>
                <a:latin typeface="Calibri"/>
              </a:rPr>
              <a:t>SSIM across {MNIST, FashionMNIST} × ratio {0.25, 0.5}:  harder data and fewer measurements widen the gap.</a:t>
            </a:r>
          </a:p>
        </p:txBody>
      </p:sp>
      <p:pic>
        <p:nvPicPr>
          <p:cNvPr id="8" name="Picture 7" descr="ssim_heatmap.png"/>
          <p:cNvPicPr>
            <a:picLocks noChangeAspect="1"/>
          </p:cNvPicPr>
          <p:nvPr/>
        </p:nvPicPr>
        <p:blipFill>
          <a:blip r:embed="rId2"/>
          <a:stretch>
            <a:fillRect/>
          </a:stretch>
        </p:blipFill>
        <p:spPr>
          <a:xfrm>
            <a:off x="411480" y="1645920"/>
            <a:ext cx="5852160" cy="2779776"/>
          </a:xfrm>
          <a:prstGeom prst="rect">
            <a:avLst/>
          </a:prstGeom>
        </p:spPr>
      </p:pic>
      <p:pic>
        <p:nvPicPr>
          <p:cNvPr id="9" name="Picture 8" descr="ssim_bars.png"/>
          <p:cNvPicPr>
            <a:picLocks noChangeAspect="1"/>
          </p:cNvPicPr>
          <p:nvPr/>
        </p:nvPicPr>
        <p:blipFill>
          <a:blip r:embed="rId3"/>
          <a:stretch>
            <a:fillRect/>
          </a:stretch>
        </p:blipFill>
        <p:spPr>
          <a:xfrm>
            <a:off x="6446520" y="1691640"/>
            <a:ext cx="5394960" cy="2697480"/>
          </a:xfrm>
          <a:prstGeom prst="rect">
            <a:avLst/>
          </a:prstGeom>
        </p:spPr>
      </p:pic>
      <p:sp>
        <p:nvSpPr>
          <p:cNvPr id="10" name="Rectangle 9"/>
          <p:cNvSpPr/>
          <p:nvPr/>
        </p:nvSpPr>
        <p:spPr>
          <a:xfrm>
            <a:off x="502920" y="5074920"/>
            <a:ext cx="5524347" cy="137160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074920"/>
            <a:ext cx="50292" cy="13716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184648"/>
            <a:ext cx="5195163" cy="1261872"/>
          </a:xfrm>
          <a:prstGeom prst="rect">
            <a:avLst/>
          </a:prstGeom>
          <a:noFill/>
        </p:spPr>
        <p:txBody>
          <a:bodyPr wrap="square">
            <a:spAutoFit/>
          </a:bodyPr>
          <a:lstStyle/>
          <a:p>
            <a:pPr>
              <a:defRPr b="1" sz="1500">
                <a:solidFill>
                  <a:srgbClr val="003F87"/>
                </a:solidFill>
                <a:latin typeface="Calibri"/>
              </a:defRPr>
            </a:pPr>
            <a:r>
              <a:t>Trend</a:t>
            </a:r>
          </a:p>
          <a:p>
            <a:pPr>
              <a:spcBef>
                <a:spcPts val="200"/>
              </a:spcBef>
              <a:defRPr sz="1300">
                <a:solidFill>
                  <a:srgbClr val="1A1A2E"/>
                </a:solidFill>
                <a:latin typeface="Calibri"/>
              </a:defRPr>
            </a:pPr>
            <a:r>
              <a:t>MNIST @ 0.5 is easy for everyone; FashionMNIST @ 0.25 breaks every structured model. LISTA-L2 stays ≥ 0.82 SSIM everywhere.</a:t>
            </a:r>
          </a:p>
        </p:txBody>
      </p:sp>
      <p:sp>
        <p:nvSpPr>
          <p:cNvPr id="13" name="Rectangle 12"/>
          <p:cNvSpPr/>
          <p:nvPr/>
        </p:nvSpPr>
        <p:spPr>
          <a:xfrm>
            <a:off x="6164427" y="5074920"/>
            <a:ext cx="5524347" cy="1371600"/>
          </a:xfrm>
          <a:prstGeom prst="rect">
            <a:avLst/>
          </a:prstGeom>
          <a:solidFill>
            <a:srgbClr val="FFF8E8"/>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4427" y="5074920"/>
            <a:ext cx="50292" cy="13716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6451" y="5184648"/>
            <a:ext cx="5195163" cy="1261872"/>
          </a:xfrm>
          <a:prstGeom prst="rect">
            <a:avLst/>
          </a:prstGeom>
          <a:noFill/>
        </p:spPr>
        <p:txBody>
          <a:bodyPr wrap="square">
            <a:spAutoFit/>
          </a:bodyPr>
          <a:lstStyle/>
          <a:p>
            <a:pPr>
              <a:defRPr b="1" sz="1500">
                <a:solidFill>
                  <a:srgbClr val="003F87"/>
                </a:solidFill>
                <a:latin typeface="Calibri"/>
              </a:defRPr>
            </a:pPr>
            <a:r>
              <a:t>Interpretation</a:t>
            </a:r>
          </a:p>
          <a:p>
            <a:pPr>
              <a:spcBef>
                <a:spcPts val="200"/>
              </a:spcBef>
              <a:defRPr sz="1300">
                <a:solidFill>
                  <a:srgbClr val="1A1A2E"/>
                </a:solidFill>
                <a:latin typeface="Calibri"/>
              </a:defRPr>
            </a:pPr>
            <a:r>
              <a:t>The sparse-Gaussian prior degrades gracefully on MNIST (~78% zeros) but fails on FashionMNIST (~51% zeros, textured).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Visual Stress Tests  (ratio = 0.25)</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14 / 16</a:t>
            </a:r>
          </a:p>
        </p:txBody>
      </p:sp>
      <p:pic>
        <p:nvPicPr>
          <p:cNvPr id="7" name="Picture 6" descr="mnist_grid_025.png"/>
          <p:cNvPicPr>
            <a:picLocks noChangeAspect="1"/>
          </p:cNvPicPr>
          <p:nvPr/>
        </p:nvPicPr>
        <p:blipFill>
          <a:blip r:embed="rId2"/>
          <a:stretch>
            <a:fillRect/>
          </a:stretch>
        </p:blipFill>
        <p:spPr>
          <a:xfrm>
            <a:off x="777240" y="1097280"/>
            <a:ext cx="4709160" cy="4287094"/>
          </a:xfrm>
          <a:prstGeom prst="rect">
            <a:avLst/>
          </a:prstGeom>
        </p:spPr>
      </p:pic>
      <p:pic>
        <p:nvPicPr>
          <p:cNvPr id="8" name="Picture 7" descr="fmnist_grid_025.png"/>
          <p:cNvPicPr>
            <a:picLocks noChangeAspect="1"/>
          </p:cNvPicPr>
          <p:nvPr/>
        </p:nvPicPr>
        <p:blipFill>
          <a:blip r:embed="rId3"/>
          <a:stretch>
            <a:fillRect/>
          </a:stretch>
        </p:blipFill>
        <p:spPr>
          <a:xfrm>
            <a:off x="6720840" y="1097280"/>
            <a:ext cx="4709160" cy="4287094"/>
          </a:xfrm>
          <a:prstGeom prst="rect">
            <a:avLst/>
          </a:prstGeom>
        </p:spPr>
      </p:pic>
      <p:sp>
        <p:nvSpPr>
          <p:cNvPr id="9" name="Rectangle 8"/>
          <p:cNvSpPr/>
          <p:nvPr/>
        </p:nvSpPr>
        <p:spPr>
          <a:xfrm>
            <a:off x="502920" y="5577840"/>
            <a:ext cx="11185855" cy="96012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77840"/>
            <a:ext cx="50292" cy="96012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687568"/>
            <a:ext cx="10856671" cy="850392"/>
          </a:xfrm>
          <a:prstGeom prst="rect">
            <a:avLst/>
          </a:prstGeom>
          <a:noFill/>
        </p:spPr>
        <p:txBody>
          <a:bodyPr wrap="square">
            <a:spAutoFit/>
          </a:bodyPr>
          <a:lstStyle/>
          <a:p/>
          <a:p>
            <a:pPr>
              <a:spcBef>
                <a:spcPts val="200"/>
              </a:spcBef>
              <a:defRPr sz="1400">
                <a:solidFill>
                  <a:srgbClr val="1A1A2E"/>
                </a:solidFill>
                <a:latin typeface="Calibri"/>
              </a:defRPr>
            </a:pPr>
            <a:r>
              <a:t>LISTA-L2 recovers clean structure on both datasets. ALISTA / HyperLISTA zero out valid signal on FashionMNIST —</a:t>
            </a:r>
          </a:p>
          <a:p>
            <a:pPr>
              <a:spcBef>
                <a:spcPts val="200"/>
              </a:spcBef>
              <a:defRPr sz="1400">
                <a:solidFill>
                  <a:srgbClr val="1A1A2E"/>
                </a:solidFill>
                <a:latin typeface="Calibri"/>
              </a:defRPr>
            </a:pPr>
            <a:r>
              <a:t>the Gaussian-sparse threshold is miscalibrated for textured images. Wrong prior is worse than no prior.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Conclusions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15 / 16</a:t>
            </a:r>
          </a:p>
        </p:txBody>
      </p:sp>
      <p:sp>
        <p:nvSpPr>
          <p:cNvPr id="7" name="Rectangle 6"/>
          <p:cNvSpPr/>
          <p:nvPr/>
        </p:nvSpPr>
        <p:spPr>
          <a:xfrm>
            <a:off x="502920" y="1188720"/>
            <a:ext cx="5519775" cy="128016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1325880"/>
            <a:ext cx="384048" cy="384048"/>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25880"/>
            <a:ext cx="384048" cy="384048"/>
          </a:xfrm>
          <a:prstGeom prst="rect">
            <a:avLst/>
          </a:prstGeom>
          <a:noFill/>
        </p:spPr>
        <p:txBody>
          <a:bodyPr wrap="square">
            <a:spAutoFit/>
          </a:bodyPr>
          <a:lstStyle/>
          <a:p>
            <a:pPr algn="ctr"/>
            <a:r>
              <a:rPr sz="1600" b="1" i="0">
                <a:solidFill>
                  <a:srgbClr val="FFFFFF"/>
                </a:solidFill>
                <a:latin typeface="Calibri"/>
              </a:rPr>
              <a:t>1</a:t>
            </a:r>
          </a:p>
        </p:txBody>
      </p:sp>
      <p:sp>
        <p:nvSpPr>
          <p:cNvPr id="10" name="TextBox 9"/>
          <p:cNvSpPr txBox="1"/>
          <p:nvPr/>
        </p:nvSpPr>
        <p:spPr>
          <a:xfrm>
            <a:off x="1143000" y="1325880"/>
            <a:ext cx="4742535" cy="365760"/>
          </a:xfrm>
          <a:prstGeom prst="rect">
            <a:avLst/>
          </a:prstGeom>
          <a:noFill/>
        </p:spPr>
        <p:txBody>
          <a:bodyPr wrap="square">
            <a:spAutoFit/>
          </a:bodyPr>
          <a:lstStyle/>
          <a:p>
            <a:pPr algn="l"/>
            <a:r>
              <a:rPr sz="1600" b="1" i="0">
                <a:solidFill>
                  <a:srgbClr val="003F87"/>
                </a:solidFill>
                <a:latin typeface="Calibri"/>
              </a:rPr>
              <a:t>Structure wins when assumptions match.</a:t>
            </a:r>
          </a:p>
        </p:txBody>
      </p:sp>
      <p:sp>
        <p:nvSpPr>
          <p:cNvPr id="11" name="TextBox 10"/>
          <p:cNvSpPr txBox="1"/>
          <p:nvPr/>
        </p:nvSpPr>
        <p:spPr>
          <a:xfrm>
            <a:off x="1143000" y="1737360"/>
            <a:ext cx="4742535" cy="658368"/>
          </a:xfrm>
          <a:prstGeom prst="rect">
            <a:avLst/>
          </a:prstGeom>
          <a:noFill/>
        </p:spPr>
        <p:txBody>
          <a:bodyPr wrap="square">
            <a:spAutoFit/>
          </a:bodyPr>
          <a:lstStyle/>
          <a:p>
            <a:pPr algn="l"/>
            <a:r>
              <a:rPr sz="1300" b="0" i="0">
                <a:solidFill>
                  <a:srgbClr val="1A1A2E"/>
                </a:solidFill>
                <a:latin typeface="Calibri"/>
              </a:rPr>
              <a:t>HyperLISTA's 3 scalars beat 6 M learned parameters by 41 dB on synthetic sparse data.</a:t>
            </a:r>
          </a:p>
        </p:txBody>
      </p:sp>
      <p:sp>
        <p:nvSpPr>
          <p:cNvPr id="12" name="Rectangle 11"/>
          <p:cNvSpPr/>
          <p:nvPr/>
        </p:nvSpPr>
        <p:spPr>
          <a:xfrm>
            <a:off x="6168999" y="1188720"/>
            <a:ext cx="5519775" cy="128016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06159" y="1325880"/>
            <a:ext cx="384048" cy="384048"/>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6159" y="1325880"/>
            <a:ext cx="384048" cy="384048"/>
          </a:xfrm>
          <a:prstGeom prst="rect">
            <a:avLst/>
          </a:prstGeom>
          <a:noFill/>
        </p:spPr>
        <p:txBody>
          <a:bodyPr wrap="square">
            <a:spAutoFit/>
          </a:bodyPr>
          <a:lstStyle/>
          <a:p>
            <a:pPr algn="ctr"/>
            <a:r>
              <a:rPr sz="1600" b="1" i="0">
                <a:solidFill>
                  <a:srgbClr val="FFFFFF"/>
                </a:solidFill>
                <a:latin typeface="Calibri"/>
              </a:rPr>
              <a:t>2</a:t>
            </a:r>
          </a:p>
        </p:txBody>
      </p:sp>
      <p:sp>
        <p:nvSpPr>
          <p:cNvPr id="15" name="TextBox 14"/>
          <p:cNvSpPr txBox="1"/>
          <p:nvPr/>
        </p:nvSpPr>
        <p:spPr>
          <a:xfrm>
            <a:off x="6809079" y="1325880"/>
            <a:ext cx="4742535" cy="365760"/>
          </a:xfrm>
          <a:prstGeom prst="rect">
            <a:avLst/>
          </a:prstGeom>
          <a:noFill/>
        </p:spPr>
        <p:txBody>
          <a:bodyPr wrap="square">
            <a:spAutoFit/>
          </a:bodyPr>
          <a:lstStyle/>
          <a:p>
            <a:pPr algn="l"/>
            <a:r>
              <a:rPr sz="1600" b="1" i="0">
                <a:solidFill>
                  <a:srgbClr val="003F87"/>
                </a:solidFill>
                <a:latin typeface="Calibri"/>
              </a:rPr>
              <a:t>Step sizes matter most.</a:t>
            </a:r>
          </a:p>
        </p:txBody>
      </p:sp>
      <p:sp>
        <p:nvSpPr>
          <p:cNvPr id="16" name="TextBox 15"/>
          <p:cNvSpPr txBox="1"/>
          <p:nvPr/>
        </p:nvSpPr>
        <p:spPr>
          <a:xfrm>
            <a:off x="6809079" y="1737360"/>
            <a:ext cx="4742535" cy="658368"/>
          </a:xfrm>
          <a:prstGeom prst="rect">
            <a:avLst/>
          </a:prstGeom>
          <a:noFill/>
        </p:spPr>
        <p:txBody>
          <a:bodyPr wrap="square">
            <a:spAutoFit/>
          </a:bodyPr>
          <a:lstStyle/>
          <a:p>
            <a:pPr algn="l"/>
            <a:r>
              <a:rPr sz="1300" b="0" i="0">
                <a:solidFill>
                  <a:srgbClr val="1A1A2E"/>
                </a:solidFill>
                <a:latin typeface="Calibri"/>
              </a:rPr>
              <a:t>StepISTA (16 scalars) matches LISTA. Decoupling θ_k adds 3 dB. Matrix learning is largely redundant.</a:t>
            </a:r>
          </a:p>
        </p:txBody>
      </p:sp>
      <p:sp>
        <p:nvSpPr>
          <p:cNvPr id="17" name="Rectangle 16"/>
          <p:cNvSpPr/>
          <p:nvPr/>
        </p:nvSpPr>
        <p:spPr>
          <a:xfrm>
            <a:off x="502920" y="2606040"/>
            <a:ext cx="5519775" cy="128016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0080" y="2743200"/>
            <a:ext cx="384048" cy="384048"/>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743200"/>
            <a:ext cx="384048" cy="384048"/>
          </a:xfrm>
          <a:prstGeom prst="rect">
            <a:avLst/>
          </a:prstGeom>
          <a:noFill/>
        </p:spPr>
        <p:txBody>
          <a:bodyPr wrap="square">
            <a:spAutoFit/>
          </a:bodyPr>
          <a:lstStyle/>
          <a:p>
            <a:pPr algn="ctr"/>
            <a:r>
              <a:rPr sz="1600" b="1" i="0">
                <a:solidFill>
                  <a:srgbClr val="FFFFFF"/>
                </a:solidFill>
                <a:latin typeface="Calibri"/>
              </a:rPr>
              <a:t>3</a:t>
            </a:r>
          </a:p>
        </p:txBody>
      </p:sp>
      <p:sp>
        <p:nvSpPr>
          <p:cNvPr id="20" name="TextBox 19"/>
          <p:cNvSpPr txBox="1"/>
          <p:nvPr/>
        </p:nvSpPr>
        <p:spPr>
          <a:xfrm>
            <a:off x="1143000" y="2743200"/>
            <a:ext cx="4742535" cy="365760"/>
          </a:xfrm>
          <a:prstGeom prst="rect">
            <a:avLst/>
          </a:prstGeom>
          <a:noFill/>
        </p:spPr>
        <p:txBody>
          <a:bodyPr wrap="square">
            <a:spAutoFit/>
          </a:bodyPr>
          <a:lstStyle/>
          <a:p>
            <a:pPr algn="l"/>
            <a:r>
              <a:rPr sz="1600" b="1" i="0">
                <a:solidFill>
                  <a:srgbClr val="003F87"/>
                </a:solidFill>
                <a:latin typeface="Calibri"/>
              </a:rPr>
              <a:t>Weight tying is implicit regularization.</a:t>
            </a:r>
          </a:p>
        </p:txBody>
      </p:sp>
      <p:sp>
        <p:nvSpPr>
          <p:cNvPr id="21" name="TextBox 20"/>
          <p:cNvSpPr txBox="1"/>
          <p:nvPr/>
        </p:nvSpPr>
        <p:spPr>
          <a:xfrm>
            <a:off x="1143000" y="3154680"/>
            <a:ext cx="4742535" cy="658368"/>
          </a:xfrm>
          <a:prstGeom prst="rect">
            <a:avLst/>
          </a:prstGeom>
          <a:noFill/>
        </p:spPr>
        <p:txBody>
          <a:bodyPr wrap="square">
            <a:spAutoFit/>
          </a:bodyPr>
          <a:lstStyle/>
          <a:p>
            <a:pPr algn="l"/>
            <a:r>
              <a:rPr sz="1300" b="0" i="0">
                <a:solidFill>
                  <a:srgbClr val="1A1A2E"/>
                </a:solidFill>
                <a:latin typeface="Calibri"/>
              </a:rPr>
              <a:t>LISTA-Tied matches LISTA-Untied (−19.1 vs −20.3 dB) with 16× fewer parameters.</a:t>
            </a:r>
          </a:p>
        </p:txBody>
      </p:sp>
      <p:sp>
        <p:nvSpPr>
          <p:cNvPr id="22" name="Rectangle 21"/>
          <p:cNvSpPr/>
          <p:nvPr/>
        </p:nvSpPr>
        <p:spPr>
          <a:xfrm>
            <a:off x="6168999" y="2606040"/>
            <a:ext cx="5519775" cy="1280160"/>
          </a:xfrm>
          <a:prstGeom prst="rect">
            <a:avLst/>
          </a:prstGeom>
          <a:solidFill>
            <a:srgbClr val="FFFFFF"/>
          </a:solidFill>
          <a:ln w="9525">
            <a:solidFill>
              <a:srgbClr val="D1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06159" y="2743200"/>
            <a:ext cx="384048" cy="384048"/>
          </a:xfrm>
          <a:prstGeom prst="ellipse">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6159" y="2743200"/>
            <a:ext cx="384048" cy="384048"/>
          </a:xfrm>
          <a:prstGeom prst="rect">
            <a:avLst/>
          </a:prstGeom>
          <a:noFill/>
        </p:spPr>
        <p:txBody>
          <a:bodyPr wrap="square">
            <a:spAutoFit/>
          </a:bodyPr>
          <a:lstStyle/>
          <a:p>
            <a:pPr algn="ctr"/>
            <a:r>
              <a:rPr sz="1600" b="1" i="0">
                <a:solidFill>
                  <a:srgbClr val="FFFFFF"/>
                </a:solidFill>
                <a:latin typeface="Calibri"/>
              </a:rPr>
              <a:t>4</a:t>
            </a:r>
          </a:p>
        </p:txBody>
      </p:sp>
      <p:sp>
        <p:nvSpPr>
          <p:cNvPr id="25" name="TextBox 24"/>
          <p:cNvSpPr txBox="1"/>
          <p:nvPr/>
        </p:nvSpPr>
        <p:spPr>
          <a:xfrm>
            <a:off x="6809079" y="2743200"/>
            <a:ext cx="4742535" cy="365760"/>
          </a:xfrm>
          <a:prstGeom prst="rect">
            <a:avLst/>
          </a:prstGeom>
          <a:noFill/>
        </p:spPr>
        <p:txBody>
          <a:bodyPr wrap="square">
            <a:spAutoFit/>
          </a:bodyPr>
          <a:lstStyle/>
          <a:p>
            <a:pPr algn="l"/>
            <a:r>
              <a:rPr sz="1600" b="1" i="0">
                <a:solidFill>
                  <a:srgbClr val="003F87"/>
                </a:solidFill>
                <a:latin typeface="Calibri"/>
              </a:rPr>
              <a:t>Wrong prior actively hurts.</a:t>
            </a:r>
          </a:p>
        </p:txBody>
      </p:sp>
      <p:sp>
        <p:nvSpPr>
          <p:cNvPr id="26" name="TextBox 25"/>
          <p:cNvSpPr txBox="1"/>
          <p:nvPr/>
        </p:nvSpPr>
        <p:spPr>
          <a:xfrm>
            <a:off x="6809079" y="3154680"/>
            <a:ext cx="4742535" cy="658368"/>
          </a:xfrm>
          <a:prstGeom prst="rect">
            <a:avLst/>
          </a:prstGeom>
          <a:noFill/>
        </p:spPr>
        <p:txBody>
          <a:bodyPr wrap="square">
            <a:spAutoFit/>
          </a:bodyPr>
          <a:lstStyle/>
          <a:p>
            <a:pPr algn="l"/>
            <a:r>
              <a:rPr sz="1300" b="0" i="0">
                <a:solidFill>
                  <a:srgbClr val="1A1A2E"/>
                </a:solidFill>
                <a:latin typeface="Calibri"/>
              </a:rPr>
              <a:t>ALISTA / HyperLISTA score below ISTA on real images. LISTA wins by making no structural assumptions.</a:t>
            </a:r>
          </a:p>
        </p:txBody>
      </p:sp>
      <p:sp>
        <p:nvSpPr>
          <p:cNvPr id="27" name="Rectangle 26"/>
          <p:cNvSpPr/>
          <p:nvPr/>
        </p:nvSpPr>
        <p:spPr>
          <a:xfrm>
            <a:off x="502920" y="4160520"/>
            <a:ext cx="5486400" cy="1508760"/>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24528"/>
            <a:ext cx="5120640" cy="1371600"/>
          </a:xfrm>
          <a:prstGeom prst="rect">
            <a:avLst/>
          </a:prstGeom>
          <a:noFill/>
        </p:spPr>
        <p:txBody>
          <a:bodyPr wrap="square">
            <a:spAutoFit/>
          </a:bodyPr>
          <a:lstStyle/>
          <a:p>
            <a:r>
              <a:rPr sz="1500" b="1">
                <a:solidFill>
                  <a:srgbClr val="F5A623"/>
                </a:solidFill>
                <a:latin typeface="Calibri"/>
              </a:rPr>
              <a:t>MBDL hierarchy on synthetic data:</a:t>
            </a:r>
          </a:p>
          <a:p>
            <a:r>
              <a:rPr sz="1400" b="0">
                <a:solidFill>
                  <a:srgbClr val="FFFFFF"/>
                </a:solidFill>
                <a:latin typeface="Calibri"/>
              </a:rPr>
              <a:t>ISTA → LISTA → ALISTA → HyperLISTA</a:t>
            </a:r>
          </a:p>
          <a:p>
            <a:r>
              <a:rPr sz="1400" b="0">
                <a:solidFill>
                  <a:srgbClr val="00A3E0"/>
                </a:solidFill>
                <a:latin typeface="Calibri"/>
              </a:rPr>
              <a:t>0  →  6M  →  32  →  3  params</a:t>
            </a:r>
          </a:p>
          <a:p>
            <a:r>
              <a:rPr sz="1400" b="1">
                <a:solidFill>
                  <a:srgbClr val="00A3E0"/>
                </a:solidFill>
                <a:latin typeface="Calibri"/>
              </a:rPr>
              <a:t>−5  →  −20  →  −30  →  −61  dB</a:t>
            </a:r>
          </a:p>
        </p:txBody>
      </p:sp>
      <p:sp>
        <p:nvSpPr>
          <p:cNvPr id="29" name="Rectangle 28"/>
          <p:cNvSpPr/>
          <p:nvPr/>
        </p:nvSpPr>
        <p:spPr>
          <a:xfrm>
            <a:off x="6172200" y="4160520"/>
            <a:ext cx="5715000" cy="1737360"/>
          </a:xfrm>
          <a:prstGeom prst="rect">
            <a:avLst/>
          </a:prstGeom>
          <a:solidFill>
            <a:srgbClr val="E8F5FF"/>
          </a:solidFill>
          <a:ln w="9525">
            <a:solidFill>
              <a:srgbClr val="C0E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4160520"/>
            <a:ext cx="50292" cy="173736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4270248"/>
            <a:ext cx="5385816" cy="1627632"/>
          </a:xfrm>
          <a:prstGeom prst="rect">
            <a:avLst/>
          </a:prstGeom>
          <a:noFill/>
        </p:spPr>
        <p:txBody>
          <a:bodyPr wrap="square">
            <a:spAutoFit/>
          </a:bodyPr>
          <a:lstStyle/>
          <a:p>
            <a:pPr>
              <a:defRPr b="1" sz="1500">
                <a:solidFill>
                  <a:srgbClr val="003F87"/>
                </a:solidFill>
                <a:latin typeface="Calibri"/>
              </a:defRPr>
            </a:pPr>
            <a:r>
              <a:t>Future work</a:t>
            </a:r>
          </a:p>
          <a:p>
            <a:pPr>
              <a:spcBef>
                <a:spcPts val="200"/>
              </a:spcBef>
              <a:defRPr sz="1200">
                <a:solidFill>
                  <a:srgbClr val="1A1A2E"/>
                </a:solidFill>
                <a:latin typeface="Calibri"/>
              </a:defRPr>
            </a:pPr>
            <a:r>
              <a:t>Apply models in DCT / wavelet domain — images are</a:t>
            </a:r>
          </a:p>
          <a:p>
            <a:pPr>
              <a:spcBef>
                <a:spcPts val="200"/>
              </a:spcBef>
              <a:defRPr sz="1200">
                <a:solidFill>
                  <a:srgbClr val="1A1A2E"/>
                </a:solidFill>
                <a:latin typeface="Calibri"/>
              </a:defRPr>
            </a:pPr>
            <a:r>
              <a:t>sparser there, closer to the Gaussian-sparse model.</a:t>
            </a:r>
          </a:p>
          <a:p>
            <a:pPr>
              <a:spcBef>
                <a:spcPts val="200"/>
              </a:spcBef>
              <a:defRPr sz="1200">
                <a:solidFill>
                  <a:srgbClr val="1A1A2E"/>
                </a:solidFill>
                <a:latin typeface="Calibri"/>
              </a:defRPr>
            </a:pPr>
          </a:p>
          <a:p>
            <a:pPr>
              <a:spcBef>
                <a:spcPts val="200"/>
              </a:spcBef>
              <a:defRPr sz="1200">
                <a:solidFill>
                  <a:srgbClr val="1A1A2E"/>
                </a:solidFill>
                <a:latin typeface="Calibri"/>
              </a:defRPr>
            </a:pPr>
            <a:r>
              <a:t>Design image-aware thresholds for bounded,</a:t>
            </a:r>
          </a:p>
          <a:p>
            <a:pPr>
              <a:spcBef>
                <a:spcPts val="200"/>
              </a:spcBef>
              <a:defRPr sz="1200">
                <a:solidFill>
                  <a:srgbClr val="1A1A2E"/>
                </a:solidFill>
                <a:latin typeface="Calibri"/>
              </a:defRPr>
            </a:pPr>
            <a:r>
              <a:t>non-negative pixel structure.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D"/>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3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16852"/>
            <a:ext cx="12191695" cy="41148"/>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185855" cy="594360"/>
          </a:xfrm>
          <a:prstGeom prst="rect">
            <a:avLst/>
          </a:prstGeom>
          <a:noFill/>
        </p:spPr>
        <p:txBody>
          <a:bodyPr wrap="none">
            <a:spAutoFit/>
          </a:bodyPr>
          <a:lstStyle/>
          <a:p>
            <a:r>
              <a:rPr sz="3200" b="1">
                <a:solidFill>
                  <a:srgbClr val="003F87"/>
                </a:solidFill>
                <a:latin typeface="Calibri"/>
              </a:rPr>
              <a:t>Code &amp; References</a:t>
            </a:r>
          </a:p>
        </p:txBody>
      </p:sp>
      <p:sp>
        <p:nvSpPr>
          <p:cNvPr id="5" name="Rectangle 4"/>
          <p:cNvSpPr/>
          <p:nvPr/>
        </p:nvSpPr>
        <p:spPr>
          <a:xfrm>
            <a:off x="502920" y="859536"/>
            <a:ext cx="11185855" cy="22860"/>
          </a:xfrm>
          <a:prstGeom prst="rect">
            <a:avLst/>
          </a:prstGeom>
          <a:solidFill>
            <a:srgbClr val="D1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68735" y="6510528"/>
            <a:ext cx="640080" cy="274320"/>
          </a:xfrm>
          <a:prstGeom prst="rect">
            <a:avLst/>
          </a:prstGeom>
          <a:noFill/>
        </p:spPr>
        <p:txBody>
          <a:bodyPr wrap="square">
            <a:spAutoFit/>
          </a:bodyPr>
          <a:lstStyle/>
          <a:p>
            <a:pPr algn="r"/>
            <a:r>
              <a:rPr sz="1200" b="0" i="0">
                <a:solidFill>
                  <a:srgbClr val="4A5568"/>
                </a:solidFill>
                <a:latin typeface="Calibri"/>
              </a:rPr>
              <a:t>16 / 16</a:t>
            </a:r>
          </a:p>
        </p:txBody>
      </p:sp>
      <p:sp>
        <p:nvSpPr>
          <p:cNvPr id="7" name="TextBox 6"/>
          <p:cNvSpPr txBox="1"/>
          <p:nvPr/>
        </p:nvSpPr>
        <p:spPr>
          <a:xfrm>
            <a:off x="502920" y="1188720"/>
            <a:ext cx="11185855" cy="320040"/>
          </a:xfrm>
          <a:prstGeom prst="rect">
            <a:avLst/>
          </a:prstGeom>
          <a:noFill/>
        </p:spPr>
        <p:txBody>
          <a:bodyPr wrap="square">
            <a:spAutoFit/>
          </a:bodyPr>
          <a:lstStyle/>
          <a:p>
            <a:pPr algn="l"/>
            <a:r>
              <a:rPr sz="1600" b="1" i="0">
                <a:solidFill>
                  <a:srgbClr val="003F87"/>
                </a:solidFill>
                <a:latin typeface="Calibri"/>
              </a:rPr>
              <a:t>Code — public GitHub repository (notebooks 01–04 + src modules):</a:t>
            </a:r>
          </a:p>
        </p:txBody>
      </p:sp>
      <p:sp>
        <p:nvSpPr>
          <p:cNvPr id="8" name="TextBox 7"/>
          <p:cNvSpPr txBox="1"/>
          <p:nvPr/>
        </p:nvSpPr>
        <p:spPr>
          <a:xfrm>
            <a:off x="777240" y="1572768"/>
            <a:ext cx="10637215" cy="320040"/>
          </a:xfrm>
          <a:prstGeom prst="rect">
            <a:avLst/>
          </a:prstGeom>
          <a:noFill/>
        </p:spPr>
        <p:txBody>
          <a:bodyPr wrap="square">
            <a:spAutoFit/>
          </a:bodyPr>
          <a:lstStyle/>
          <a:p>
            <a:pPr algn="l"/>
            <a:r>
              <a:rPr sz="1600" b="0" i="0">
                <a:solidFill>
                  <a:srgbClr val="00A3E0"/>
                </a:solidFill>
                <a:latin typeface="Calibri"/>
              </a:rPr>
              <a:t>github.com/ThEpiCake/hyperlista-mbdl</a:t>
            </a:r>
          </a:p>
        </p:txBody>
      </p:sp>
      <p:sp>
        <p:nvSpPr>
          <p:cNvPr id="9" name="TextBox 8"/>
          <p:cNvSpPr txBox="1"/>
          <p:nvPr/>
        </p:nvSpPr>
        <p:spPr>
          <a:xfrm>
            <a:off x="502920" y="2148840"/>
            <a:ext cx="11185855" cy="320040"/>
          </a:xfrm>
          <a:prstGeom prst="rect">
            <a:avLst/>
          </a:prstGeom>
          <a:noFill/>
        </p:spPr>
        <p:txBody>
          <a:bodyPr wrap="square">
            <a:spAutoFit/>
          </a:bodyPr>
          <a:lstStyle/>
          <a:p>
            <a:pPr algn="l"/>
            <a:r>
              <a:rPr sz="1600" b="1" i="0">
                <a:solidFill>
                  <a:srgbClr val="003F87"/>
                </a:solidFill>
                <a:latin typeface="Calibri"/>
              </a:rPr>
              <a:t>References:</a:t>
            </a:r>
          </a:p>
        </p:txBody>
      </p:sp>
      <p:sp>
        <p:nvSpPr>
          <p:cNvPr id="10" name="TextBox 9"/>
          <p:cNvSpPr txBox="1"/>
          <p:nvPr/>
        </p:nvSpPr>
        <p:spPr>
          <a:xfrm>
            <a:off x="777240" y="2560320"/>
            <a:ext cx="10637215" cy="457200"/>
          </a:xfrm>
          <a:prstGeom prst="rect">
            <a:avLst/>
          </a:prstGeom>
          <a:noFill/>
        </p:spPr>
        <p:txBody>
          <a:bodyPr wrap="square">
            <a:spAutoFit/>
          </a:bodyPr>
          <a:lstStyle/>
          <a:p>
            <a:pPr algn="l"/>
            <a:r>
              <a:rPr sz="1400" b="0" i="0">
                <a:solidFill>
                  <a:srgbClr val="1A1A2E"/>
                </a:solidFill>
                <a:latin typeface="Calibri"/>
              </a:rPr>
              <a:t>[1]  A. Beck and M. Teboulle, "A Fast Iterative Shrinkage-Thresholding Algorithm for Linear Inverse Problems," SIAM J. Imaging Sciences, 2009.</a:t>
            </a:r>
          </a:p>
        </p:txBody>
      </p:sp>
      <p:sp>
        <p:nvSpPr>
          <p:cNvPr id="11" name="TextBox 10"/>
          <p:cNvSpPr txBox="1"/>
          <p:nvPr/>
        </p:nvSpPr>
        <p:spPr>
          <a:xfrm>
            <a:off x="777240" y="3035808"/>
            <a:ext cx="10637215" cy="457200"/>
          </a:xfrm>
          <a:prstGeom prst="rect">
            <a:avLst/>
          </a:prstGeom>
          <a:noFill/>
        </p:spPr>
        <p:txBody>
          <a:bodyPr wrap="square">
            <a:spAutoFit/>
          </a:bodyPr>
          <a:lstStyle/>
          <a:p>
            <a:pPr algn="l"/>
            <a:r>
              <a:rPr sz="1400" b="0" i="0">
                <a:solidFill>
                  <a:srgbClr val="1A1A2E"/>
                </a:solidFill>
                <a:latin typeface="Calibri"/>
              </a:rPr>
              <a:t>[2]  K. Gregor and Y. LeCun, "Learning Fast Approximations of Sparse Coding," ICML 2010.</a:t>
            </a:r>
          </a:p>
        </p:txBody>
      </p:sp>
      <p:sp>
        <p:nvSpPr>
          <p:cNvPr id="12" name="TextBox 11"/>
          <p:cNvSpPr txBox="1"/>
          <p:nvPr/>
        </p:nvSpPr>
        <p:spPr>
          <a:xfrm>
            <a:off x="777240" y="3511296"/>
            <a:ext cx="10637215" cy="457200"/>
          </a:xfrm>
          <a:prstGeom prst="rect">
            <a:avLst/>
          </a:prstGeom>
          <a:noFill/>
        </p:spPr>
        <p:txBody>
          <a:bodyPr wrap="square">
            <a:spAutoFit/>
          </a:bodyPr>
          <a:lstStyle/>
          <a:p>
            <a:pPr algn="l"/>
            <a:r>
              <a:rPr sz="1400" b="0" i="0">
                <a:solidFill>
                  <a:srgbClr val="1A1A2E"/>
                </a:solidFill>
                <a:latin typeface="Calibri"/>
              </a:rPr>
              <a:t>[3]  X. Chen, J. Liu, Z. Wang, W. Yin, "Theoretical Linear Convergence of Unfolded ISTA and Its Practical Weights and Thresholds," NeurIPS 2018.</a:t>
            </a:r>
          </a:p>
        </p:txBody>
      </p:sp>
      <p:sp>
        <p:nvSpPr>
          <p:cNvPr id="13" name="TextBox 12"/>
          <p:cNvSpPr txBox="1"/>
          <p:nvPr/>
        </p:nvSpPr>
        <p:spPr>
          <a:xfrm>
            <a:off x="777240" y="3986784"/>
            <a:ext cx="10637215" cy="457200"/>
          </a:xfrm>
          <a:prstGeom prst="rect">
            <a:avLst/>
          </a:prstGeom>
          <a:noFill/>
        </p:spPr>
        <p:txBody>
          <a:bodyPr wrap="square">
            <a:spAutoFit/>
          </a:bodyPr>
          <a:lstStyle/>
          <a:p>
            <a:pPr algn="l"/>
            <a:r>
              <a:rPr sz="1400" b="0" i="0">
                <a:solidFill>
                  <a:srgbClr val="1A1A2E"/>
                </a:solidFill>
                <a:latin typeface="Calibri"/>
              </a:rPr>
              <a:t>[4]  J. Liu, X. Chen, Z. Wang, W. Yin, "ALISTA: Analytic Weights Are As Good As Learned Weights in LISTA," ICLR 2019.</a:t>
            </a:r>
          </a:p>
        </p:txBody>
      </p:sp>
      <p:sp>
        <p:nvSpPr>
          <p:cNvPr id="14" name="TextBox 13"/>
          <p:cNvSpPr txBox="1"/>
          <p:nvPr/>
        </p:nvSpPr>
        <p:spPr>
          <a:xfrm>
            <a:off x="777240" y="4462272"/>
            <a:ext cx="10637215" cy="457200"/>
          </a:xfrm>
          <a:prstGeom prst="rect">
            <a:avLst/>
          </a:prstGeom>
          <a:noFill/>
        </p:spPr>
        <p:txBody>
          <a:bodyPr wrap="square">
            <a:spAutoFit/>
          </a:bodyPr>
          <a:lstStyle/>
          <a:p>
            <a:pPr algn="l"/>
            <a:r>
              <a:rPr sz="1400" b="0" i="0">
                <a:solidFill>
                  <a:srgbClr val="1A1A2E"/>
                </a:solidFill>
                <a:latin typeface="Calibri"/>
              </a:rPr>
              <a:t>[5]  X. Chen, J. Liu, Z. Wang, W. Yin, "Hyperparameter Tuning is All You Need for LISTA," NeurIPS 2021.</a:t>
            </a:r>
          </a:p>
        </p:txBody>
      </p:sp>
      <p:sp>
        <p:nvSpPr>
          <p:cNvPr id="15" name="TextBox 14"/>
          <p:cNvSpPr txBox="1"/>
          <p:nvPr/>
        </p:nvSpPr>
        <p:spPr>
          <a:xfrm>
            <a:off x="777240" y="4937760"/>
            <a:ext cx="10637215" cy="457200"/>
          </a:xfrm>
          <a:prstGeom prst="rect">
            <a:avLst/>
          </a:prstGeom>
          <a:noFill/>
        </p:spPr>
        <p:txBody>
          <a:bodyPr wrap="square">
            <a:spAutoFit/>
          </a:bodyPr>
          <a:lstStyle/>
          <a:p>
            <a:pPr algn="l"/>
            <a:r>
              <a:rPr sz="1400" b="0" i="0">
                <a:solidFill>
                  <a:srgbClr val="1A1A2E"/>
                </a:solidFill>
                <a:latin typeface="Calibri"/>
              </a:rPr>
              <a:t>[6]  N. Shlezinger and Y. C. Eldar, "Model-Based Deep Learning," Foundations and Trends in Signal Processing, vol. 17, no. 4, 2023.</a:t>
            </a:r>
          </a:p>
        </p:txBody>
      </p:sp>
      <p:sp>
        <p:nvSpPr>
          <p:cNvPr id="16" name="TextBox 15"/>
          <p:cNvSpPr txBox="1"/>
          <p:nvPr/>
        </p:nvSpPr>
        <p:spPr>
          <a:xfrm>
            <a:off x="777240" y="5413248"/>
            <a:ext cx="10637215" cy="457200"/>
          </a:xfrm>
          <a:prstGeom prst="rect">
            <a:avLst/>
          </a:prstGeom>
          <a:noFill/>
        </p:spPr>
        <p:txBody>
          <a:bodyPr wrap="square">
            <a:spAutoFit/>
          </a:bodyPr>
          <a:lstStyle/>
          <a:p>
            <a:pPr algn="l"/>
            <a:r>
              <a:rPr sz="1400" b="0" i="0">
                <a:solidFill>
                  <a:srgbClr val="1A1A2E"/>
                </a:solidFill>
                <a:latin typeface="Calibri"/>
              </a:rPr>
              <a:t>[7]  Course lecture notes 1–8, Model-Based Deep Learning (361.2.2320), Ben-Gurion University, 2026.</a:t>
            </a:r>
          </a:p>
        </p:txBody>
      </p:sp>
      <p:sp>
        <p:nvSpPr>
          <p:cNvPr id="17" name="TextBox 16"/>
          <p:cNvSpPr txBox="1"/>
          <p:nvPr/>
        </p:nvSpPr>
        <p:spPr>
          <a:xfrm>
            <a:off x="502920" y="5989320"/>
            <a:ext cx="11185855" cy="365760"/>
          </a:xfrm>
          <a:prstGeom prst="rect">
            <a:avLst/>
          </a:prstGeom>
          <a:noFill/>
        </p:spPr>
        <p:txBody>
          <a:bodyPr wrap="square">
            <a:spAutoFit/>
          </a:bodyPr>
          <a:lstStyle/>
          <a:p>
            <a:pPr algn="l"/>
            <a:r>
              <a:rPr sz="1800" b="1" i="0">
                <a:solidFill>
                  <a:srgbClr val="003F87"/>
                </a:solidFill>
                <a:latin typeface="Calibri"/>
              </a:rPr>
              <a:t>Thank you very much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